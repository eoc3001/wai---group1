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12192000"/>
  <p:notesSz cx="6858000" cy="12192000"/>
  <p:embeddedFontLst>
    <p:embeddedFont>
      <p:font typeface="DM Sans Medium"/>
      <p:regular r:id="rId29"/>
      <p:bold r:id="rId30"/>
      <p:italic r:id="rId31"/>
      <p:boldItalic r:id="rId32"/>
    </p:embeddedFont>
    <p:embeddedFont>
      <p:font typeface="DM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A2F613-993C-4B29-8FF0-6B7151607D89}">
  <a:tblStyle styleId="{CDA2F613-993C-4B29-8FF0-6B7151607D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DMSansMedium-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Medium-italic.fntdata"/><Relationship Id="rId30" Type="http://schemas.openxmlformats.org/officeDocument/2006/relationships/font" Target="fonts/DMSansMedium-bold.fntdata"/><Relationship Id="rId11" Type="http://schemas.openxmlformats.org/officeDocument/2006/relationships/slide" Target="slides/slide5.xml"/><Relationship Id="rId33" Type="http://schemas.openxmlformats.org/officeDocument/2006/relationships/font" Target="fonts/DMSans-regular.fntdata"/><Relationship Id="rId10" Type="http://schemas.openxmlformats.org/officeDocument/2006/relationships/slide" Target="slides/slide4.xml"/><Relationship Id="rId32" Type="http://schemas.openxmlformats.org/officeDocument/2006/relationships/font" Target="fonts/DMSansMedium-boldItalic.fntdata"/><Relationship Id="rId13" Type="http://schemas.openxmlformats.org/officeDocument/2006/relationships/slide" Target="slides/slide7.xml"/><Relationship Id="rId35" Type="http://schemas.openxmlformats.org/officeDocument/2006/relationships/font" Target="fonts/DMSans-italic.fntdata"/><Relationship Id="rId12" Type="http://schemas.openxmlformats.org/officeDocument/2006/relationships/slide" Target="slides/slide6.xml"/><Relationship Id="rId34" Type="http://schemas.openxmlformats.org/officeDocument/2006/relationships/font" Target="fonts/DM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DM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h2b7354f8e85abe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h2b7354f8e85abe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are Group 1: Anuja Jayakumar, Fiona Edocket and Ling Tsai, with our mentor Emma. This is CycleSignal, AI powered cycle tracking for earlier PCOS risk awareness. It is an awareness tool, not a diagnosis.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Ling</a:t>
            </a:r>
            <a:endParaRPr/>
          </a:p>
        </p:txBody>
      </p:sp>
      <p:sp>
        <p:nvSpPr>
          <p:cNvPr id="16" name="Google Shape;16;h2b7354f8e85abe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h2b7354f8e85abea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h2b7354f8e85abea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we chose it. About one in ten women has PCOS, and up to seventy percent of them are undiagnosed. Many wait years, because the early signs, like long or irregular cycles, are easy to dismiss. Wearables and cycle logs already capture those signals, but nothing turns them into a clear nudge to see a doctor. We wanted to see how far existing data could take us towards earlier awareness, and where it stops.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Ling</a:t>
            </a:r>
            <a:endParaRPr/>
          </a:p>
        </p:txBody>
      </p:sp>
      <p:sp>
        <p:nvSpPr>
          <p:cNvPr id="28" name="Google Shape;28;h2b7354f8e85abea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2b7354f8e85abea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h2b7354f8e85abea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short version. A person wears a Fitbit-style watch and logs her period dates and a short monthly check-in. No blood tests. The app tells her how long her cycles are, whether they are regular or irregular, and whether ovulation was seen, as context. Those become one risk-awareness score, with the reasons behind it, and a suggestion to talk to a doctor when it makes sense. It helps someone notice a pattern and take it to a GP.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Ling</a:t>
            </a:r>
            <a:endParaRPr/>
          </a:p>
        </p:txBody>
      </p:sp>
      <p:sp>
        <p:nvSpPr>
          <p:cNvPr id="50" name="Google Shape;50;h2b7354f8e85abea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Meet Sarah. She wears a watch and logs a few things in the app. On day one the app has no history, so it gives a cautious score and says so. Three months later her cycles are long and irregular, and the app shows a higher score, the reasons behind it, and a suggestion to talk to a doctor. That is CycleSignal.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Ling</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2b7354f8e85abea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h2b7354f8e85abea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How we worked: two datasets, one for each half of the question. mcPHASES is a research dataset of 42 young adults in Canada, with Fitbit Sense data and daily hormone tests, and 20 of them completed a second three-month interval. The hormone tests make the labels trustworthy. Glucose only exists for the first interval, so we left it out. The Kaggle clinical dataset has 541 patients from ten hospitals in Kerala, India, 177 of them with PCOS, and no wearable data. Because the two come from different people, each model is trained and tested on its 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Fiona</a:t>
            </a:r>
            <a:endParaRPr/>
          </a:p>
          <a:p>
            <a:pPr indent="0" lvl="0" marL="0" rtl="0" algn="l">
              <a:spcBef>
                <a:spcPts val="0"/>
              </a:spcBef>
              <a:spcAft>
                <a:spcPts val="0"/>
              </a:spcAft>
              <a:buNone/>
            </a:pPr>
            <a:r>
              <a:t/>
            </a:r>
            <a:endParaRPr/>
          </a:p>
        </p:txBody>
      </p:sp>
      <p:sp>
        <p:nvSpPr>
          <p:cNvPr id="81" name="Google Shape;81;h2b7354f8e85abea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2b7354f8e85abea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2b7354f8e85abea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Model 1 handles the cycle. From logged period dates it works out cycle length and whether the cycles are regular, using the FIGO 2018 definition. That part worked: regular or irregular matched the participants' diaries for 24 of 25 people, with a median cycle of 30 days across 69 cycles. A gap of 90 days or more always triggers a see-a-doctor message. The part that did not work is ovulation from wrist temperature. It failed the checks we set in advance: too many false alarms, no better than a calendar-based guess, and rarely confident. Only its calibration passed. So temperature is shown as context only and never scored. We kept the check and reported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Fiona</a:t>
            </a:r>
            <a:endParaRPr/>
          </a:p>
        </p:txBody>
      </p:sp>
      <p:sp>
        <p:nvSpPr>
          <p:cNvPr id="93" name="Google Shape;93;h2b7354f8e85abea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2b7354f8e85abea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h2b7354f8e85abea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Model 2 is the PCOS-risk part. We trained it on 541 clinical patients, using only inputs a person can self-report, like cycle regularity, weight gain, hair growth, skin darkening and acne. We compared four models with cross-validation and a twenty percent held-out test set. Extra Trees did best, with a ROC-AUC of 0.92, recall of 0.81 and precision of 0.78. We chose it for recall, because missing a case is worse than a false alarm, so it catches about eight in ten cases but still misses some. SHAP showed skin darkening, excess hair growth and weight gain as the strongest drivers. It never sees wearable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Anuja</a:t>
            </a:r>
            <a:endParaRPr/>
          </a:p>
          <a:p>
            <a:pPr indent="0" lvl="0" marL="0" rtl="0" algn="l">
              <a:spcBef>
                <a:spcPts val="0"/>
              </a:spcBef>
              <a:spcAft>
                <a:spcPts val="0"/>
              </a:spcAft>
              <a:buNone/>
            </a:pPr>
            <a:r>
              <a:t/>
            </a:r>
            <a:endParaRPr/>
          </a:p>
        </p:txBody>
      </p:sp>
      <p:sp>
        <p:nvSpPr>
          <p:cNvPr id="108" name="Google Shape;108;h2b7354f8e85abea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23246b1c206f6562_6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h23246b1c206f6562_6_2: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 Model 2 gives us the PCOS-associated profile score, and SHAP tells us what is driving that score for the individual. The next step was combining that with the longitudinal cycle pattern from Model 1 to create the prototype CycleSignal risk-awareness score.</a:t>
            </a:r>
            <a:endParaRPr/>
          </a:p>
          <a:p>
            <a:pPr indent="0" lvl="0" marL="0" rtl="0" algn="l">
              <a:spcBef>
                <a:spcPts val="0"/>
              </a:spcBef>
              <a:spcAft>
                <a:spcPts val="0"/>
              </a:spcAft>
              <a:buSzPts val="1200"/>
              <a:buNone/>
            </a:pPr>
            <a:r>
              <a:rPr lang="en-US" sz="1200"/>
              <a:t>Sarah is the illustrative example requested for this presentation: cycle component 30.0 points plus Model 2 component 58.0 points equals 88.0 / 100. These supplied example values do not establish a freshly computed output of the current 11-input pipeline.</a:t>
            </a:r>
            <a:endParaRPr/>
          </a:p>
          <a:p>
            <a:pPr indent="0" lvl="0" marL="0" rtl="0" algn="l">
              <a:spcBef>
                <a:spcPts val="0"/>
              </a:spcBef>
              <a:spcAft>
                <a:spcPts val="0"/>
              </a:spcAft>
              <a:buSzPts val="1200"/>
              <a:buNone/>
            </a:pPr>
            <a:r>
              <a:rPr lang="en-US" sz="1200"/>
              <a:t>Source-of-truth review: 26 October 2026. Main commit 3b77e8a6c1fa5225d4a6f11dd33ac14835350206.</a:t>
            </a:r>
            <a:endParaRPr/>
          </a:p>
          <a:p>
            <a:pPr indent="0" lvl="0" marL="0" rtl="0" algn="l">
              <a:spcBef>
                <a:spcPts val="0"/>
              </a:spcBef>
              <a:spcAft>
                <a:spcPts val="0"/>
              </a:spcAft>
              <a:buSzPts val="1200"/>
              <a:buNone/>
            </a:pPr>
            <a:r>
              <a:rPr lang="en-US" sz="1200"/>
              <a:t>https://github.com/eoc3001/WAI---GROUP1/blob/3b77e8a6c1fa5225d4a6f11dd33ac14835350206/combined_score/cyclesignal_risk_score.py</a:t>
            </a:r>
            <a:endParaRPr/>
          </a:p>
          <a:p>
            <a:pPr indent="0" lvl="0" marL="0" rtl="0" algn="l">
              <a:spcBef>
                <a:spcPts val="0"/>
              </a:spcBef>
              <a:spcAft>
                <a:spcPts val="0"/>
              </a:spcAft>
              <a:buSzPts val="1200"/>
              <a:buNone/>
            </a:pPr>
            <a:r>
              <a:rPr lang="en-US" sz="1200"/>
              <a:t>https://github.com/eoc3001/WAI---GROUP1/blob/3b77e8a6c1fa5225d4a6f11dd33ac14835350206/app/cyclesignal_core.py</a:t>
            </a:r>
            <a:endParaRPr/>
          </a:p>
          <a:p>
            <a:pPr indent="0" lvl="0" marL="0" rtl="0" algn="l">
              <a:spcBef>
                <a:spcPts val="0"/>
              </a:spcBef>
              <a:spcAft>
                <a:spcPts val="0"/>
              </a:spcAft>
              <a:buSzPts val="1200"/>
              <a:buNone/>
            </a:pPr>
            <a:r>
              <a:rPr lang="en-US" sz="1200"/>
              <a:t>https://github.com/eoc3001/WAI---GROUP1/blob/3b77e8a6c1fa5225d4a6f11dd33ac14835350206/agent/levels.py</a:t>
            </a:r>
            <a:endParaRPr/>
          </a:p>
          <a:p>
            <a:pPr indent="0" lvl="0" marL="0" rtl="0" algn="l">
              <a:spcBef>
                <a:spcPts val="0"/>
              </a:spcBef>
              <a:spcAft>
                <a:spcPts val="0"/>
              </a:spcAft>
              <a:buSzPts val="1200"/>
              <a:buNone/>
            </a:pPr>
            <a:r>
              <a:rPr lang="en-US" sz="1200"/>
              <a:t>Live site reviewed: https://f-ayanae.github.io/WAI---GROUP1/</a:t>
            </a:r>
            <a:endParaRPr/>
          </a:p>
          <a:p>
            <a:pPr indent="0" lvl="0" marL="0" rtl="0" algn="l">
              <a:spcBef>
                <a:spcPts val="0"/>
              </a:spcBef>
              <a:spcAft>
                <a:spcPts val="0"/>
              </a:spcAft>
              <a:buSzPts val="1200"/>
              <a:buNone/>
            </a:pPr>
            <a:r>
              <a:rPr lang="en-US" sz="1200"/>
              <a:t>Period length in Model 2 means days bleeding, not completed cycle intervals. The blended score includes overlapping cycle information. No clinical validation is claimed.</a:t>
            </a:r>
            <a:endParaRPr/>
          </a:p>
          <a:p>
            <a:pPr indent="0" lvl="0" marL="0" rtl="0" algn="l">
              <a:spcBef>
                <a:spcPts val="0"/>
              </a:spcBef>
              <a:spcAft>
                <a:spcPts val="0"/>
              </a:spcAft>
              <a:buSzPts val="1200"/>
              <a:buNone/>
            </a:pPr>
            <a:r>
              <a:rPr lang="en-US" sz="1200"/>
              <a:t>Anuja presents Model 2 and SHAP before this slide. Keep this section focused on the prototype combination: 40% cycle pattern and 60% PCOS profile. Model 2 period length means days bleeding. Temperature and ovulation are context only because the wearable ovulation model did not pass validation. The agent applies separate safety/escalation rules rather than the score alone.</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en-US"/>
              <a:t>Anuja</a:t>
            </a:r>
            <a:endParaRPr/>
          </a:p>
        </p:txBody>
      </p:sp>
      <p:sp>
        <p:nvSpPr>
          <p:cNvPr id="122" name="Google Shape;122;h23246b1c206f6562_6_2:notes"/>
          <p:cNvSpPr txBox="1"/>
          <p:nvPr>
            <p:ph idx="12" type="sldNum"/>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2b7354f8e85abea_0_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h2b7354f8e85abea_0_3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Issues and how we handled them. First, no dataset has both wearable data and a PCOS diagnosis, so each model is tested alone and the combined score is unvalidated. Second, our temperature-based ovulation check failed the criteria we set in advance, so it is context only. Third, cycle evidence could be counted twice, so the androgen check runs with cycle answers set to regular. Fourth, the training data had odd effects, like acne lowering the score for some users, so those bars are faded and labelled. Fifth, no participant met the irregular-cycle criteria, and Model 2 comes from one hospital network in India, so it may not generalise. Last, the demo nights are simulated and the weights are our own choices. We say all of this on screen.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Anuja</a:t>
            </a:r>
            <a:endParaRPr/>
          </a:p>
        </p:txBody>
      </p:sp>
      <p:sp>
        <p:nvSpPr>
          <p:cNvPr id="163" name="Google Shape;163;h2b7354f8e85abea_0_3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2b7354f8e85abea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2b7354f8e85abea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 learnings. First, most of our design effort went into deciding what the app should not claim. Second, a failed check is still a result, and ovulation from temperature not passing made the design more honest. Third, pick the metric that fits the risk: we chose recall over precision because a missed case costs more than a false alarm. Fourth, explain every score so users can question it. Fifth, label odd data effects instead of hiding them. And last, do not count the same evidence twice, and keep unvalidated signals as context.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Ling</a:t>
            </a:r>
            <a:endParaRPr/>
          </a:p>
          <a:p>
            <a:pPr indent="0" lvl="0" marL="0" rtl="0" algn="l">
              <a:spcBef>
                <a:spcPts val="0"/>
              </a:spcBef>
              <a:spcAft>
                <a:spcPts val="0"/>
              </a:spcAft>
              <a:buNone/>
            </a:pPr>
            <a:r>
              <a:t/>
            </a:r>
            <a:endParaRPr/>
          </a:p>
        </p:txBody>
      </p:sp>
      <p:sp>
        <p:nvSpPr>
          <p:cNvPr id="173" name="Google Shape;173;h2b7354f8e85abea_0_1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302e881dd61f32b3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h302e881dd61f32b3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Ling</a:t>
            </a:r>
            <a:endParaRPr/>
          </a:p>
        </p:txBody>
      </p:sp>
      <p:sp>
        <p:nvSpPr>
          <p:cNvPr id="199" name="Google Shape;199;h302e881dd61f32b3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2b7354f8e85abea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h2b7354f8e85abea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 results and next steps. Model 2 reaches 0.92 ROC-AUC on held-out patients. The score and the app work end to end in a prototype. The combined flag and the ovulation detector are not yet proven. To build the real thing, we need data from the same people, a diverse group, an ovulation detector that passes validation against hormone tests, a clinical study, and medical device approval. CycleSignal: earlier awareness, not a diagnosis. Thank you, we are happy to take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Fiona </a:t>
            </a:r>
            <a:endParaRPr/>
          </a:p>
        </p:txBody>
      </p:sp>
      <p:sp>
        <p:nvSpPr>
          <p:cNvPr id="213" name="Google Shape;213;h2b7354f8e85abea_0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2b7354f8e85abea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h2b7354f8e85abea_0_2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Thanks for watching. Questions are welcome in the three minute Q and 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Fiona</a:t>
            </a:r>
            <a:endParaRPr/>
          </a:p>
        </p:txBody>
      </p:sp>
      <p:sp>
        <p:nvSpPr>
          <p:cNvPr id="242" name="Google Shape;242;h2b7354f8e85abea_0_2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h2b7354f8e85abea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h2b7354f8e85abea_0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 results. Model 2 works: a ROC-AUC of 0.92, recall of 0.81 and precision of 0.78 on held-out patients. The prototype app works end to end: cycle pattern and check-in answers become one score with reasons, a what-if view and a doctor summary. For Model 1, cycle length and regularity matched the diary for 24 of 25 people, but ovulation from temperature did not pass, so it is context only. It is a working prototype, not yet validated end to end.</a:t>
            </a:r>
            <a:endParaRPr/>
          </a:p>
        </p:txBody>
      </p:sp>
      <p:sp>
        <p:nvSpPr>
          <p:cNvPr id="253" name="Google Shape;253;h2b7354f8e85abea_0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2b7354f8e85abea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h2b7354f8e85abea_0_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same product in detail. The score card shows 88 as an elevated pattern signal. Under it, a why card shows which answers moved the score: skin darkening, weight gain, hair growth and irregular periods. She can try a what-if, and the score drops from 88 to about 75 if some answers change. Last, a summary she can take to her GP. The wording is always risk-awareness score, worth discussing with a doctor.</a:t>
            </a:r>
            <a:endParaRPr/>
          </a:p>
        </p:txBody>
      </p:sp>
      <p:sp>
        <p:nvSpPr>
          <p:cNvPr id="271" name="Google Shape;271;h2b7354f8e85abea_0_2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h2b7354f8e85abea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h2b7354f8e85abea_0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demo. Sarah is a fictional user. On day one she has no history, so the score is a cautious 66, with a low-confidence banner. Three months later she has logged cycles of 38, 44 and 41 days, all longer than the typical 21 to 35, and the score is 88, an elevated pattern signal. For contrast, Aoife has regular cycles and few symptoms, and scores 19.7. The scores are real outputs from our code. The watch nights are simulated.</a:t>
            </a:r>
            <a:endParaRPr/>
          </a:p>
        </p:txBody>
      </p:sp>
      <p:sp>
        <p:nvSpPr>
          <p:cNvPr id="295" name="Google Shape;295;h2b7354f8e85abea_0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2b7354f8e85abea_0_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h2b7354f8e85abea_0_2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this plainly and early in Q and A if it comes up. We have two datasets that each answer half of the question. Model 1 learns what ovulation looks like in wearable data. Model 2 learns a risk profile from clinical records. Nobody has data that connects the two, so the combined flag has not been tested. That is the next study, and being upfront about it is a strength.</a:t>
            </a:r>
            <a:endParaRPr/>
          </a:p>
        </p:txBody>
      </p:sp>
      <p:sp>
        <p:nvSpPr>
          <p:cNvPr id="320" name="Google Shape;320;h2b7354f8e85abea_0_2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2b7354f8e85abea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h2b7354f8e85abea_0_2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part that is easy to get lost in, so keep it to the logic. We join everything on participant id and day in study. Each person's signals are measured against her own early-cycle level, because absolute temperature varies a lot between people. Hormone values only create the answer key. And we split by person so the model is always tested on someone it has never seen.</a:t>
            </a:r>
            <a:endParaRPr/>
          </a:p>
        </p:txBody>
      </p:sp>
      <p:sp>
        <p:nvSpPr>
          <p:cNvPr id="339" name="Google Shape;339;h2b7354f8e85abea_0_2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2b7354f8e85abea_0_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h2b7354f8e85abea_0_3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Placeholder slide. The live app already says Model 1's ovulation check did not pass validation, so do not present these as a success. Fill each bracket from the held-out test run and delete the instruction line at the bottom. If one result is weak, show it anyway and say what it means. If the model does not beat the baselines, that is a finding, not a failure to hide. Add a chart of one participant's temperature with the model's ovulation call next to the hormone-confirmed day if there is time.</a:t>
            </a:r>
            <a:endParaRPr/>
          </a:p>
        </p:txBody>
      </p:sp>
      <p:sp>
        <p:nvSpPr>
          <p:cNvPr id="365" name="Google Shape;365;h2b7354f8e85abea_0_3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h2b7354f8e85abea_0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h2b7354f8e85abea_0_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idea is that nobody gets scored by a model that has seen their data. We also set the bar in advance: the model has to beat two simpler approaches, otherwise it is not worth using. Reporting regular and irregular cycles separately matters because irregular cycles are exactly the hard, important case.</a:t>
            </a:r>
            <a:endParaRPr/>
          </a:p>
        </p:txBody>
      </p:sp>
      <p:sp>
        <p:nvSpPr>
          <p:cNvPr id="375" name="Google Shape;375;h2b7354f8e85abea_0_3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2b7354f8e85abea_0_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h2b7354f8e85abea_0_3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Video B plays here: the 45-second promo, or the full walkthrough. Everything on this slide is a concept with illustrative data, and the banner says so. Today our cycle data and our symptom data come from different people in different countries. The key step is data from the same women, followed for six to twelve months, with a confirmed diagnosis at the end. Then the four views: the timeline, the Rotterdam tracker, labs and scan, and the clinician view where the diagnosis feeds back as a label.</a:t>
            </a:r>
            <a:endParaRPr/>
          </a:p>
        </p:txBody>
      </p:sp>
      <p:sp>
        <p:nvSpPr>
          <p:cNvPr id="395" name="Google Shape;395;h2b7354f8e85abea_0_3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2b7354f8e85abea_0_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h2b7354f8e85abea_0_3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it as a story. The watch works in the background, she logs a few things, and she gets one score with the reasons behind it. The hormone kit appears only in the research data: it tells the model what really happened so we can check its answers, but a real user would not need one.</a:t>
            </a:r>
            <a:endParaRPr/>
          </a:p>
        </p:txBody>
      </p:sp>
      <p:sp>
        <p:nvSpPr>
          <p:cNvPr id="417" name="Google Shape;417;h2b7354f8e85abea_0_3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0FA"/>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drive.google.com/file/d/1iUt-dXpt92ntQPTqUmJyDEYmkEmv1_Z8/view"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5"/>
          <p:cNvSpPr/>
          <p:nvPr/>
        </p:nvSpPr>
        <p:spPr>
          <a:xfrm>
            <a:off x="0" y="0"/>
            <a:ext cx="12192000" cy="6858000"/>
          </a:xfrm>
          <a:prstGeom prst="rect">
            <a:avLst/>
          </a:prstGeom>
          <a:gradFill>
            <a:gsLst>
              <a:gs pos="0">
                <a:srgbClr val="FFE6EE"/>
              </a:gs>
              <a:gs pos="100000">
                <a:srgbClr val="EFE6FB"/>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llipse" id="19" name="Google Shape;19;p5"/>
          <p:cNvPicPr preferRelativeResize="0"/>
          <p:nvPr/>
        </p:nvPicPr>
        <p:blipFill rotWithShape="1">
          <a:blip r:embed="rId3">
            <a:alphaModFix/>
          </a:blip>
          <a:srcRect b="0" l="0" r="0" t="0"/>
          <a:stretch/>
        </p:blipFill>
        <p:spPr>
          <a:xfrm>
            <a:off x="7874000" y="889000"/>
            <a:ext cx="2794000" cy="2794000"/>
          </a:xfrm>
          <a:prstGeom prst="rect">
            <a:avLst/>
          </a:prstGeom>
          <a:noFill/>
          <a:ln>
            <a:noFill/>
          </a:ln>
        </p:spPr>
      </p:pic>
      <p:pic>
        <p:nvPicPr>
          <p:cNvPr descr="ellipse" id="20" name="Google Shape;20;p5"/>
          <p:cNvPicPr preferRelativeResize="0"/>
          <p:nvPr/>
        </p:nvPicPr>
        <p:blipFill rotWithShape="1">
          <a:blip r:embed="rId4">
            <a:alphaModFix/>
          </a:blip>
          <a:srcRect b="0" l="0" r="0" t="0"/>
          <a:stretch/>
        </p:blipFill>
        <p:spPr>
          <a:xfrm>
            <a:off x="9398000" y="3302000"/>
            <a:ext cx="1651000" cy="1651000"/>
          </a:xfrm>
          <a:prstGeom prst="rect">
            <a:avLst/>
          </a:prstGeom>
          <a:noFill/>
          <a:ln>
            <a:noFill/>
          </a:ln>
        </p:spPr>
      </p:pic>
      <p:sp>
        <p:nvSpPr>
          <p:cNvPr id="21" name="Google Shape;21;p5"/>
          <p:cNvSpPr/>
          <p:nvPr/>
        </p:nvSpPr>
        <p:spPr>
          <a:xfrm>
            <a:off x="812782" y="812782"/>
            <a:ext cx="108834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386B"/>
              </a:buClr>
              <a:buSzPts val="1600"/>
              <a:buFont typeface="DM Sans"/>
              <a:buNone/>
            </a:pPr>
            <a:r>
              <a:rPr b="1" i="0" lang="en-US" sz="1600" u="none" cap="none" strike="noStrike">
                <a:solidFill>
                  <a:srgbClr val="C2386B"/>
                </a:solidFill>
                <a:latin typeface="DM Sans"/>
                <a:ea typeface="DM Sans"/>
                <a:cs typeface="DM Sans"/>
                <a:sym typeface="DM Sans"/>
              </a:rPr>
              <a:t>GROUP SHOWCASE</a:t>
            </a:r>
            <a:endParaRPr b="0" i="0" sz="1600" u="none" cap="none" strike="noStrike">
              <a:solidFill>
                <a:schemeClr val="dk1"/>
              </a:solidFill>
              <a:latin typeface="Calibri"/>
              <a:ea typeface="Calibri"/>
              <a:cs typeface="Calibri"/>
              <a:sym typeface="Calibri"/>
            </a:endParaRPr>
          </a:p>
        </p:txBody>
      </p:sp>
      <p:sp>
        <p:nvSpPr>
          <p:cNvPr id="22" name="Google Shape;22;p5"/>
          <p:cNvSpPr/>
          <p:nvPr/>
        </p:nvSpPr>
        <p:spPr>
          <a:xfrm>
            <a:off x="812782" y="2491924"/>
            <a:ext cx="10883400" cy="93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B2340"/>
              </a:buClr>
              <a:buSzPts val="7200"/>
              <a:buFont typeface="DM Sans"/>
              <a:buNone/>
            </a:pPr>
            <a:r>
              <a:rPr b="1" i="0" lang="en-US" sz="7200" u="none" cap="none" strike="noStrike">
                <a:solidFill>
                  <a:srgbClr val="3B2340"/>
                </a:solidFill>
                <a:latin typeface="DM Sans"/>
                <a:ea typeface="DM Sans"/>
                <a:cs typeface="DM Sans"/>
                <a:sym typeface="DM Sans"/>
              </a:rPr>
              <a:t>CycleSignal</a:t>
            </a:r>
            <a:endParaRPr b="0" i="0" sz="7200" u="none" cap="none" strike="noStrike">
              <a:solidFill>
                <a:schemeClr val="dk1"/>
              </a:solidFill>
              <a:latin typeface="Calibri"/>
              <a:ea typeface="Calibri"/>
              <a:cs typeface="Calibri"/>
              <a:sym typeface="Calibri"/>
            </a:endParaRPr>
          </a:p>
        </p:txBody>
      </p:sp>
      <p:sp>
        <p:nvSpPr>
          <p:cNvPr id="23" name="Google Shape;23;p5"/>
          <p:cNvSpPr/>
          <p:nvPr/>
        </p:nvSpPr>
        <p:spPr>
          <a:xfrm>
            <a:off x="812782" y="3609488"/>
            <a:ext cx="6540600" cy="817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B5470"/>
              </a:buClr>
              <a:buSzPts val="2400"/>
              <a:buFont typeface="DM Sans"/>
              <a:buNone/>
            </a:pPr>
            <a:r>
              <a:rPr b="0" i="0" lang="en-US" sz="2400" u="none" cap="none" strike="noStrike">
                <a:solidFill>
                  <a:srgbClr val="6B5470"/>
                </a:solidFill>
                <a:latin typeface="DM Sans"/>
                <a:ea typeface="DM Sans"/>
                <a:cs typeface="DM Sans"/>
                <a:sym typeface="DM Sans"/>
              </a:rPr>
              <a:t>AI powered cycle tracking for earlier PCOS risk awareness</a:t>
            </a:r>
            <a:endParaRPr b="0" i="0" sz="2400" u="none" cap="none" strike="noStrike">
              <a:solidFill>
                <a:schemeClr val="dk1"/>
              </a:solidFill>
              <a:latin typeface="Calibri"/>
              <a:ea typeface="Calibri"/>
              <a:cs typeface="Calibri"/>
              <a:sym typeface="Calibri"/>
            </a:endParaRPr>
          </a:p>
        </p:txBody>
      </p:sp>
      <p:sp>
        <p:nvSpPr>
          <p:cNvPr id="24" name="Google Shape;24;p5"/>
          <p:cNvSpPr/>
          <p:nvPr/>
        </p:nvSpPr>
        <p:spPr>
          <a:xfrm>
            <a:off x="812782" y="5796359"/>
            <a:ext cx="108834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400"/>
              <a:buFont typeface="DM Sans"/>
              <a:buNone/>
            </a:pPr>
            <a:r>
              <a:rPr b="0" i="0" lang="en-US" sz="1400" u="none" cap="none" strike="noStrike">
                <a:solidFill>
                  <a:srgbClr val="6B5470"/>
                </a:solidFill>
                <a:latin typeface="DM Sans"/>
                <a:ea typeface="DM Sans"/>
                <a:cs typeface="DM Sans"/>
                <a:sym typeface="DM Sans"/>
              </a:rPr>
              <a:t>Group 1 · Anuj</a:t>
            </a:r>
            <a:r>
              <a:rPr lang="en-US">
                <a:solidFill>
                  <a:srgbClr val="6B5470"/>
                </a:solidFill>
                <a:latin typeface="DM Sans"/>
                <a:ea typeface="DM Sans"/>
                <a:cs typeface="DM Sans"/>
                <a:sym typeface="DM Sans"/>
              </a:rPr>
              <a:t>a Jayakumar</a:t>
            </a:r>
            <a:r>
              <a:rPr b="0" i="0" lang="en-US" sz="1400" u="none" cap="none" strike="noStrike">
                <a:solidFill>
                  <a:srgbClr val="6B5470"/>
                </a:solidFill>
                <a:latin typeface="DM Sans"/>
                <a:ea typeface="DM Sans"/>
                <a:cs typeface="DM Sans"/>
                <a:sym typeface="DM Sans"/>
              </a:rPr>
              <a:t>, Fiona Edocket, Ling Tsai · Mentor: Emma</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6"/>
          <p:cNvSpPr/>
          <p:nvPr/>
        </p:nvSpPr>
        <p:spPr>
          <a:xfrm>
            <a:off x="812782" y="812781"/>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PCOS is easy to miss one symptom at a time</a:t>
            </a:r>
            <a:endParaRPr b="0" i="0" sz="3200" u="none" cap="none" strike="noStrike">
              <a:solidFill>
                <a:schemeClr val="dk1"/>
              </a:solidFill>
              <a:latin typeface="Calibri"/>
              <a:ea typeface="Calibri"/>
              <a:cs typeface="Calibri"/>
              <a:sym typeface="Calibri"/>
            </a:endParaRPr>
          </a:p>
        </p:txBody>
      </p:sp>
      <p:sp>
        <p:nvSpPr>
          <p:cNvPr id="31" name="Google Shape;31;p6"/>
          <p:cNvSpPr/>
          <p:nvPr/>
        </p:nvSpPr>
        <p:spPr>
          <a:xfrm>
            <a:off x="812782" y="1564588"/>
            <a:ext cx="4298400" cy="665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C2386B"/>
              </a:buClr>
              <a:buSzPts val="4800"/>
              <a:buFont typeface="DM Sans"/>
              <a:buNone/>
            </a:pPr>
            <a:r>
              <a:rPr b="1" i="0" lang="en-US" sz="4800" u="none" cap="none" strike="noStrike">
                <a:solidFill>
                  <a:srgbClr val="C2386B"/>
                </a:solidFill>
                <a:latin typeface="DM Sans"/>
                <a:ea typeface="DM Sans"/>
                <a:cs typeface="DM Sans"/>
                <a:sym typeface="DM Sans"/>
              </a:rPr>
              <a:t>About 1 in 10</a:t>
            </a:r>
            <a:endParaRPr b="0" i="0" sz="4800" u="none" cap="none" strike="noStrike">
              <a:solidFill>
                <a:schemeClr val="dk1"/>
              </a:solidFill>
              <a:latin typeface="Calibri"/>
              <a:ea typeface="Calibri"/>
              <a:cs typeface="Calibri"/>
              <a:sym typeface="Calibri"/>
            </a:endParaRPr>
          </a:p>
        </p:txBody>
      </p:sp>
      <p:sp>
        <p:nvSpPr>
          <p:cNvPr id="32" name="Google Shape;32;p6"/>
          <p:cNvSpPr/>
          <p:nvPr/>
        </p:nvSpPr>
        <p:spPr>
          <a:xfrm>
            <a:off x="812782" y="2255332"/>
            <a:ext cx="4298400" cy="289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B5470"/>
              </a:buClr>
              <a:buSzPts val="1600"/>
              <a:buFont typeface="DM Sans"/>
              <a:buNone/>
            </a:pPr>
            <a:r>
              <a:rPr b="0" i="0" lang="en-US" sz="1600" u="none" cap="none" strike="noStrike">
                <a:solidFill>
                  <a:srgbClr val="6B5470"/>
                </a:solidFill>
                <a:latin typeface="DM Sans"/>
                <a:ea typeface="DM Sans"/>
                <a:cs typeface="DM Sans"/>
                <a:sym typeface="DM Sans"/>
              </a:rPr>
              <a:t>women of reproductive age have PCOS</a:t>
            </a:r>
            <a:endParaRPr b="0" i="0" sz="1600" u="none" cap="none" strike="noStrike">
              <a:solidFill>
                <a:schemeClr val="dk1"/>
              </a:solidFill>
              <a:latin typeface="Calibri"/>
              <a:ea typeface="Calibri"/>
              <a:cs typeface="Calibri"/>
              <a:sym typeface="Calibri"/>
            </a:endParaRPr>
          </a:p>
        </p:txBody>
      </p:sp>
      <p:sp>
        <p:nvSpPr>
          <p:cNvPr id="33" name="Google Shape;33;p6"/>
          <p:cNvSpPr/>
          <p:nvPr/>
        </p:nvSpPr>
        <p:spPr>
          <a:xfrm>
            <a:off x="5111118" y="1564588"/>
            <a:ext cx="3640200" cy="665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C2386B"/>
              </a:buClr>
              <a:buSzPts val="4800"/>
              <a:buFont typeface="DM Sans"/>
              <a:buNone/>
            </a:pPr>
            <a:r>
              <a:rPr b="1" i="0" lang="en-US" sz="4800" u="none" cap="none" strike="noStrike">
                <a:solidFill>
                  <a:srgbClr val="C2386B"/>
                </a:solidFill>
                <a:latin typeface="DM Sans"/>
                <a:ea typeface="DM Sans"/>
                <a:cs typeface="DM Sans"/>
                <a:sym typeface="DM Sans"/>
              </a:rPr>
              <a:t>Up to 70%</a:t>
            </a:r>
            <a:endParaRPr b="0" i="0" sz="4800" u="none" cap="none" strike="noStrike">
              <a:solidFill>
                <a:schemeClr val="dk1"/>
              </a:solidFill>
              <a:latin typeface="Calibri"/>
              <a:ea typeface="Calibri"/>
              <a:cs typeface="Calibri"/>
              <a:sym typeface="Calibri"/>
            </a:endParaRPr>
          </a:p>
        </p:txBody>
      </p:sp>
      <p:sp>
        <p:nvSpPr>
          <p:cNvPr id="34" name="Google Shape;34;p6"/>
          <p:cNvSpPr/>
          <p:nvPr/>
        </p:nvSpPr>
        <p:spPr>
          <a:xfrm>
            <a:off x="5111168" y="2263207"/>
            <a:ext cx="3124500" cy="289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B5470"/>
              </a:buClr>
              <a:buSzPts val="1600"/>
              <a:buFont typeface="DM Sans"/>
              <a:buNone/>
            </a:pPr>
            <a:r>
              <a:rPr b="0" i="0" lang="en-US" sz="1600" u="none" cap="none" strike="noStrike">
                <a:solidFill>
                  <a:srgbClr val="6B5470"/>
                </a:solidFill>
                <a:latin typeface="DM Sans"/>
                <a:ea typeface="DM Sans"/>
                <a:cs typeface="DM Sans"/>
                <a:sym typeface="DM Sans"/>
              </a:rPr>
              <a:t>of them do not know it</a:t>
            </a:r>
            <a:endParaRPr b="0" i="0" sz="1600" u="none" cap="none" strike="noStrike">
              <a:solidFill>
                <a:schemeClr val="dk1"/>
              </a:solidFill>
              <a:latin typeface="Calibri"/>
              <a:ea typeface="Calibri"/>
              <a:cs typeface="Calibri"/>
              <a:sym typeface="Calibri"/>
            </a:endParaRPr>
          </a:p>
        </p:txBody>
      </p:sp>
      <p:sp>
        <p:nvSpPr>
          <p:cNvPr id="35" name="Google Shape;35;p6"/>
          <p:cNvSpPr/>
          <p:nvPr/>
        </p:nvSpPr>
        <p:spPr>
          <a:xfrm>
            <a:off x="815957" y="2827392"/>
            <a:ext cx="3380400" cy="2024100"/>
          </a:xfrm>
          <a:prstGeom prst="roundRect">
            <a:avLst>
              <a:gd fmla="val 4862"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a:off x="1072555" y="3083989"/>
            <a:ext cx="29532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2000"/>
              <a:buFont typeface="DM Sans"/>
              <a:buNone/>
            </a:pPr>
            <a:r>
              <a:rPr b="1" i="0" lang="en-US" sz="2000" u="none" cap="none" strike="noStrike">
                <a:solidFill>
                  <a:srgbClr val="C2386B"/>
                </a:solidFill>
                <a:latin typeface="DM Sans"/>
                <a:ea typeface="DM Sans"/>
                <a:cs typeface="DM Sans"/>
                <a:sym typeface="DM Sans"/>
              </a:rPr>
              <a:t>Scattered signs</a:t>
            </a:r>
            <a:endParaRPr b="0" i="0" sz="2000" u="none" cap="none" strike="noStrike">
              <a:solidFill>
                <a:schemeClr val="dk1"/>
              </a:solidFill>
              <a:latin typeface="Calibri"/>
              <a:ea typeface="Calibri"/>
              <a:cs typeface="Calibri"/>
              <a:sym typeface="Calibri"/>
            </a:endParaRPr>
          </a:p>
        </p:txBody>
      </p:sp>
      <p:sp>
        <p:nvSpPr>
          <p:cNvPr id="37" name="Google Shape;37;p6"/>
          <p:cNvSpPr/>
          <p:nvPr/>
        </p:nvSpPr>
        <p:spPr>
          <a:xfrm>
            <a:off x="1072555" y="3490334"/>
            <a:ext cx="2953200" cy="82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Irregular cycles, weight changes, skin and hair changes. Each one is easy to dismiss on its own.</a:t>
            </a:r>
            <a:endParaRPr b="0" i="0" sz="1500" u="none" cap="none" strike="noStrike">
              <a:solidFill>
                <a:schemeClr val="dk1"/>
              </a:solidFill>
              <a:latin typeface="Calibri"/>
              <a:ea typeface="Calibri"/>
              <a:cs typeface="Calibri"/>
              <a:sym typeface="Calibri"/>
            </a:endParaRPr>
          </a:p>
        </p:txBody>
      </p:sp>
      <p:sp>
        <p:nvSpPr>
          <p:cNvPr id="38" name="Google Shape;38;p6"/>
          <p:cNvSpPr/>
          <p:nvPr/>
        </p:nvSpPr>
        <p:spPr>
          <a:xfrm>
            <a:off x="4405781" y="2827392"/>
            <a:ext cx="3380400" cy="2024100"/>
          </a:xfrm>
          <a:prstGeom prst="roundRect">
            <a:avLst>
              <a:gd fmla="val 4862"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p:nvPr/>
        </p:nvSpPr>
        <p:spPr>
          <a:xfrm>
            <a:off x="4662379" y="3083989"/>
            <a:ext cx="2953200" cy="63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2000"/>
              <a:buFont typeface="DM Sans"/>
              <a:buNone/>
            </a:pPr>
            <a:r>
              <a:rPr b="1" i="0" lang="en-US" sz="2000" u="none" cap="none" strike="noStrike">
                <a:solidFill>
                  <a:srgbClr val="C2386B"/>
                </a:solidFill>
                <a:latin typeface="DM Sans"/>
                <a:ea typeface="DM Sans"/>
                <a:cs typeface="DM Sans"/>
                <a:sym typeface="DM Sans"/>
              </a:rPr>
              <a:t>Invisible between visits</a:t>
            </a:r>
            <a:endParaRPr b="0" i="0" sz="2000" u="none" cap="none" strike="noStrike">
              <a:solidFill>
                <a:schemeClr val="dk1"/>
              </a:solidFill>
              <a:latin typeface="Calibri"/>
              <a:ea typeface="Calibri"/>
              <a:cs typeface="Calibri"/>
              <a:sym typeface="Calibri"/>
            </a:endParaRPr>
          </a:p>
        </p:txBody>
      </p:sp>
      <p:sp>
        <p:nvSpPr>
          <p:cNvPr id="40" name="Google Shape;40;p6"/>
          <p:cNvSpPr/>
          <p:nvPr/>
        </p:nvSpPr>
        <p:spPr>
          <a:xfrm>
            <a:off x="4662379" y="3530621"/>
            <a:ext cx="2953200" cy="82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Nobody sees how a cycle behaves from month to month unless someone is tracking it.</a:t>
            </a:r>
            <a:endParaRPr b="0" i="0" sz="1500" u="none" cap="none" strike="noStrike">
              <a:solidFill>
                <a:schemeClr val="dk1"/>
              </a:solidFill>
              <a:latin typeface="Calibri"/>
              <a:ea typeface="Calibri"/>
              <a:cs typeface="Calibri"/>
              <a:sym typeface="Calibri"/>
            </a:endParaRPr>
          </a:p>
        </p:txBody>
      </p:sp>
      <p:sp>
        <p:nvSpPr>
          <p:cNvPr id="41" name="Google Shape;41;p6"/>
          <p:cNvSpPr/>
          <p:nvPr/>
        </p:nvSpPr>
        <p:spPr>
          <a:xfrm>
            <a:off x="7995696" y="2827392"/>
            <a:ext cx="3380400" cy="2024100"/>
          </a:xfrm>
          <a:prstGeom prst="roundRect">
            <a:avLst>
              <a:gd fmla="val 4862"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a:off x="8252294" y="3083989"/>
            <a:ext cx="29532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2000"/>
              <a:buFont typeface="DM Sans"/>
              <a:buNone/>
            </a:pPr>
            <a:r>
              <a:rPr b="1" i="0" lang="en-US" sz="2000" u="none" cap="none" strike="noStrike">
                <a:solidFill>
                  <a:srgbClr val="C2386B"/>
                </a:solidFill>
                <a:latin typeface="DM Sans"/>
                <a:ea typeface="DM Sans"/>
                <a:cs typeface="DM Sans"/>
                <a:sym typeface="DM Sans"/>
              </a:rPr>
              <a:t>No one sign settles it</a:t>
            </a:r>
            <a:endParaRPr b="0" i="0" sz="2000" u="none" cap="none" strike="noStrike">
              <a:solidFill>
                <a:schemeClr val="dk1"/>
              </a:solidFill>
              <a:latin typeface="Calibri"/>
              <a:ea typeface="Calibri"/>
              <a:cs typeface="Calibri"/>
              <a:sym typeface="Calibri"/>
            </a:endParaRPr>
          </a:p>
        </p:txBody>
      </p:sp>
      <p:sp>
        <p:nvSpPr>
          <p:cNvPr id="43" name="Google Shape;43;p6"/>
          <p:cNvSpPr/>
          <p:nvPr/>
        </p:nvSpPr>
        <p:spPr>
          <a:xfrm>
            <a:off x="8252294" y="3490334"/>
            <a:ext cx="2953200" cy="82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A GP looks at the whole picture, so the app should bring that picture to the appointment.</a:t>
            </a:r>
            <a:endParaRPr b="0" i="0" sz="1500" u="none" cap="none" strike="noStrike">
              <a:solidFill>
                <a:schemeClr val="dk1"/>
              </a:solidFill>
              <a:latin typeface="Calibri"/>
              <a:ea typeface="Calibri"/>
              <a:cs typeface="Calibri"/>
              <a:sym typeface="Calibri"/>
            </a:endParaRPr>
          </a:p>
        </p:txBody>
      </p:sp>
      <p:sp>
        <p:nvSpPr>
          <p:cNvPr id="44" name="Google Shape;44;p6"/>
          <p:cNvSpPr/>
          <p:nvPr/>
        </p:nvSpPr>
        <p:spPr>
          <a:xfrm>
            <a:off x="812782" y="5511871"/>
            <a:ext cx="10883400" cy="355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5CB8"/>
              </a:buClr>
              <a:buSzPts val="2000"/>
              <a:buFont typeface="DM Sans"/>
              <a:buNone/>
            </a:pPr>
            <a:r>
              <a:rPr b="1" i="0" lang="en-US" sz="2000" u="none" cap="none" strike="noStrike">
                <a:solidFill>
                  <a:srgbClr val="7A5CB8"/>
                </a:solidFill>
                <a:latin typeface="DM Sans"/>
                <a:ea typeface="DM Sans"/>
                <a:cs typeface="DM Sans"/>
                <a:sym typeface="DM Sans"/>
              </a:rPr>
              <a:t>Our idea: help someone notice the pattern and take it to a GP.</a:t>
            </a:r>
            <a:endParaRPr b="0" i="0" sz="2000" u="none" cap="none" strike="noStrike">
              <a:solidFill>
                <a:schemeClr val="dk1"/>
              </a:solidFill>
              <a:latin typeface="Calibri"/>
              <a:ea typeface="Calibri"/>
              <a:cs typeface="Calibri"/>
              <a:sym typeface="Calibri"/>
            </a:endParaRPr>
          </a:p>
        </p:txBody>
      </p:sp>
      <p:sp>
        <p:nvSpPr>
          <p:cNvPr id="45" name="Google Shape;45;p6"/>
          <p:cNvSpPr/>
          <p:nvPr/>
        </p:nvSpPr>
        <p:spPr>
          <a:xfrm>
            <a:off x="812782" y="6238242"/>
            <a:ext cx="8502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 · Sources: WHO (2023), via ACP Internist (2024)</a:t>
            </a:r>
            <a:endParaRPr b="0" i="0" sz="1200" u="none" cap="none" strike="noStrike">
              <a:solidFill>
                <a:schemeClr val="dk1"/>
              </a:solidFill>
              <a:latin typeface="Calibri"/>
              <a:ea typeface="Calibri"/>
              <a:cs typeface="Calibri"/>
              <a:sym typeface="Calibri"/>
            </a:endParaRPr>
          </a:p>
        </p:txBody>
      </p:sp>
      <p:sp>
        <p:nvSpPr>
          <p:cNvPr id="46" name="Google Shape;46;p6"/>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lang="en-US" sz="1200">
                <a:solidFill>
                  <a:srgbClr val="7B6680"/>
                </a:solidFill>
                <a:latin typeface="DM Sans"/>
                <a:ea typeface="DM Sans"/>
                <a:cs typeface="DM Sans"/>
                <a:sym typeface="DM Sans"/>
              </a:rPr>
              <a:t>1</a:t>
            </a:r>
            <a:endParaRPr sz="1200">
              <a:solidFill>
                <a:srgbClr val="7B6680"/>
              </a:solidFill>
              <a:latin typeface="DM Sans"/>
              <a:ea typeface="DM Sans"/>
              <a:cs typeface="DM Sans"/>
              <a:sym typeface="DM Sans"/>
            </a:endParaRPr>
          </a:p>
          <a:p>
            <a:pPr indent="0" lvl="0" marL="0" marR="0" rtl="0" algn="l">
              <a:lnSpc>
                <a:spcPct val="140000"/>
              </a:lnSpc>
              <a:spcBef>
                <a:spcPts val="0"/>
              </a:spcBef>
              <a:spcAft>
                <a:spcPts val="0"/>
              </a:spcAft>
              <a:buClr>
                <a:srgbClr val="7B6680"/>
              </a:buClr>
              <a:buSzPts val="1200"/>
              <a:buFont typeface="DM Sans"/>
              <a:buNone/>
            </a:pPr>
            <a:r>
              <a:t/>
            </a:r>
            <a:endParaRPr sz="1200">
              <a:solidFill>
                <a:srgbClr val="7B6680"/>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7"/>
          <p:cNvSpPr/>
          <p:nvPr/>
        </p:nvSpPr>
        <p:spPr>
          <a:xfrm>
            <a:off x="812782" y="812781"/>
            <a:ext cx="10883400" cy="46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110"/>
              <a:buFont typeface="DM Sans"/>
              <a:buNone/>
            </a:pPr>
            <a:r>
              <a:rPr b="1" lang="en-US" sz="3110">
                <a:solidFill>
                  <a:srgbClr val="3B2340"/>
                </a:solidFill>
                <a:latin typeface="DM Sans"/>
                <a:ea typeface="DM Sans"/>
                <a:cs typeface="DM Sans"/>
                <a:sym typeface="DM Sans"/>
              </a:rPr>
              <a:t>W</a:t>
            </a:r>
            <a:r>
              <a:rPr b="1" i="0" lang="en-US" sz="3110" u="none" cap="none" strike="noStrike">
                <a:solidFill>
                  <a:srgbClr val="3B2340"/>
                </a:solidFill>
                <a:latin typeface="DM Sans"/>
                <a:ea typeface="DM Sans"/>
                <a:cs typeface="DM Sans"/>
                <a:sym typeface="DM Sans"/>
              </a:rPr>
              <a:t>hat CycleSignal tells her</a:t>
            </a:r>
            <a:endParaRPr b="0" i="0" sz="3110" u="none" cap="none" strike="noStrike">
              <a:solidFill>
                <a:schemeClr val="dk1"/>
              </a:solidFill>
              <a:latin typeface="Calibri"/>
              <a:ea typeface="Calibri"/>
              <a:cs typeface="Calibri"/>
              <a:sym typeface="Calibri"/>
            </a:endParaRPr>
          </a:p>
        </p:txBody>
      </p:sp>
      <p:sp>
        <p:nvSpPr>
          <p:cNvPr id="53" name="Google Shape;53;p7"/>
          <p:cNvSpPr/>
          <p:nvPr/>
        </p:nvSpPr>
        <p:spPr>
          <a:xfrm>
            <a:off x="815957" y="1555587"/>
            <a:ext cx="3380400" cy="3031500"/>
          </a:xfrm>
          <a:prstGeom prst="roundRect">
            <a:avLst>
              <a:gd fmla="val 3247"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7"/>
          <p:cNvSpPr/>
          <p:nvPr/>
        </p:nvSpPr>
        <p:spPr>
          <a:xfrm>
            <a:off x="1072555" y="1812185"/>
            <a:ext cx="2953200" cy="4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386B"/>
              </a:buClr>
              <a:buSzPts val="3600"/>
              <a:buFont typeface="DM Sans"/>
              <a:buNone/>
            </a:pPr>
            <a:r>
              <a:rPr b="1" i="0" lang="en-US" sz="3600" u="none" cap="none" strike="noStrike">
                <a:solidFill>
                  <a:srgbClr val="C2386B"/>
                </a:solidFill>
                <a:latin typeface="DM Sans"/>
                <a:ea typeface="DM Sans"/>
                <a:cs typeface="DM Sans"/>
                <a:sym typeface="DM Sans"/>
              </a:rPr>
              <a:t>01</a:t>
            </a:r>
            <a:endParaRPr b="0" i="0" sz="3600" u="none" cap="none" strike="noStrike">
              <a:solidFill>
                <a:schemeClr val="dk1"/>
              </a:solidFill>
              <a:latin typeface="Calibri"/>
              <a:ea typeface="Calibri"/>
              <a:cs typeface="Calibri"/>
              <a:sym typeface="Calibri"/>
            </a:endParaRPr>
          </a:p>
        </p:txBody>
      </p:sp>
      <p:sp>
        <p:nvSpPr>
          <p:cNvPr id="55" name="Google Shape;55;p7"/>
          <p:cNvSpPr/>
          <p:nvPr/>
        </p:nvSpPr>
        <p:spPr>
          <a:xfrm>
            <a:off x="1072555" y="2370967"/>
            <a:ext cx="2953200" cy="63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2000"/>
              <a:buFont typeface="DM Sans"/>
              <a:buNone/>
            </a:pPr>
            <a:r>
              <a:rPr b="1" i="0" lang="en-US" sz="2000" u="none" cap="none" strike="noStrike">
                <a:solidFill>
                  <a:srgbClr val="3B2340"/>
                </a:solidFill>
                <a:latin typeface="DM Sans"/>
                <a:ea typeface="DM Sans"/>
                <a:cs typeface="DM Sans"/>
                <a:sym typeface="DM Sans"/>
              </a:rPr>
              <a:t>How long was the cycle</a:t>
            </a:r>
            <a:endParaRPr b="0" i="0" sz="2000" u="none" cap="none" strike="noStrike">
              <a:solidFill>
                <a:schemeClr val="dk1"/>
              </a:solidFill>
              <a:latin typeface="Calibri"/>
              <a:ea typeface="Calibri"/>
              <a:cs typeface="Calibri"/>
              <a:sym typeface="Calibri"/>
            </a:endParaRPr>
          </a:p>
        </p:txBody>
      </p:sp>
      <p:sp>
        <p:nvSpPr>
          <p:cNvPr id="56" name="Google Shape;56;p7"/>
          <p:cNvSpPr/>
          <p:nvPr/>
        </p:nvSpPr>
        <p:spPr>
          <a:xfrm>
            <a:off x="1072555" y="3082095"/>
            <a:ext cx="2953200" cy="558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Counted from the period dates she logs.</a:t>
            </a:r>
            <a:endParaRPr b="0" i="0" sz="1500" u="none" cap="none" strike="noStrike">
              <a:solidFill>
                <a:schemeClr val="dk1"/>
              </a:solidFill>
              <a:latin typeface="Calibri"/>
              <a:ea typeface="Calibri"/>
              <a:cs typeface="Calibri"/>
              <a:sym typeface="Calibri"/>
            </a:endParaRPr>
          </a:p>
        </p:txBody>
      </p:sp>
      <p:sp>
        <p:nvSpPr>
          <p:cNvPr id="57" name="Google Shape;57;p7"/>
          <p:cNvSpPr/>
          <p:nvPr/>
        </p:nvSpPr>
        <p:spPr>
          <a:xfrm>
            <a:off x="4405781" y="1555587"/>
            <a:ext cx="3380400" cy="3031500"/>
          </a:xfrm>
          <a:prstGeom prst="roundRect">
            <a:avLst>
              <a:gd fmla="val 3247"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a:off x="4662379" y="1812185"/>
            <a:ext cx="2953200" cy="4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386B"/>
              </a:buClr>
              <a:buSzPts val="3600"/>
              <a:buFont typeface="DM Sans"/>
              <a:buNone/>
            </a:pPr>
            <a:r>
              <a:rPr b="1" i="0" lang="en-US" sz="3600" u="none" cap="none" strike="noStrike">
                <a:solidFill>
                  <a:srgbClr val="C2386B"/>
                </a:solidFill>
                <a:latin typeface="DM Sans"/>
                <a:ea typeface="DM Sans"/>
                <a:cs typeface="DM Sans"/>
                <a:sym typeface="DM Sans"/>
              </a:rPr>
              <a:t>02</a:t>
            </a:r>
            <a:endParaRPr b="0" i="0" sz="3600" u="none" cap="none" strike="noStrike">
              <a:solidFill>
                <a:schemeClr val="dk1"/>
              </a:solidFill>
              <a:latin typeface="Calibri"/>
              <a:ea typeface="Calibri"/>
              <a:cs typeface="Calibri"/>
              <a:sym typeface="Calibri"/>
            </a:endParaRPr>
          </a:p>
        </p:txBody>
      </p:sp>
      <p:sp>
        <p:nvSpPr>
          <p:cNvPr id="59" name="Google Shape;59;p7"/>
          <p:cNvSpPr/>
          <p:nvPr/>
        </p:nvSpPr>
        <p:spPr>
          <a:xfrm>
            <a:off x="4662379" y="2370967"/>
            <a:ext cx="29532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2000"/>
              <a:buFont typeface="DM Sans"/>
              <a:buNone/>
            </a:pPr>
            <a:r>
              <a:rPr b="1" i="0" lang="en-US" sz="2000" u="none" cap="none" strike="noStrike">
                <a:solidFill>
                  <a:srgbClr val="3B2340"/>
                </a:solidFill>
                <a:latin typeface="DM Sans"/>
                <a:ea typeface="DM Sans"/>
                <a:cs typeface="DM Sans"/>
                <a:sym typeface="DM Sans"/>
              </a:rPr>
              <a:t>Regular or irregular</a:t>
            </a:r>
            <a:endParaRPr b="0" i="0" sz="2000" u="none" cap="none" strike="noStrike">
              <a:solidFill>
                <a:schemeClr val="dk1"/>
              </a:solidFill>
              <a:latin typeface="Calibri"/>
              <a:ea typeface="Calibri"/>
              <a:cs typeface="Calibri"/>
              <a:sym typeface="Calibri"/>
            </a:endParaRPr>
          </a:p>
        </p:txBody>
      </p:sp>
      <p:sp>
        <p:nvSpPr>
          <p:cNvPr id="60" name="Google Shape;60;p7"/>
          <p:cNvSpPr/>
          <p:nvPr/>
        </p:nvSpPr>
        <p:spPr>
          <a:xfrm>
            <a:off x="4662379" y="3060701"/>
            <a:ext cx="2953200" cy="558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Judged from her own cycle history, not a textbook 28 days.</a:t>
            </a:r>
            <a:endParaRPr b="0" i="0" sz="1500" u="none" cap="none" strike="noStrike">
              <a:solidFill>
                <a:schemeClr val="dk1"/>
              </a:solidFill>
              <a:latin typeface="Calibri"/>
              <a:ea typeface="Calibri"/>
              <a:cs typeface="Calibri"/>
              <a:sym typeface="Calibri"/>
            </a:endParaRPr>
          </a:p>
        </p:txBody>
      </p:sp>
      <p:sp>
        <p:nvSpPr>
          <p:cNvPr id="61" name="Google Shape;61;p7"/>
          <p:cNvSpPr/>
          <p:nvPr/>
        </p:nvSpPr>
        <p:spPr>
          <a:xfrm>
            <a:off x="7995696" y="1555587"/>
            <a:ext cx="3380400" cy="3031500"/>
          </a:xfrm>
          <a:prstGeom prst="roundRect">
            <a:avLst>
              <a:gd fmla="val 3247"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7"/>
          <p:cNvSpPr/>
          <p:nvPr/>
        </p:nvSpPr>
        <p:spPr>
          <a:xfrm>
            <a:off x="8252294" y="1812185"/>
            <a:ext cx="2953200" cy="46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386B"/>
              </a:buClr>
              <a:buSzPts val="3465"/>
              <a:buFont typeface="DM Sans"/>
              <a:buNone/>
            </a:pPr>
            <a:r>
              <a:rPr b="1" i="0" lang="en-US" sz="3465" u="none" cap="none" strike="noStrike">
                <a:solidFill>
                  <a:srgbClr val="C2386B"/>
                </a:solidFill>
                <a:latin typeface="DM Sans"/>
                <a:ea typeface="DM Sans"/>
                <a:cs typeface="DM Sans"/>
                <a:sym typeface="DM Sans"/>
              </a:rPr>
              <a:t>03</a:t>
            </a:r>
            <a:endParaRPr b="0" i="0" sz="3465" u="none" cap="none" strike="noStrike">
              <a:solidFill>
                <a:schemeClr val="dk1"/>
              </a:solidFill>
              <a:latin typeface="Calibri"/>
              <a:ea typeface="Calibri"/>
              <a:cs typeface="Calibri"/>
              <a:sym typeface="Calibri"/>
            </a:endParaRPr>
          </a:p>
        </p:txBody>
      </p:sp>
      <p:sp>
        <p:nvSpPr>
          <p:cNvPr id="63" name="Google Shape;63;p7"/>
          <p:cNvSpPr/>
          <p:nvPr/>
        </p:nvSpPr>
        <p:spPr>
          <a:xfrm>
            <a:off x="8252294" y="2354731"/>
            <a:ext cx="2953200" cy="613500"/>
          </a:xfrm>
          <a:prstGeom prst="rect">
            <a:avLst/>
          </a:prstGeom>
          <a:noFill/>
          <a:ln>
            <a:noFill/>
          </a:ln>
        </p:spPr>
        <p:txBody>
          <a:bodyPr anchorCtr="0" anchor="t" bIns="0" lIns="0" spcFirstLastPara="1" rIns="0" wrap="square" tIns="0">
            <a:noAutofit/>
          </a:bodyPr>
          <a:lstStyle/>
          <a:p>
            <a:pPr indent="0" lvl="0" marL="0" marR="0" rtl="0" algn="l">
              <a:lnSpc>
                <a:spcPct val="120010"/>
              </a:lnSpc>
              <a:spcBef>
                <a:spcPts val="0"/>
              </a:spcBef>
              <a:spcAft>
                <a:spcPts val="0"/>
              </a:spcAft>
              <a:buClr>
                <a:srgbClr val="3B2340"/>
              </a:buClr>
              <a:buSzPts val="1944"/>
              <a:buFont typeface="DM Sans"/>
              <a:buNone/>
            </a:pPr>
            <a:r>
              <a:rPr b="1" i="0" lang="en-US" sz="1944" u="none" cap="none" strike="noStrike">
                <a:solidFill>
                  <a:srgbClr val="3B2340"/>
                </a:solidFill>
                <a:latin typeface="DM Sans"/>
                <a:ea typeface="DM Sans"/>
                <a:cs typeface="DM Sans"/>
                <a:sym typeface="DM Sans"/>
              </a:rPr>
              <a:t>Did ovulation happen, and roughly when</a:t>
            </a:r>
            <a:endParaRPr b="0" i="0" sz="1944" u="none" cap="none" strike="noStrike">
              <a:solidFill>
                <a:schemeClr val="dk1"/>
              </a:solidFill>
              <a:latin typeface="Calibri"/>
              <a:ea typeface="Calibri"/>
              <a:cs typeface="Calibri"/>
              <a:sym typeface="Calibri"/>
            </a:endParaRPr>
          </a:p>
        </p:txBody>
      </p:sp>
      <p:sp>
        <p:nvSpPr>
          <p:cNvPr id="64" name="Google Shape;64;p7"/>
          <p:cNvSpPr/>
          <p:nvPr/>
        </p:nvSpPr>
        <p:spPr>
          <a:xfrm>
            <a:off x="8252294" y="3044302"/>
            <a:ext cx="2953200" cy="1311600"/>
          </a:xfrm>
          <a:prstGeom prst="rect">
            <a:avLst/>
          </a:prstGeom>
          <a:noFill/>
          <a:ln>
            <a:noFill/>
          </a:ln>
        </p:spPr>
        <p:txBody>
          <a:bodyPr anchorCtr="0" anchor="t" bIns="0" lIns="0" spcFirstLastPara="1" rIns="0" wrap="square" tIns="0">
            <a:noAutofit/>
          </a:bodyPr>
          <a:lstStyle/>
          <a:p>
            <a:pPr indent="0" lvl="0" marL="0" marR="0" rtl="0" algn="l">
              <a:lnSpc>
                <a:spcPct val="139986"/>
              </a:lnSpc>
              <a:spcBef>
                <a:spcPts val="0"/>
              </a:spcBef>
              <a:spcAft>
                <a:spcPts val="0"/>
              </a:spcAft>
              <a:buClr>
                <a:srgbClr val="6B5470"/>
              </a:buClr>
              <a:buSzPts val="1453"/>
              <a:buFont typeface="DM Sans"/>
              <a:buNone/>
            </a:pPr>
            <a:r>
              <a:rPr b="0" i="0" lang="en-US" sz="1453" u="none" cap="none" strike="noStrike">
                <a:solidFill>
                  <a:srgbClr val="6B5470"/>
                </a:solidFill>
                <a:latin typeface="DM Sans"/>
                <a:ea typeface="DM Sans"/>
                <a:cs typeface="DM Sans"/>
                <a:sym typeface="DM Sans"/>
              </a:rPr>
              <a:t>Seen, not seen or not enough data, with an estimated day when the evidence is strong. Context only, not part of the score.</a:t>
            </a:r>
            <a:endParaRPr b="0" i="0" sz="1453" u="none" cap="none" strike="noStrike">
              <a:solidFill>
                <a:schemeClr val="dk1"/>
              </a:solidFill>
              <a:latin typeface="Calibri"/>
              <a:ea typeface="Calibri"/>
              <a:cs typeface="Calibri"/>
              <a:sym typeface="Calibri"/>
            </a:endParaRPr>
          </a:p>
        </p:txBody>
      </p:sp>
      <p:sp>
        <p:nvSpPr>
          <p:cNvPr id="65" name="Google Shape;65;p7"/>
          <p:cNvSpPr/>
          <p:nvPr/>
        </p:nvSpPr>
        <p:spPr>
          <a:xfrm>
            <a:off x="812782" y="5199693"/>
            <a:ext cx="10883400" cy="667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5CB8"/>
              </a:buClr>
              <a:buSzPts val="1950"/>
              <a:buFont typeface="DM Sans"/>
              <a:buNone/>
            </a:pPr>
            <a:r>
              <a:rPr b="1" i="0" lang="en-US" sz="1950" u="none" cap="none" strike="noStrike">
                <a:solidFill>
                  <a:srgbClr val="7A5CB8"/>
                </a:solidFill>
                <a:latin typeface="DM Sans"/>
                <a:ea typeface="DM Sans"/>
                <a:cs typeface="DM Sans"/>
                <a:sym typeface="DM Sans"/>
              </a:rPr>
              <a:t>A wearable and a short monthly check-in become one risk-awareness score, with reasons. Worth discussing with a doctor, never a diagnosis.</a:t>
            </a:r>
            <a:endParaRPr b="0" i="0" sz="1950" u="none" cap="none" strike="noStrike">
              <a:solidFill>
                <a:schemeClr val="dk1"/>
              </a:solidFill>
              <a:latin typeface="Calibri"/>
              <a:ea typeface="Calibri"/>
              <a:cs typeface="Calibri"/>
              <a:sym typeface="Calibri"/>
            </a:endParaRPr>
          </a:p>
        </p:txBody>
      </p:sp>
      <p:sp>
        <p:nvSpPr>
          <p:cNvPr id="66" name="Google Shape;66;p7"/>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67" name="Google Shape;67;p7"/>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8"/>
          <p:cNvSpPr/>
          <p:nvPr/>
        </p:nvSpPr>
        <p:spPr>
          <a:xfrm>
            <a:off x="1991825" y="606275"/>
            <a:ext cx="8399100" cy="6048300"/>
          </a:xfrm>
          <a:prstGeom prst="rect">
            <a:avLst/>
          </a:prstGeom>
          <a:gradFill>
            <a:gsLst>
              <a:gs pos="0">
                <a:srgbClr val="FFE6EE"/>
              </a:gs>
              <a:gs pos="100000">
                <a:srgbClr val="EFE6FB"/>
              </a:gs>
            </a:gsLst>
            <a:lin ang="2700000" scaled="0"/>
          </a:gradFill>
          <a:ln>
            <a:noFill/>
          </a:ln>
        </p:spPr>
        <p:txBody>
          <a:bodyPr anchorCtr="0" anchor="ctr" bIns="99800" lIns="99800" spcFirstLastPara="1" rIns="99800" wrap="square" tIns="99800">
            <a:noAutofit/>
          </a:bodyPr>
          <a:lstStyle/>
          <a:p>
            <a:pPr indent="0" lvl="0" marL="0" rtl="0" algn="l">
              <a:spcBef>
                <a:spcPts val="0"/>
              </a:spcBef>
              <a:spcAft>
                <a:spcPts val="0"/>
              </a:spcAft>
              <a:buNone/>
            </a:pPr>
            <a:r>
              <a:t/>
            </a:r>
            <a:endParaRPr/>
          </a:p>
        </p:txBody>
      </p:sp>
      <p:sp>
        <p:nvSpPr>
          <p:cNvPr id="74" name="Google Shape;74;p8"/>
          <p:cNvSpPr/>
          <p:nvPr/>
        </p:nvSpPr>
        <p:spPr>
          <a:xfrm>
            <a:off x="5333892" y="1012753"/>
            <a:ext cx="1524216" cy="30988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C2386B"/>
              </a:buClr>
              <a:buSzPts val="1600"/>
              <a:buFont typeface="DM Sans"/>
              <a:buNone/>
            </a:pPr>
            <a:r>
              <a:rPr b="1" i="0" lang="en-US" sz="1600" u="none" cap="none" strike="noStrike">
                <a:solidFill>
                  <a:srgbClr val="C2386B"/>
                </a:solidFill>
                <a:latin typeface="DM Sans"/>
                <a:ea typeface="DM Sans"/>
                <a:cs typeface="DM Sans"/>
                <a:sym typeface="DM Sans"/>
              </a:rPr>
              <a:t>MEET SARAH</a:t>
            </a:r>
            <a:endParaRPr b="0" i="0" sz="1600" u="none" cap="none" strike="noStrike">
              <a:solidFill>
                <a:schemeClr val="dk1"/>
              </a:solidFill>
              <a:latin typeface="Calibri"/>
              <a:ea typeface="Calibri"/>
              <a:cs typeface="Calibri"/>
              <a:sym typeface="Calibri"/>
            </a:endParaRPr>
          </a:p>
        </p:txBody>
      </p:sp>
      <p:sp>
        <p:nvSpPr>
          <p:cNvPr id="75" name="Google Shape;75;p8"/>
          <p:cNvSpPr/>
          <p:nvPr/>
        </p:nvSpPr>
        <p:spPr>
          <a:xfrm>
            <a:off x="2853232" y="1375949"/>
            <a:ext cx="6556800" cy="4917300"/>
          </a:xfrm>
          <a:prstGeom prst="roundRect">
            <a:avLst>
              <a:gd fmla="val 5476" name="adj"/>
            </a:avLst>
          </a:prstGeom>
          <a:solidFill>
            <a:srgbClr val="FFFFFF"/>
          </a:solidFill>
          <a:ln cap="flat" cmpd="sng" w="18600">
            <a:solidFill>
              <a:srgbClr val="C2386B"/>
            </a:solidFill>
            <a:prstDash val="dash"/>
            <a:round/>
            <a:headEnd len="sm" w="sm" type="none"/>
            <a:tailEnd len="sm" w="sm" type="none"/>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7B6680"/>
              </a:buClr>
              <a:buSzPts val="2149"/>
              <a:buFont typeface="DM Sans"/>
              <a:buNone/>
            </a:pPr>
            <a:r>
              <a:rPr b="1" i="0" lang="en-US" sz="2149" u="none" cap="none" strike="noStrike">
                <a:solidFill>
                  <a:srgbClr val="7B6680"/>
                </a:solidFill>
                <a:latin typeface="DM Sans"/>
                <a:ea typeface="DM Sans"/>
                <a:cs typeface="DM Sans"/>
                <a:sym typeface="DM Sans"/>
              </a:rPr>
              <a:t>60-second demo clip plays here</a:t>
            </a:r>
            <a:endParaRPr b="0" i="0" sz="2149" u="none" cap="none" strike="noStrike">
              <a:solidFill>
                <a:schemeClr val="dk1"/>
              </a:solidFill>
              <a:latin typeface="Calibri"/>
              <a:ea typeface="Calibri"/>
              <a:cs typeface="Calibri"/>
              <a:sym typeface="Calibri"/>
            </a:endParaRPr>
          </a:p>
        </p:txBody>
      </p:sp>
      <p:sp>
        <p:nvSpPr>
          <p:cNvPr id="76" name="Google Shape;76;p8"/>
          <p:cNvSpPr/>
          <p:nvPr/>
        </p:nvSpPr>
        <p:spPr>
          <a:xfrm>
            <a:off x="2244033" y="6355313"/>
            <a:ext cx="7848000" cy="2991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6B5470"/>
              </a:buClr>
              <a:buSzPts val="1661"/>
              <a:buFont typeface="DM Sans"/>
              <a:buNone/>
            </a:pPr>
            <a:r>
              <a:rPr b="0" i="0" lang="en-US" sz="1661" u="none" cap="none" strike="noStrike">
                <a:solidFill>
                  <a:srgbClr val="6B5470"/>
                </a:solidFill>
                <a:latin typeface="DM Sans"/>
                <a:ea typeface="DM Sans"/>
                <a:cs typeface="DM Sans"/>
                <a:sym typeface="DM Sans"/>
              </a:rPr>
              <a:t>One watch, a few taps a month, and a score she can take to her GP.</a:t>
            </a:r>
            <a:endParaRPr b="0" i="0" sz="1661" u="none" cap="none" strike="noStrike">
              <a:solidFill>
                <a:schemeClr val="dk1"/>
              </a:solidFill>
              <a:latin typeface="Calibri"/>
              <a:ea typeface="Calibri"/>
              <a:cs typeface="Calibri"/>
              <a:sym typeface="Calibri"/>
            </a:endParaRPr>
          </a:p>
        </p:txBody>
      </p:sp>
      <p:pic>
        <p:nvPicPr>
          <p:cNvPr id="77" name="Google Shape;77;p8" title="CycleSignal-final.mp4">
            <a:hlinkClick r:id="rId3"/>
          </p:cNvPr>
          <p:cNvPicPr preferRelativeResize="0"/>
          <p:nvPr/>
        </p:nvPicPr>
        <p:blipFill>
          <a:blip r:embed="rId4">
            <a:alphaModFix/>
          </a:blip>
          <a:stretch>
            <a:fillRect/>
          </a:stretch>
        </p:blipFill>
        <p:spPr>
          <a:xfrm>
            <a:off x="2853256" y="1375901"/>
            <a:ext cx="6556741" cy="4917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9"/>
          <p:cNvSpPr/>
          <p:nvPr/>
        </p:nvSpPr>
        <p:spPr>
          <a:xfrm>
            <a:off x="812782" y="812781"/>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Two datasets, two parts of CycleSignal </a:t>
            </a:r>
            <a:endParaRPr b="0" i="0" sz="3200" u="none" cap="none" strike="noStrike">
              <a:solidFill>
                <a:schemeClr val="dk1"/>
              </a:solidFill>
              <a:latin typeface="Calibri"/>
              <a:ea typeface="Calibri"/>
              <a:cs typeface="Calibri"/>
              <a:sym typeface="Calibri"/>
            </a:endParaRPr>
          </a:p>
        </p:txBody>
      </p:sp>
      <p:sp>
        <p:nvSpPr>
          <p:cNvPr id="84" name="Google Shape;84;p9"/>
          <p:cNvSpPr/>
          <p:nvPr/>
        </p:nvSpPr>
        <p:spPr>
          <a:xfrm>
            <a:off x="812782" y="1513807"/>
            <a:ext cx="10883400" cy="594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600"/>
              <a:buFont typeface="DM Sans"/>
              <a:buNone/>
            </a:pPr>
            <a:r>
              <a:rPr b="0" i="0" lang="en-US" sz="1600" u="none" cap="none" strike="noStrike">
                <a:solidFill>
                  <a:srgbClr val="6B5470"/>
                </a:solidFill>
                <a:latin typeface="DM Sans"/>
                <a:ea typeface="DM Sans"/>
                <a:cs typeface="DM Sans"/>
                <a:sym typeface="DM Sans"/>
              </a:rPr>
              <a:t>mcPHASES: 42 young adults in Canada, 20 of whom completed a second 3-month interval, with daily hormone tests as ground truth.</a:t>
            </a:r>
            <a:endParaRPr b="0" i="0" sz="1600" u="none" cap="none" strike="noStrike">
              <a:solidFill>
                <a:srgbClr val="6B5470"/>
              </a:solidFill>
              <a:latin typeface="DM Sans"/>
              <a:ea typeface="DM Sans"/>
              <a:cs typeface="DM Sans"/>
              <a:sym typeface="DM Sans"/>
            </a:endParaRPr>
          </a:p>
          <a:p>
            <a:pPr indent="0" lvl="0" marL="0" marR="0" rtl="0" algn="l">
              <a:lnSpc>
                <a:spcPct val="140000"/>
              </a:lnSpc>
              <a:spcBef>
                <a:spcPts val="0"/>
              </a:spcBef>
              <a:spcAft>
                <a:spcPts val="0"/>
              </a:spcAft>
              <a:buClr>
                <a:srgbClr val="6B5470"/>
              </a:buClr>
              <a:buSzPts val="1600"/>
              <a:buFont typeface="DM Sans"/>
              <a:buNone/>
            </a:pPr>
            <a:r>
              <a:t/>
            </a:r>
            <a:endParaRPr sz="1600">
              <a:solidFill>
                <a:srgbClr val="6B5470"/>
              </a:solidFill>
              <a:latin typeface="DM Sans"/>
              <a:ea typeface="DM Sans"/>
              <a:cs typeface="DM Sans"/>
              <a:sym typeface="DM Sans"/>
            </a:endParaRPr>
          </a:p>
        </p:txBody>
      </p:sp>
      <p:graphicFrame>
        <p:nvGraphicFramePr>
          <p:cNvPr id="85" name="Google Shape;85;p9"/>
          <p:cNvGraphicFramePr/>
          <p:nvPr/>
        </p:nvGraphicFramePr>
        <p:xfrm>
          <a:off x="824327" y="2348327"/>
          <a:ext cx="3000000" cy="3000000"/>
        </p:xfrm>
        <a:graphic>
          <a:graphicData uri="http://schemas.openxmlformats.org/drawingml/2006/table">
            <a:tbl>
              <a:tblPr>
                <a:noFill/>
                <a:tableStyleId>{CDA2F613-993C-4B29-8FF0-6B7151607D89}</a:tableStyleId>
              </a:tblPr>
              <a:tblGrid>
                <a:gridCol w="2744275"/>
                <a:gridCol w="4644150"/>
                <a:gridCol w="3166475"/>
              </a:tblGrid>
              <a:tr h="384700">
                <a:tc>
                  <a:txBody>
                    <a:bodyPr/>
                    <a:lstStyle/>
                    <a:p>
                      <a:pPr indent="0" lvl="0" marL="0" marR="0" rtl="0" algn="l">
                        <a:lnSpc>
                          <a:spcPct val="140000"/>
                        </a:lnSpc>
                        <a:spcBef>
                          <a:spcPts val="0"/>
                        </a:spcBef>
                        <a:spcAft>
                          <a:spcPts val="0"/>
                        </a:spcAft>
                        <a:buClr>
                          <a:srgbClr val="3B2340"/>
                        </a:buClr>
                        <a:buSzPts val="1400"/>
                        <a:buFont typeface="DM Sans"/>
                        <a:buNone/>
                      </a:pPr>
                      <a:r>
                        <a:rPr b="1" lang="en-US" sz="1400" u="none" cap="none" strike="noStrike">
                          <a:solidFill>
                            <a:srgbClr val="3B2340"/>
                          </a:solidFill>
                          <a:latin typeface="DM Sans"/>
                          <a:ea typeface="DM Sans"/>
                          <a:cs typeface="DM Sans"/>
                          <a:sym typeface="DM Sans"/>
                        </a:rPr>
                        <a:t>Source</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400"/>
                        <a:buFont typeface="DM Sans"/>
                        <a:buNone/>
                      </a:pPr>
                      <a:r>
                        <a:rPr b="1" lang="en-US" sz="1400" u="none" cap="none" strike="noStrike">
                          <a:solidFill>
                            <a:srgbClr val="3B2340"/>
                          </a:solidFill>
                          <a:latin typeface="DM Sans"/>
                          <a:ea typeface="DM Sans"/>
                          <a:cs typeface="DM Sans"/>
                          <a:sym typeface="DM Sans"/>
                        </a:rPr>
                        <a:t>What it gives us</a:t>
                      </a:r>
                      <a:endParaRPr sz="1400" u="none" cap="none" strike="noStrike">
                        <a:latin typeface="DM Sans"/>
                        <a:ea typeface="DM Sans"/>
                        <a:cs typeface="DM Sans"/>
                        <a:sym typeface="DM Sans"/>
                      </a:endParaRPr>
                    </a:p>
                  </a:txBody>
                  <a:tcPr marT="62225" marB="62225" marR="62225" marL="6222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400"/>
                        <a:buFont typeface="DM Sans"/>
                        <a:buNone/>
                      </a:pPr>
                      <a:r>
                        <a:rPr b="1" lang="en-US" sz="1400" u="none" cap="none" strike="noStrike">
                          <a:solidFill>
                            <a:srgbClr val="3B2340"/>
                          </a:solidFill>
                          <a:latin typeface="DM Sans"/>
                          <a:ea typeface="DM Sans"/>
                          <a:cs typeface="DM Sans"/>
                          <a:sym typeface="DM Sans"/>
                        </a:rPr>
                        <a:t>Used for</a:t>
                      </a:r>
                      <a:endParaRPr sz="1400" u="none" cap="none" strike="noStrike">
                        <a:latin typeface="DM Sans"/>
                        <a:ea typeface="DM Sans"/>
                        <a:cs typeface="DM Sans"/>
                        <a:sym typeface="DM Sans"/>
                      </a:endParaRPr>
                    </a:p>
                  </a:txBody>
                  <a:tcPr marT="62225" marB="62225" marR="62225" marL="6222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r>
              <a:tr h="384700">
                <a:tc>
                  <a:txBody>
                    <a:bodyPr/>
                    <a:lstStyle/>
                    <a:p>
                      <a:pPr indent="0" lvl="0" marL="0" marR="0" rtl="0" algn="l">
                        <a:lnSpc>
                          <a:spcPct val="140000"/>
                        </a:lnSpc>
                        <a:spcBef>
                          <a:spcPts val="0"/>
                        </a:spcBef>
                        <a:spcAft>
                          <a:spcPts val="0"/>
                        </a:spcAft>
                        <a:buClr>
                          <a:srgbClr val="3B2340"/>
                        </a:buClr>
                        <a:buSzPts val="1400"/>
                        <a:buFont typeface="DM Sans"/>
                        <a:buNone/>
                      </a:pPr>
                      <a:r>
                        <a:rPr lang="en-US" sz="1400" u="none" cap="none" strike="noStrike">
                          <a:solidFill>
                            <a:srgbClr val="3B2340"/>
                          </a:solidFill>
                          <a:latin typeface="DM Sans"/>
                          <a:ea typeface="DM Sans"/>
                          <a:cs typeface="DM Sans"/>
                          <a:sym typeface="DM Sans"/>
                        </a:rPr>
                        <a:t>Fitbit Sense</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400"/>
                        <a:buFont typeface="DM Sans"/>
                        <a:buNone/>
                      </a:pPr>
                      <a:r>
                        <a:rPr lang="en-US" sz="1400" u="none" cap="none" strike="noStrike">
                          <a:solidFill>
                            <a:srgbClr val="3B2340"/>
                          </a:solidFill>
                          <a:latin typeface="DM Sans"/>
                          <a:ea typeface="DM Sans"/>
                          <a:cs typeface="DM Sans"/>
                          <a:sym typeface="DM Sans"/>
                        </a:rPr>
                        <a:t>Temperature, heart rate, HRV, breathing, sleep</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400"/>
                        <a:buFont typeface="DM Sans"/>
                        <a:buNone/>
                      </a:pPr>
                      <a:r>
                        <a:rPr lang="en-US" sz="1400" u="none" cap="none" strike="noStrike">
                          <a:solidFill>
                            <a:srgbClr val="3B2340"/>
                          </a:solidFill>
                          <a:latin typeface="DM Sans"/>
                          <a:ea typeface="DM Sans"/>
                          <a:cs typeface="DM Sans"/>
                          <a:sym typeface="DM Sans"/>
                        </a:rPr>
                        <a:t>Model 1 inputs</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r>
              <a:tr h="633550">
                <a:tc>
                  <a:txBody>
                    <a:bodyPr/>
                    <a:lstStyle/>
                    <a:p>
                      <a:pPr indent="0" lvl="0" marL="0" marR="0" rtl="0" algn="l">
                        <a:lnSpc>
                          <a:spcPct val="140000"/>
                        </a:lnSpc>
                        <a:spcBef>
                          <a:spcPts val="0"/>
                        </a:spcBef>
                        <a:spcAft>
                          <a:spcPts val="0"/>
                        </a:spcAft>
                        <a:buClr>
                          <a:srgbClr val="3B2340"/>
                        </a:buClr>
                        <a:buSzPts val="1400"/>
                        <a:buFont typeface="DM Sans"/>
                        <a:buNone/>
                      </a:pPr>
                      <a:r>
                        <a:rPr lang="en-US" sz="1400" u="none" cap="none" strike="noStrike">
                          <a:solidFill>
                            <a:srgbClr val="3B2340"/>
                          </a:solidFill>
                          <a:latin typeface="DM Sans"/>
                          <a:ea typeface="DM Sans"/>
                          <a:cs typeface="DM Sans"/>
                          <a:sym typeface="DM Sans"/>
                        </a:rPr>
                        <a:t>Mira Plus kit</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400"/>
                        <a:buFont typeface="DM Sans"/>
                        <a:buNone/>
                      </a:pPr>
                      <a:r>
                        <a:rPr lang="en-US" sz="1400" u="none" cap="none" strike="noStrike">
                          <a:solidFill>
                            <a:srgbClr val="3B2340"/>
                          </a:solidFill>
                          <a:latin typeface="DM Sans"/>
                          <a:ea typeface="DM Sans"/>
                          <a:cs typeface="DM Sans"/>
                          <a:sym typeface="DM Sans"/>
                        </a:rPr>
                        <a:t>Daily LH, estrogen and progesterone metabolites</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400"/>
                        <a:buFont typeface="DM Sans"/>
                        <a:buNone/>
                      </a:pPr>
                      <a:r>
                        <a:rPr lang="en-US" sz="1400" u="none" cap="none" strike="noStrike">
                          <a:solidFill>
                            <a:srgbClr val="3B2340"/>
                          </a:solidFill>
                          <a:latin typeface="DM Sans"/>
                          <a:ea typeface="DM Sans"/>
                          <a:cs typeface="DM Sans"/>
                          <a:sym typeface="DM Sans"/>
                        </a:rPr>
                        <a:t>Ovulation labels, training and testing only</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bl>
          </a:graphicData>
        </a:graphic>
      </p:graphicFrame>
      <p:sp>
        <p:nvSpPr>
          <p:cNvPr id="86" name="Google Shape;86;p9"/>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87" name="Google Shape;87;p9"/>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graphicFrame>
        <p:nvGraphicFramePr>
          <p:cNvPr id="88" name="Google Shape;88;p9"/>
          <p:cNvGraphicFramePr/>
          <p:nvPr/>
        </p:nvGraphicFramePr>
        <p:xfrm>
          <a:off x="818552" y="4817277"/>
          <a:ext cx="3000000" cy="3000000"/>
        </p:xfrm>
        <a:graphic>
          <a:graphicData uri="http://schemas.openxmlformats.org/drawingml/2006/table">
            <a:tbl>
              <a:tblPr>
                <a:noFill/>
                <a:tableStyleId>{CDA2F613-993C-4B29-8FF0-6B7151607D89}</a:tableStyleId>
              </a:tblPr>
              <a:tblGrid>
                <a:gridCol w="2744275"/>
                <a:gridCol w="4644150"/>
                <a:gridCol w="3166475"/>
              </a:tblGrid>
              <a:tr h="384700">
                <a:tc>
                  <a:txBody>
                    <a:bodyPr/>
                    <a:lstStyle/>
                    <a:p>
                      <a:pPr indent="0" lvl="0" marL="0" marR="0" rtl="0" algn="l">
                        <a:lnSpc>
                          <a:spcPct val="140000"/>
                        </a:lnSpc>
                        <a:spcBef>
                          <a:spcPts val="0"/>
                        </a:spcBef>
                        <a:spcAft>
                          <a:spcPts val="0"/>
                        </a:spcAft>
                        <a:buClr>
                          <a:srgbClr val="3B2340"/>
                        </a:buClr>
                        <a:buSzPts val="1400"/>
                        <a:buFont typeface="DM Sans"/>
                        <a:buNone/>
                      </a:pPr>
                      <a:r>
                        <a:rPr b="1" lang="en-US" sz="1400" u="none" cap="none" strike="noStrike">
                          <a:solidFill>
                            <a:srgbClr val="3B2340"/>
                          </a:solidFill>
                          <a:latin typeface="DM Sans"/>
                          <a:ea typeface="DM Sans"/>
                          <a:cs typeface="DM Sans"/>
                          <a:sym typeface="DM Sans"/>
                        </a:rPr>
                        <a:t>Source</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400"/>
                        <a:buFont typeface="DM Sans"/>
                        <a:buNone/>
                      </a:pPr>
                      <a:r>
                        <a:rPr b="1" lang="en-US" sz="1400" u="none" cap="none" strike="noStrike">
                          <a:solidFill>
                            <a:srgbClr val="3B2340"/>
                          </a:solidFill>
                          <a:latin typeface="DM Sans"/>
                          <a:ea typeface="DM Sans"/>
                          <a:cs typeface="DM Sans"/>
                          <a:sym typeface="DM Sans"/>
                        </a:rPr>
                        <a:t>What it gives us</a:t>
                      </a:r>
                      <a:endParaRPr sz="1400" u="none" cap="none" strike="noStrike">
                        <a:latin typeface="DM Sans"/>
                        <a:ea typeface="DM Sans"/>
                        <a:cs typeface="DM Sans"/>
                        <a:sym typeface="DM Sans"/>
                      </a:endParaRPr>
                    </a:p>
                  </a:txBody>
                  <a:tcPr marT="62225" marB="62225" marR="62225" marL="6222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400"/>
                        <a:buFont typeface="DM Sans"/>
                        <a:buNone/>
                      </a:pPr>
                      <a:r>
                        <a:rPr b="1" lang="en-US" sz="1400" u="none" cap="none" strike="noStrike">
                          <a:solidFill>
                            <a:srgbClr val="3B2340"/>
                          </a:solidFill>
                          <a:latin typeface="DM Sans"/>
                          <a:ea typeface="DM Sans"/>
                          <a:cs typeface="DM Sans"/>
                          <a:sym typeface="DM Sans"/>
                        </a:rPr>
                        <a:t>Used for</a:t>
                      </a:r>
                      <a:endParaRPr sz="1400" u="none" cap="none" strike="noStrike">
                        <a:latin typeface="DM Sans"/>
                        <a:ea typeface="DM Sans"/>
                        <a:cs typeface="DM Sans"/>
                        <a:sym typeface="DM Sans"/>
                      </a:endParaRPr>
                    </a:p>
                  </a:txBody>
                  <a:tcPr marT="62225" marB="62225" marR="62225" marL="6222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r>
              <a:tr h="633550">
                <a:tc>
                  <a:txBody>
                    <a:bodyPr/>
                    <a:lstStyle/>
                    <a:p>
                      <a:pPr indent="0" lvl="0" marL="0" marR="0" rtl="0" algn="l">
                        <a:lnSpc>
                          <a:spcPct val="140000"/>
                        </a:lnSpc>
                        <a:spcBef>
                          <a:spcPts val="0"/>
                        </a:spcBef>
                        <a:spcAft>
                          <a:spcPts val="0"/>
                        </a:spcAft>
                        <a:buClr>
                          <a:srgbClr val="3B2340"/>
                        </a:buClr>
                        <a:buSzPts val="1400"/>
                        <a:buFont typeface="DM Sans"/>
                        <a:buNone/>
                      </a:pPr>
                      <a:r>
                        <a:rPr lang="en-US" sz="1400" u="none" cap="none" strike="noStrike">
                          <a:solidFill>
                            <a:srgbClr val="3B2340"/>
                          </a:solidFill>
                          <a:latin typeface="DM Sans"/>
                          <a:ea typeface="DM Sans"/>
                          <a:cs typeface="DM Sans"/>
                          <a:sym typeface="DM Sans"/>
                        </a:rPr>
                        <a:t>Kaggle clinical data</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400"/>
                        <a:buFont typeface="DM Sans"/>
                        <a:buNone/>
                      </a:pPr>
                      <a:r>
                        <a:rPr lang="en-US">
                          <a:solidFill>
                            <a:srgbClr val="3B2340"/>
                          </a:solidFill>
                          <a:latin typeface="DM Sans"/>
                          <a:ea typeface="DM Sans"/>
                          <a:cs typeface="DM Sans"/>
                          <a:sym typeface="DM Sans"/>
                        </a:rPr>
                        <a:t>AGE, BMI, Cycle regularity and length, Weight gain, excess hair </a:t>
                      </a:r>
                      <a:r>
                        <a:rPr lang="en-US">
                          <a:solidFill>
                            <a:srgbClr val="3B2340"/>
                          </a:solidFill>
                          <a:latin typeface="DM Sans"/>
                          <a:ea typeface="DM Sans"/>
                          <a:cs typeface="DM Sans"/>
                          <a:sym typeface="DM Sans"/>
                        </a:rPr>
                        <a:t>growth, skin darkening and more.</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400"/>
                        <a:buFont typeface="DM Sans"/>
                        <a:buNone/>
                      </a:pPr>
                      <a:r>
                        <a:rPr lang="en-US" sz="1400" u="none" cap="none" strike="noStrike">
                          <a:solidFill>
                            <a:srgbClr val="3B2340"/>
                          </a:solidFill>
                          <a:latin typeface="DM Sans"/>
                          <a:ea typeface="DM Sans"/>
                          <a:cs typeface="DM Sans"/>
                          <a:sym typeface="DM Sans"/>
                        </a:rPr>
                        <a:t>Model </a:t>
                      </a:r>
                      <a:r>
                        <a:rPr lang="en-US">
                          <a:solidFill>
                            <a:srgbClr val="3B2340"/>
                          </a:solidFill>
                          <a:latin typeface="DM Sans"/>
                          <a:ea typeface="DM Sans"/>
                          <a:cs typeface="DM Sans"/>
                          <a:sym typeface="DM Sans"/>
                        </a:rPr>
                        <a:t>2 </a:t>
                      </a:r>
                      <a:r>
                        <a:rPr lang="en-US" sz="1400" u="none" cap="none" strike="noStrike">
                          <a:solidFill>
                            <a:srgbClr val="3B2340"/>
                          </a:solidFill>
                          <a:latin typeface="DM Sans"/>
                          <a:ea typeface="DM Sans"/>
                          <a:cs typeface="DM Sans"/>
                          <a:sym typeface="DM Sans"/>
                        </a:rPr>
                        <a:t>inputs</a:t>
                      </a:r>
                      <a:endParaRPr sz="1400" u="none" cap="none" strike="noStrike">
                        <a:latin typeface="DM Sans"/>
                        <a:ea typeface="DM Sans"/>
                        <a:cs typeface="DM Sans"/>
                        <a:sym typeface="DM Sans"/>
                      </a:endParaRPr>
                    </a:p>
                  </a:txBody>
                  <a:tcPr marT="62225" marB="62225" marR="62225" marL="6222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r>
            </a:tbl>
          </a:graphicData>
        </a:graphic>
      </p:graphicFrame>
      <p:sp>
        <p:nvSpPr>
          <p:cNvPr id="89" name="Google Shape;89;p9"/>
          <p:cNvSpPr txBox="1"/>
          <p:nvPr/>
        </p:nvSpPr>
        <p:spPr>
          <a:xfrm>
            <a:off x="762717" y="3918800"/>
            <a:ext cx="10405800" cy="7758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1600">
                <a:solidFill>
                  <a:srgbClr val="6B5470"/>
                </a:solidFill>
                <a:latin typeface="DM Sans"/>
                <a:ea typeface="DM Sans"/>
                <a:cs typeface="DM Sans"/>
                <a:sym typeface="DM Sans"/>
              </a:rPr>
              <a:t>Kaggle PCOS clinical dataset: 541 clinical records from 10 hospitals in Kerala, India, including 177 PCOS and 364 non-PCOS cases.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0"/>
          <p:cNvSpPr/>
          <p:nvPr/>
        </p:nvSpPr>
        <p:spPr>
          <a:xfrm>
            <a:off x="812782" y="812781"/>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Model 1: cycle length, regularity and ovulation</a:t>
            </a:r>
            <a:endParaRPr b="0" i="0" sz="3200" u="none" cap="none" strike="noStrike">
              <a:solidFill>
                <a:schemeClr val="dk1"/>
              </a:solidFill>
              <a:latin typeface="Calibri"/>
              <a:ea typeface="Calibri"/>
              <a:cs typeface="Calibri"/>
              <a:sym typeface="Calibri"/>
            </a:endParaRPr>
          </a:p>
        </p:txBody>
      </p:sp>
      <p:sp>
        <p:nvSpPr>
          <p:cNvPr id="96" name="Google Shape;96;p10"/>
          <p:cNvSpPr/>
          <p:nvPr/>
        </p:nvSpPr>
        <p:spPr>
          <a:xfrm>
            <a:off x="819132" y="1520155"/>
            <a:ext cx="5174700" cy="2871900"/>
          </a:xfrm>
          <a:prstGeom prst="roundRect">
            <a:avLst>
              <a:gd fmla="val 3317" name="adj"/>
            </a:avLst>
          </a:prstGeom>
          <a:solidFill>
            <a:srgbClr val="FFFFFF"/>
          </a:solidFill>
          <a:ln cap="flat" cmpd="sng" w="12700">
            <a:solidFill>
              <a:srgbClr val="C23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0"/>
          <p:cNvSpPr/>
          <p:nvPr/>
        </p:nvSpPr>
        <p:spPr>
          <a:xfrm>
            <a:off x="1078327" y="1779352"/>
            <a:ext cx="47961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2000"/>
              <a:buFont typeface="DM Sans"/>
              <a:buNone/>
            </a:pPr>
            <a:r>
              <a:rPr b="1" i="0" lang="en-US" sz="2000" u="none" cap="none" strike="noStrike">
                <a:solidFill>
                  <a:srgbClr val="C2386B"/>
                </a:solidFill>
                <a:latin typeface="DM Sans"/>
                <a:ea typeface="DM Sans"/>
                <a:cs typeface="DM Sans"/>
                <a:sym typeface="DM Sans"/>
              </a:rPr>
              <a:t>What worked</a:t>
            </a:r>
            <a:endParaRPr b="0" i="0" sz="2000" u="none" cap="none" strike="noStrike">
              <a:solidFill>
                <a:schemeClr val="dk1"/>
              </a:solidFill>
              <a:latin typeface="Calibri"/>
              <a:ea typeface="Calibri"/>
              <a:cs typeface="Calibri"/>
              <a:sym typeface="Calibri"/>
            </a:endParaRPr>
          </a:p>
        </p:txBody>
      </p:sp>
      <p:sp>
        <p:nvSpPr>
          <p:cNvPr id="98" name="Google Shape;98;p10"/>
          <p:cNvSpPr/>
          <p:nvPr/>
        </p:nvSpPr>
        <p:spPr>
          <a:xfrm>
            <a:off x="1149447" y="2211133"/>
            <a:ext cx="4717200" cy="1682400"/>
          </a:xfrm>
          <a:prstGeom prst="rect">
            <a:avLst/>
          </a:prstGeom>
          <a:noFill/>
          <a:ln>
            <a:noFill/>
          </a:ln>
        </p:spPr>
        <p:txBody>
          <a:bodyPr anchorCtr="0" anchor="t" bIns="0" lIns="0" spcFirstLastPara="1" rIns="0" wrap="square" tIns="0">
            <a:noAutofit/>
          </a:bodyPr>
          <a:lstStyle/>
          <a:p>
            <a:pPr indent="-182880" lvl="0" marL="182880" marR="0" rtl="0" algn="l">
              <a:lnSpc>
                <a:spcPct val="145000"/>
              </a:lnSpc>
              <a:spcBef>
                <a:spcPts val="0"/>
              </a:spcBef>
              <a:spcAft>
                <a:spcPts val="0"/>
              </a:spcAft>
              <a:buClr>
                <a:srgbClr val="3B2340"/>
              </a:buClr>
              <a:buSzPts val="1500"/>
              <a:buFont typeface="DM Sans"/>
              <a:buChar char="•"/>
            </a:pPr>
            <a:r>
              <a:rPr b="0" i="0" lang="en-US" sz="1500" u="none" cap="none" strike="noStrike">
                <a:solidFill>
                  <a:srgbClr val="3B2340"/>
                </a:solidFill>
                <a:latin typeface="DM Sans"/>
                <a:ea typeface="DM Sans"/>
                <a:cs typeface="DM Sans"/>
                <a:sym typeface="DM Sans"/>
              </a:rPr>
              <a:t>Cycle length and regularity, from logged period dates.</a:t>
            </a:r>
            <a:endParaRPr b="0" i="0" sz="1500" u="none" cap="none" strike="noStrike">
              <a:solidFill>
                <a:schemeClr val="dk1"/>
              </a:solidFill>
              <a:latin typeface="Calibri"/>
              <a:ea typeface="Calibri"/>
              <a:cs typeface="Calibri"/>
              <a:sym typeface="Calibri"/>
            </a:endParaRPr>
          </a:p>
          <a:p>
            <a:pPr indent="-182880" lvl="0" marL="182880" marR="0" rtl="0" algn="l">
              <a:lnSpc>
                <a:spcPct val="145000"/>
              </a:lnSpc>
              <a:spcBef>
                <a:spcPts val="0"/>
              </a:spcBef>
              <a:spcAft>
                <a:spcPts val="0"/>
              </a:spcAft>
              <a:buClr>
                <a:srgbClr val="3B2340"/>
              </a:buClr>
              <a:buSzPts val="1500"/>
              <a:buFont typeface="DM Sans"/>
              <a:buChar char="•"/>
            </a:pPr>
            <a:r>
              <a:rPr b="0" i="0" lang="en-US" sz="1500" u="none" cap="none" strike="noStrike">
                <a:solidFill>
                  <a:srgbClr val="3B2340"/>
                </a:solidFill>
                <a:latin typeface="DM Sans"/>
                <a:ea typeface="DM Sans"/>
                <a:cs typeface="DM Sans"/>
                <a:sym typeface="DM Sans"/>
              </a:rPr>
              <a:t>Regular or irregular matched the diary for 24 of 25 people.</a:t>
            </a:r>
            <a:endParaRPr b="0" i="0" sz="1500" u="none" cap="none" strike="noStrike">
              <a:solidFill>
                <a:schemeClr val="dk1"/>
              </a:solidFill>
              <a:latin typeface="Calibri"/>
              <a:ea typeface="Calibri"/>
              <a:cs typeface="Calibri"/>
              <a:sym typeface="Calibri"/>
            </a:endParaRPr>
          </a:p>
          <a:p>
            <a:pPr indent="-182880" lvl="0" marL="182880" marR="0" rtl="0" algn="l">
              <a:lnSpc>
                <a:spcPct val="145000"/>
              </a:lnSpc>
              <a:spcBef>
                <a:spcPts val="0"/>
              </a:spcBef>
              <a:spcAft>
                <a:spcPts val="0"/>
              </a:spcAft>
              <a:buClr>
                <a:srgbClr val="3B2340"/>
              </a:buClr>
              <a:buSzPts val="1500"/>
              <a:buFont typeface="DM Sans"/>
              <a:buChar char="•"/>
            </a:pPr>
            <a:r>
              <a:rPr b="0" i="0" lang="en-US" sz="1500" u="none" cap="none" strike="noStrike">
                <a:solidFill>
                  <a:srgbClr val="3B2340"/>
                </a:solidFill>
                <a:latin typeface="DM Sans"/>
                <a:ea typeface="DM Sans"/>
                <a:cs typeface="DM Sans"/>
                <a:sym typeface="DM Sans"/>
              </a:rPr>
              <a:t>Median cycle of 30 days across 69 cycles.</a:t>
            </a:r>
            <a:endParaRPr b="0" i="0" sz="1500" u="none" cap="none" strike="noStrike">
              <a:solidFill>
                <a:schemeClr val="dk1"/>
              </a:solidFill>
              <a:latin typeface="Calibri"/>
              <a:ea typeface="Calibri"/>
              <a:cs typeface="Calibri"/>
              <a:sym typeface="Calibri"/>
            </a:endParaRPr>
          </a:p>
          <a:p>
            <a:pPr indent="-182880" lvl="0" marL="182880" marR="0" rtl="0" algn="l">
              <a:lnSpc>
                <a:spcPct val="145000"/>
              </a:lnSpc>
              <a:spcBef>
                <a:spcPts val="0"/>
              </a:spcBef>
              <a:spcAft>
                <a:spcPts val="0"/>
              </a:spcAft>
              <a:buClr>
                <a:srgbClr val="3B2340"/>
              </a:buClr>
              <a:buSzPts val="1500"/>
              <a:buFont typeface="DM Sans"/>
              <a:buChar char="•"/>
            </a:pPr>
            <a:r>
              <a:rPr b="0" i="0" lang="en-US" sz="1500" u="none" cap="none" strike="noStrike">
                <a:solidFill>
                  <a:srgbClr val="3B2340"/>
                </a:solidFill>
                <a:latin typeface="DM Sans"/>
                <a:ea typeface="DM Sans"/>
                <a:cs typeface="DM Sans"/>
                <a:sym typeface="DM Sans"/>
              </a:rPr>
              <a:t>A gap of 90+ days always says "see a doctor".</a:t>
            </a:r>
            <a:endParaRPr b="0" i="0" sz="1500" u="none" cap="none" strike="noStrike">
              <a:solidFill>
                <a:schemeClr val="dk1"/>
              </a:solidFill>
              <a:latin typeface="Calibri"/>
              <a:ea typeface="Calibri"/>
              <a:cs typeface="Calibri"/>
              <a:sym typeface="Calibri"/>
            </a:endParaRPr>
          </a:p>
        </p:txBody>
      </p:sp>
      <p:sp>
        <p:nvSpPr>
          <p:cNvPr id="99" name="Google Shape;99;p10"/>
          <p:cNvSpPr/>
          <p:nvPr/>
        </p:nvSpPr>
        <p:spPr>
          <a:xfrm>
            <a:off x="6206511" y="1516980"/>
            <a:ext cx="5169600" cy="2878200"/>
          </a:xfrm>
          <a:prstGeom prst="roundRect">
            <a:avLst>
              <a:gd fmla="val 3420"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0"/>
          <p:cNvSpPr/>
          <p:nvPr/>
        </p:nvSpPr>
        <p:spPr>
          <a:xfrm>
            <a:off x="6463109" y="1773579"/>
            <a:ext cx="47961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2000"/>
              <a:buFont typeface="DM Sans"/>
              <a:buNone/>
            </a:pPr>
            <a:r>
              <a:rPr b="1" i="0" lang="en-US" sz="2000" u="none" cap="none" strike="noStrike">
                <a:solidFill>
                  <a:srgbClr val="7A5CB8"/>
                </a:solidFill>
                <a:latin typeface="DM Sans"/>
                <a:ea typeface="DM Sans"/>
                <a:cs typeface="DM Sans"/>
                <a:sym typeface="DM Sans"/>
              </a:rPr>
              <a:t>What did not work</a:t>
            </a:r>
            <a:endParaRPr b="0" i="0" sz="2000" u="none" cap="none" strike="noStrike">
              <a:solidFill>
                <a:schemeClr val="dk1"/>
              </a:solidFill>
              <a:latin typeface="Calibri"/>
              <a:ea typeface="Calibri"/>
              <a:cs typeface="Calibri"/>
              <a:sym typeface="Calibri"/>
            </a:endParaRPr>
          </a:p>
        </p:txBody>
      </p:sp>
      <p:sp>
        <p:nvSpPr>
          <p:cNvPr id="101" name="Google Shape;101;p10"/>
          <p:cNvSpPr/>
          <p:nvPr/>
        </p:nvSpPr>
        <p:spPr>
          <a:xfrm>
            <a:off x="6534229" y="2205360"/>
            <a:ext cx="4717200" cy="1958700"/>
          </a:xfrm>
          <a:prstGeom prst="rect">
            <a:avLst/>
          </a:prstGeom>
          <a:noFill/>
          <a:ln>
            <a:noFill/>
          </a:ln>
        </p:spPr>
        <p:txBody>
          <a:bodyPr anchorCtr="0" anchor="t" bIns="0" lIns="0" spcFirstLastPara="1" rIns="0" wrap="square" tIns="0">
            <a:noAutofit/>
          </a:bodyPr>
          <a:lstStyle/>
          <a:p>
            <a:pPr indent="-182880" lvl="0" marL="182880" marR="0" rtl="0" algn="l">
              <a:lnSpc>
                <a:spcPct val="145000"/>
              </a:lnSpc>
              <a:spcBef>
                <a:spcPts val="0"/>
              </a:spcBef>
              <a:spcAft>
                <a:spcPts val="0"/>
              </a:spcAft>
              <a:buClr>
                <a:srgbClr val="3B2340"/>
              </a:buClr>
              <a:buSzPts val="1500"/>
              <a:buFont typeface="DM Sans"/>
              <a:buChar char="•"/>
            </a:pPr>
            <a:r>
              <a:rPr b="0" i="0" lang="en-US" sz="1500" u="none" cap="none" strike="noStrike">
                <a:solidFill>
                  <a:srgbClr val="3B2340"/>
                </a:solidFill>
                <a:latin typeface="DM Sans"/>
                <a:ea typeface="DM Sans"/>
                <a:cs typeface="DM Sans"/>
                <a:sym typeface="DM Sans"/>
              </a:rPr>
              <a:t>Ovulation from wrist temperature failed our pre-set checks.</a:t>
            </a:r>
            <a:endParaRPr b="0" i="0" sz="1500" u="none" cap="none" strike="noStrike">
              <a:solidFill>
                <a:schemeClr val="dk1"/>
              </a:solidFill>
              <a:latin typeface="Calibri"/>
              <a:ea typeface="Calibri"/>
              <a:cs typeface="Calibri"/>
              <a:sym typeface="Calibri"/>
            </a:endParaRPr>
          </a:p>
          <a:p>
            <a:pPr indent="-182880" lvl="0" marL="182880" marR="0" rtl="0" algn="l">
              <a:lnSpc>
                <a:spcPct val="145000"/>
              </a:lnSpc>
              <a:spcBef>
                <a:spcPts val="0"/>
              </a:spcBef>
              <a:spcAft>
                <a:spcPts val="0"/>
              </a:spcAft>
              <a:buClr>
                <a:srgbClr val="3B2340"/>
              </a:buClr>
              <a:buSzPts val="1500"/>
              <a:buFont typeface="DM Sans"/>
              <a:buChar char="•"/>
            </a:pPr>
            <a:r>
              <a:rPr b="0" i="0" lang="en-US" sz="1500" u="none" cap="none" strike="noStrike">
                <a:solidFill>
                  <a:srgbClr val="3B2340"/>
                </a:solidFill>
                <a:latin typeface="DM Sans"/>
                <a:ea typeface="DM Sans"/>
                <a:cs typeface="DM Sans"/>
                <a:sym typeface="DM Sans"/>
              </a:rPr>
              <a:t>Too many false alarms, and no better than a calendar guess.</a:t>
            </a:r>
            <a:endParaRPr b="0" i="0" sz="1500" u="none" cap="none" strike="noStrike">
              <a:solidFill>
                <a:schemeClr val="dk1"/>
              </a:solidFill>
              <a:latin typeface="Calibri"/>
              <a:ea typeface="Calibri"/>
              <a:cs typeface="Calibri"/>
              <a:sym typeface="Calibri"/>
            </a:endParaRPr>
          </a:p>
          <a:p>
            <a:pPr indent="-182880" lvl="0" marL="182880" marR="0" rtl="0" algn="l">
              <a:lnSpc>
                <a:spcPct val="145000"/>
              </a:lnSpc>
              <a:spcBef>
                <a:spcPts val="0"/>
              </a:spcBef>
              <a:spcAft>
                <a:spcPts val="0"/>
              </a:spcAft>
              <a:buClr>
                <a:srgbClr val="3B2340"/>
              </a:buClr>
              <a:buSzPts val="1500"/>
              <a:buFont typeface="DM Sans"/>
              <a:buChar char="•"/>
            </a:pPr>
            <a:r>
              <a:rPr b="0" i="0" lang="en-US" sz="1500" u="none" cap="none" strike="noStrike">
                <a:solidFill>
                  <a:srgbClr val="3B2340"/>
                </a:solidFill>
                <a:latin typeface="DM Sans"/>
                <a:ea typeface="DM Sans"/>
                <a:cs typeface="DM Sans"/>
                <a:sym typeface="DM Sans"/>
              </a:rPr>
              <a:t>Only its calibration passed.</a:t>
            </a:r>
            <a:endParaRPr b="0" i="0" sz="1500" u="none" cap="none" strike="noStrike">
              <a:solidFill>
                <a:schemeClr val="dk1"/>
              </a:solidFill>
              <a:latin typeface="Calibri"/>
              <a:ea typeface="Calibri"/>
              <a:cs typeface="Calibri"/>
              <a:sym typeface="Calibri"/>
            </a:endParaRPr>
          </a:p>
          <a:p>
            <a:pPr indent="-182880" lvl="0" marL="182880" marR="0" rtl="0" algn="l">
              <a:lnSpc>
                <a:spcPct val="145000"/>
              </a:lnSpc>
              <a:spcBef>
                <a:spcPts val="0"/>
              </a:spcBef>
              <a:spcAft>
                <a:spcPts val="0"/>
              </a:spcAft>
              <a:buClr>
                <a:srgbClr val="3B2340"/>
              </a:buClr>
              <a:buSzPts val="1500"/>
              <a:buFont typeface="DM Sans"/>
              <a:buChar char="•"/>
            </a:pPr>
            <a:r>
              <a:rPr b="0" i="0" lang="en-US" sz="1500" u="none" cap="none" strike="noStrike">
                <a:solidFill>
                  <a:srgbClr val="3B2340"/>
                </a:solidFill>
                <a:latin typeface="DM Sans"/>
                <a:ea typeface="DM Sans"/>
                <a:cs typeface="DM Sans"/>
                <a:sym typeface="DM Sans"/>
              </a:rPr>
              <a:t>So temperature is shown as context, never scored.</a:t>
            </a:r>
            <a:endParaRPr b="0" i="0" sz="1500" u="none" cap="none" strike="noStrike">
              <a:solidFill>
                <a:schemeClr val="dk1"/>
              </a:solidFill>
              <a:latin typeface="Calibri"/>
              <a:ea typeface="Calibri"/>
              <a:cs typeface="Calibri"/>
              <a:sym typeface="Calibri"/>
            </a:endParaRPr>
          </a:p>
        </p:txBody>
      </p:sp>
      <p:sp>
        <p:nvSpPr>
          <p:cNvPr id="102" name="Google Shape;102;p10"/>
          <p:cNvSpPr/>
          <p:nvPr/>
        </p:nvSpPr>
        <p:spPr>
          <a:xfrm>
            <a:off x="812782" y="4652457"/>
            <a:ext cx="10883400" cy="306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5CB8"/>
              </a:buClr>
              <a:buSzPts val="1700"/>
              <a:buFont typeface="DM Sans"/>
              <a:buNone/>
            </a:pPr>
            <a:r>
              <a:rPr b="1" i="0" lang="en-US" sz="1700" u="none" cap="none" strike="noStrike">
                <a:solidFill>
                  <a:srgbClr val="7A5CB8"/>
                </a:solidFill>
                <a:latin typeface="DM Sans"/>
                <a:ea typeface="DM Sans"/>
                <a:cs typeface="DM Sans"/>
                <a:sym typeface="DM Sans"/>
              </a:rPr>
              <a:t>We kept the check, and reported the result.</a:t>
            </a:r>
            <a:endParaRPr b="0" i="0" sz="1700" u="none" cap="none" strike="noStrike">
              <a:solidFill>
                <a:schemeClr val="dk1"/>
              </a:solidFill>
              <a:latin typeface="Calibri"/>
              <a:ea typeface="Calibri"/>
              <a:cs typeface="Calibri"/>
              <a:sym typeface="Calibri"/>
            </a:endParaRPr>
          </a:p>
        </p:txBody>
      </p:sp>
      <p:sp>
        <p:nvSpPr>
          <p:cNvPr id="103" name="Google Shape;103;p10"/>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104" name="Google Shape;104;p10"/>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1"/>
          <p:cNvSpPr/>
          <p:nvPr/>
        </p:nvSpPr>
        <p:spPr>
          <a:xfrm>
            <a:off x="812782" y="812781"/>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Model 2: PCOS-risk awareness profile</a:t>
            </a:r>
            <a:endParaRPr b="0" i="0" sz="3200" u="none" cap="none" strike="noStrike">
              <a:solidFill>
                <a:schemeClr val="dk1"/>
              </a:solidFill>
              <a:latin typeface="Calibri"/>
              <a:ea typeface="Calibri"/>
              <a:cs typeface="Calibri"/>
              <a:sym typeface="Calibri"/>
            </a:endParaRPr>
          </a:p>
        </p:txBody>
      </p:sp>
      <p:sp>
        <p:nvSpPr>
          <p:cNvPr id="111" name="Google Shape;111;p11"/>
          <p:cNvSpPr/>
          <p:nvPr/>
        </p:nvSpPr>
        <p:spPr>
          <a:xfrm>
            <a:off x="812782" y="1488371"/>
            <a:ext cx="108834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600"/>
              <a:buFont typeface="DM Sans"/>
              <a:buNone/>
            </a:pPr>
            <a:r>
              <a:rPr b="0" i="0" lang="en-US" sz="1600" u="none" cap="none" strike="noStrike">
                <a:solidFill>
                  <a:srgbClr val="6B5470"/>
                </a:solidFill>
                <a:latin typeface="DM Sans"/>
                <a:ea typeface="DM Sans"/>
                <a:cs typeface="DM Sans"/>
                <a:sym typeface="DM Sans"/>
              </a:rPr>
              <a:t>Four models compared on 541 clinical patients, using only what a user can tell the app. No labs or ultrasound.</a:t>
            </a:r>
            <a:endParaRPr b="0" i="0" sz="1600" u="none" cap="none" strike="noStrike">
              <a:solidFill>
                <a:schemeClr val="dk1"/>
              </a:solidFill>
              <a:latin typeface="Calibri"/>
              <a:ea typeface="Calibri"/>
              <a:cs typeface="Calibri"/>
              <a:sym typeface="Calibri"/>
            </a:endParaRPr>
          </a:p>
        </p:txBody>
      </p:sp>
      <p:graphicFrame>
        <p:nvGraphicFramePr>
          <p:cNvPr id="112" name="Google Shape;112;p11"/>
          <p:cNvGraphicFramePr/>
          <p:nvPr/>
        </p:nvGraphicFramePr>
        <p:xfrm>
          <a:off x="824327" y="2012967"/>
          <a:ext cx="3000000" cy="3000000"/>
        </p:xfrm>
        <a:graphic>
          <a:graphicData uri="http://schemas.openxmlformats.org/drawingml/2006/table">
            <a:tbl>
              <a:tblPr>
                <a:noFill/>
                <a:tableStyleId>{CDA2F613-993C-4B29-8FF0-6B7151607D89}</a:tableStyleId>
              </a:tblPr>
              <a:tblGrid>
                <a:gridCol w="3588675"/>
                <a:gridCol w="2322075"/>
                <a:gridCol w="2322075"/>
                <a:gridCol w="2322075"/>
              </a:tblGrid>
              <a:tr h="411475">
                <a:tc>
                  <a:txBody>
                    <a:bodyPr/>
                    <a:lstStyle/>
                    <a:p>
                      <a:pPr indent="0" lvl="0" marL="0" marR="0" rtl="0" algn="l">
                        <a:lnSpc>
                          <a:spcPct val="140000"/>
                        </a:lnSpc>
                        <a:spcBef>
                          <a:spcPts val="0"/>
                        </a:spcBef>
                        <a:spcAft>
                          <a:spcPts val="0"/>
                        </a:spcAft>
                        <a:buClr>
                          <a:srgbClr val="3B2340"/>
                        </a:buClr>
                        <a:buSzPts val="1500"/>
                        <a:buFont typeface="DM Sans"/>
                        <a:buNone/>
                      </a:pPr>
                      <a:r>
                        <a:rPr b="1" lang="en-US" sz="1500" u="none" cap="none" strike="noStrike">
                          <a:solidFill>
                            <a:srgbClr val="3B2340"/>
                          </a:solidFill>
                          <a:latin typeface="DM Sans"/>
                          <a:ea typeface="DM Sans"/>
                          <a:cs typeface="DM Sans"/>
                          <a:sym typeface="DM Sans"/>
                        </a:rPr>
                        <a:t>Model</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500"/>
                        <a:buFont typeface="DM Sans"/>
                        <a:buNone/>
                      </a:pPr>
                      <a:r>
                        <a:rPr b="1" lang="en-US" sz="1500" u="none" cap="none" strike="noStrike">
                          <a:solidFill>
                            <a:srgbClr val="3B2340"/>
                          </a:solidFill>
                          <a:latin typeface="DM Sans"/>
                          <a:ea typeface="DM Sans"/>
                          <a:cs typeface="DM Sans"/>
                          <a:sym typeface="DM Sans"/>
                        </a:rPr>
                        <a:t>ROC-AUC</a:t>
                      </a:r>
                      <a:endParaRPr sz="1500" u="none" cap="none" strike="noStrike">
                        <a:latin typeface="DM Sans"/>
                        <a:ea typeface="DM Sans"/>
                        <a:cs typeface="DM Sans"/>
                        <a:sym typeface="DM Sans"/>
                      </a:endParaRPr>
                    </a:p>
                  </a:txBody>
                  <a:tcPr marT="66675" marB="66675" marR="66675" marL="6667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500"/>
                        <a:buFont typeface="DM Sans"/>
                        <a:buNone/>
                      </a:pPr>
                      <a:r>
                        <a:rPr b="1" lang="en-US" sz="1500" u="none" cap="none" strike="noStrike">
                          <a:solidFill>
                            <a:srgbClr val="3B2340"/>
                          </a:solidFill>
                          <a:latin typeface="DM Sans"/>
                          <a:ea typeface="DM Sans"/>
                          <a:cs typeface="DM Sans"/>
                          <a:sym typeface="DM Sans"/>
                        </a:rPr>
                        <a:t>Recall</a:t>
                      </a:r>
                      <a:endParaRPr sz="1500" u="none" cap="none" strike="noStrike">
                        <a:latin typeface="DM Sans"/>
                        <a:ea typeface="DM Sans"/>
                        <a:cs typeface="DM Sans"/>
                        <a:sym typeface="DM Sans"/>
                      </a:endParaRPr>
                    </a:p>
                  </a:txBody>
                  <a:tcPr marT="66675" marB="66675" marR="66675" marL="6667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500"/>
                        <a:buFont typeface="DM Sans"/>
                        <a:buNone/>
                      </a:pPr>
                      <a:r>
                        <a:rPr b="1" lang="en-US" sz="1500" u="none" cap="none" strike="noStrike">
                          <a:solidFill>
                            <a:srgbClr val="3B2340"/>
                          </a:solidFill>
                          <a:latin typeface="DM Sans"/>
                          <a:ea typeface="DM Sans"/>
                          <a:cs typeface="DM Sans"/>
                          <a:sym typeface="DM Sans"/>
                        </a:rPr>
                        <a:t>Precision</a:t>
                      </a:r>
                      <a:endParaRPr sz="1500" u="none" cap="none" strike="noStrike">
                        <a:latin typeface="DM Sans"/>
                        <a:ea typeface="DM Sans"/>
                        <a:cs typeface="DM Sans"/>
                        <a:sym typeface="DM Sans"/>
                      </a:endParaRPr>
                    </a:p>
                  </a:txBody>
                  <a:tcPr marT="66675" marB="66675" marR="66675" marL="6667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r>
              <a:tr h="411475">
                <a:tc>
                  <a:txBody>
                    <a:bodyPr/>
                    <a:lstStyle/>
                    <a:p>
                      <a:pPr indent="0" lvl="0" marL="0" marR="0" rtl="0" algn="l">
                        <a:lnSpc>
                          <a:spcPct val="140000"/>
                        </a:lnSpc>
                        <a:spcBef>
                          <a:spcPts val="0"/>
                        </a:spcBef>
                        <a:spcAft>
                          <a:spcPts val="0"/>
                        </a:spcAft>
                        <a:buClr>
                          <a:srgbClr val="C2386B"/>
                        </a:buClr>
                        <a:buSzPts val="1500"/>
                        <a:buFont typeface="DM Sans"/>
                        <a:buNone/>
                      </a:pPr>
                      <a:r>
                        <a:rPr lang="en-US" sz="1500" u="none" cap="none" strike="noStrike">
                          <a:solidFill>
                            <a:srgbClr val="C2386B"/>
                          </a:solidFill>
                          <a:latin typeface="DM Sans"/>
                          <a:ea typeface="DM Sans"/>
                          <a:cs typeface="DM Sans"/>
                          <a:sym typeface="DM Sans"/>
                        </a:rPr>
                        <a:t>Extra Trees (chosen)</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386B"/>
                        </a:buClr>
                        <a:buSzPts val="1500"/>
                        <a:buFont typeface="DM Sans"/>
                        <a:buNone/>
                      </a:pPr>
                      <a:r>
                        <a:rPr lang="en-US" sz="1500" u="none" cap="none" strike="noStrike">
                          <a:solidFill>
                            <a:srgbClr val="C2386B"/>
                          </a:solidFill>
                          <a:latin typeface="DM Sans"/>
                          <a:ea typeface="DM Sans"/>
                          <a:cs typeface="DM Sans"/>
                          <a:sym typeface="DM Sans"/>
                        </a:rPr>
                        <a:t>0.92</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386B"/>
                        </a:buClr>
                        <a:buSzPts val="1500"/>
                        <a:buFont typeface="DM Sans"/>
                        <a:buNone/>
                      </a:pPr>
                      <a:r>
                        <a:rPr lang="en-US" sz="1500" u="none" cap="none" strike="noStrike">
                          <a:solidFill>
                            <a:srgbClr val="C2386B"/>
                          </a:solidFill>
                          <a:latin typeface="DM Sans"/>
                          <a:ea typeface="DM Sans"/>
                          <a:cs typeface="DM Sans"/>
                          <a:sym typeface="DM Sans"/>
                        </a:rPr>
                        <a:t>0.81</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386B"/>
                        </a:buClr>
                        <a:buSzPts val="1500"/>
                        <a:buFont typeface="DM Sans"/>
                        <a:buNone/>
                      </a:pPr>
                      <a:r>
                        <a:rPr lang="en-US" sz="1500" u="none" cap="none" strike="noStrike">
                          <a:solidFill>
                            <a:srgbClr val="C2386B"/>
                          </a:solidFill>
                          <a:latin typeface="DM Sans"/>
                          <a:ea typeface="DM Sans"/>
                          <a:cs typeface="DM Sans"/>
                          <a:sym typeface="DM Sans"/>
                        </a:rPr>
                        <a:t>0.78</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Random Forest</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0.91</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0.75</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0.82</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Logistic Regression</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0.89</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0.72</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0.87</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XGBoost</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0.90</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0.72</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0.81</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bl>
          </a:graphicData>
        </a:graphic>
      </p:graphicFrame>
      <p:sp>
        <p:nvSpPr>
          <p:cNvPr id="113" name="Google Shape;113;p11"/>
          <p:cNvSpPr/>
          <p:nvPr/>
        </p:nvSpPr>
        <p:spPr>
          <a:xfrm>
            <a:off x="812782" y="4252207"/>
            <a:ext cx="108834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400"/>
              <a:buFont typeface="DM Sans"/>
              <a:buNone/>
            </a:pPr>
            <a:r>
              <a:rPr b="0" i="0" lang="en-US" sz="1400" u="none" cap="none" strike="noStrike">
                <a:solidFill>
                  <a:srgbClr val="6B5470"/>
                </a:solidFill>
                <a:latin typeface="DM Sans"/>
                <a:ea typeface="DM Sans"/>
                <a:cs typeface="DM Sans"/>
                <a:sym typeface="DM Sans"/>
              </a:rPr>
              <a:t>20% held-out test set. Extra Trees was chosen for the highest recall, </a:t>
            </a:r>
            <a:r>
              <a:rPr lang="en-US">
                <a:solidFill>
                  <a:srgbClr val="6B5470"/>
                </a:solidFill>
                <a:latin typeface="DM Sans"/>
                <a:ea typeface="DM Sans"/>
                <a:cs typeface="DM Sans"/>
                <a:sym typeface="DM Sans"/>
              </a:rPr>
              <a:t>since we prioritised recall while maintaining reasonable precision and F1. </a:t>
            </a:r>
            <a:r>
              <a:rPr b="0" i="0" lang="en-US" sz="1400" u="none" cap="none" strike="noStrike">
                <a:solidFill>
                  <a:srgbClr val="6B5470"/>
                </a:solidFill>
                <a:latin typeface="DM Sans"/>
                <a:ea typeface="DM Sans"/>
                <a:cs typeface="DM Sans"/>
                <a:sym typeface="DM Sans"/>
              </a:rPr>
              <a:t>.</a:t>
            </a:r>
            <a:endParaRPr b="0" i="0" sz="1400" u="none" cap="none" strike="noStrike">
              <a:solidFill>
                <a:schemeClr val="dk1"/>
              </a:solidFill>
              <a:latin typeface="Calibri"/>
              <a:ea typeface="Calibri"/>
              <a:cs typeface="Calibri"/>
              <a:sym typeface="Calibri"/>
            </a:endParaRPr>
          </a:p>
        </p:txBody>
      </p:sp>
      <p:sp>
        <p:nvSpPr>
          <p:cNvPr id="114" name="Google Shape;114;p11"/>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115" name="Google Shape;115;p11"/>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graphicFrame>
        <p:nvGraphicFramePr>
          <p:cNvPr id="116" name="Google Shape;116;p11"/>
          <p:cNvGraphicFramePr/>
          <p:nvPr/>
        </p:nvGraphicFramePr>
        <p:xfrm>
          <a:off x="812777" y="4801704"/>
          <a:ext cx="3000000" cy="3000000"/>
        </p:xfrm>
        <a:graphic>
          <a:graphicData uri="http://schemas.openxmlformats.org/drawingml/2006/table">
            <a:tbl>
              <a:tblPr>
                <a:noFill/>
                <a:tableStyleId>{CDA2F613-993C-4B29-8FF0-6B7151607D89}</a:tableStyleId>
              </a:tblPr>
              <a:tblGrid>
                <a:gridCol w="1762500"/>
                <a:gridCol w="1642475"/>
                <a:gridCol w="1206825"/>
              </a:tblGrid>
              <a:tr h="309625">
                <a:tc>
                  <a:txBody>
                    <a:bodyPr/>
                    <a:lstStyle/>
                    <a:p>
                      <a:pPr indent="0" lvl="0" marL="0" marR="0" rtl="0" algn="l">
                        <a:lnSpc>
                          <a:spcPct val="140000"/>
                        </a:lnSpc>
                        <a:spcBef>
                          <a:spcPts val="0"/>
                        </a:spcBef>
                        <a:spcAft>
                          <a:spcPts val="0"/>
                        </a:spcAft>
                        <a:buClr>
                          <a:srgbClr val="3B2340"/>
                        </a:buClr>
                        <a:buSzPts val="1500"/>
                        <a:buFont typeface="DM Sans"/>
                        <a:buNone/>
                      </a:pPr>
                      <a:r>
                        <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500"/>
                        <a:buFont typeface="DM Sans"/>
                        <a:buNone/>
                      </a:pPr>
                      <a:r>
                        <a:rPr b="1" lang="en-US" sz="1500">
                          <a:solidFill>
                            <a:srgbClr val="3B2340"/>
                          </a:solidFill>
                          <a:latin typeface="DM Sans"/>
                          <a:ea typeface="DM Sans"/>
                          <a:cs typeface="DM Sans"/>
                          <a:sym typeface="DM Sans"/>
                        </a:rPr>
                        <a:t>Pred non-PCOS</a:t>
                      </a:r>
                      <a:endParaRPr sz="1500" u="none" cap="none" strike="noStrike">
                        <a:latin typeface="DM Sans"/>
                        <a:ea typeface="DM Sans"/>
                        <a:cs typeface="DM Sans"/>
                        <a:sym typeface="DM Sans"/>
                      </a:endParaRPr>
                    </a:p>
                  </a:txBody>
                  <a:tcPr marT="66675" marB="66675" marR="66675" marL="6667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500"/>
                        <a:buFont typeface="DM Sans"/>
                        <a:buNone/>
                      </a:pPr>
                      <a:r>
                        <a:rPr b="1" lang="en-US" sz="1500">
                          <a:solidFill>
                            <a:srgbClr val="3B2340"/>
                          </a:solidFill>
                          <a:latin typeface="DM Sans"/>
                          <a:ea typeface="DM Sans"/>
                          <a:cs typeface="DM Sans"/>
                          <a:sym typeface="DM Sans"/>
                        </a:rPr>
                        <a:t>Pred PCOS</a:t>
                      </a:r>
                      <a:endParaRPr sz="1500" u="none" cap="none" strike="noStrike">
                        <a:latin typeface="DM Sans"/>
                        <a:ea typeface="DM Sans"/>
                        <a:cs typeface="DM Sans"/>
                        <a:sym typeface="DM Sans"/>
                      </a:endParaRPr>
                    </a:p>
                  </a:txBody>
                  <a:tcPr marT="66675" marB="66675" marR="66675" marL="6667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r>
              <a:tr h="432750">
                <a:tc>
                  <a:txBody>
                    <a:bodyPr/>
                    <a:lstStyle/>
                    <a:p>
                      <a:pPr indent="0" lvl="0" marL="0" marR="0" rtl="0" algn="l">
                        <a:lnSpc>
                          <a:spcPct val="140000"/>
                        </a:lnSpc>
                        <a:spcBef>
                          <a:spcPts val="0"/>
                        </a:spcBef>
                        <a:spcAft>
                          <a:spcPts val="0"/>
                        </a:spcAft>
                        <a:buClr>
                          <a:srgbClr val="3B2340"/>
                        </a:buClr>
                        <a:buSzPts val="1500"/>
                        <a:buFont typeface="DM Sans"/>
                        <a:buNone/>
                      </a:pPr>
                      <a:r>
                        <a:rPr lang="en-US" sz="1500">
                          <a:solidFill>
                            <a:srgbClr val="3B2340"/>
                          </a:solidFill>
                          <a:latin typeface="DM Sans"/>
                          <a:ea typeface="DM Sans"/>
                          <a:cs typeface="DM Sans"/>
                          <a:sym typeface="DM Sans"/>
                        </a:rPr>
                        <a:t>Actual non-PCOS</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a:solidFill>
                            <a:srgbClr val="3B2340"/>
                          </a:solidFill>
                          <a:latin typeface="DM Sans"/>
                          <a:ea typeface="DM Sans"/>
                          <a:cs typeface="DM Sans"/>
                          <a:sym typeface="DM Sans"/>
                        </a:rPr>
                        <a:t>65</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a:solidFill>
                            <a:srgbClr val="3B2340"/>
                          </a:solidFill>
                          <a:latin typeface="DM Sans"/>
                          <a:ea typeface="DM Sans"/>
                          <a:cs typeface="DM Sans"/>
                          <a:sym typeface="DM Sans"/>
                        </a:rPr>
                        <a:t>8</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r>
              <a:tr h="335250">
                <a:tc>
                  <a:txBody>
                    <a:bodyPr/>
                    <a:lstStyle/>
                    <a:p>
                      <a:pPr indent="0" lvl="0" marL="0" marR="0" rtl="0" algn="l">
                        <a:lnSpc>
                          <a:spcPct val="140000"/>
                        </a:lnSpc>
                        <a:spcBef>
                          <a:spcPts val="0"/>
                        </a:spcBef>
                        <a:spcAft>
                          <a:spcPts val="0"/>
                        </a:spcAft>
                        <a:buClr>
                          <a:srgbClr val="3B2340"/>
                        </a:buClr>
                        <a:buSzPts val="1500"/>
                        <a:buFont typeface="DM Sans"/>
                        <a:buNone/>
                      </a:pPr>
                      <a:r>
                        <a:rPr lang="en-US" sz="1500">
                          <a:solidFill>
                            <a:srgbClr val="3B2340"/>
                          </a:solidFill>
                          <a:latin typeface="DM Sans"/>
                          <a:ea typeface="DM Sans"/>
                          <a:cs typeface="DM Sans"/>
                          <a:sym typeface="DM Sans"/>
                        </a:rPr>
                        <a:t>Actual PCOS</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a:solidFill>
                            <a:srgbClr val="3B2340"/>
                          </a:solidFill>
                          <a:latin typeface="DM Sans"/>
                          <a:ea typeface="DM Sans"/>
                          <a:cs typeface="DM Sans"/>
                          <a:sym typeface="DM Sans"/>
                        </a:rPr>
                        <a:t>7</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a:solidFill>
                            <a:srgbClr val="3B2340"/>
                          </a:solidFill>
                          <a:latin typeface="DM Sans"/>
                          <a:ea typeface="DM Sans"/>
                          <a:cs typeface="DM Sans"/>
                          <a:sym typeface="DM Sans"/>
                        </a:rPr>
                        <a:t>29</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bl>
          </a:graphicData>
        </a:graphic>
      </p:graphicFrame>
      <p:sp>
        <p:nvSpPr>
          <p:cNvPr id="117" name="Google Shape;117;p11"/>
          <p:cNvSpPr txBox="1"/>
          <p:nvPr/>
        </p:nvSpPr>
        <p:spPr>
          <a:xfrm>
            <a:off x="5608753" y="4700400"/>
            <a:ext cx="4291800" cy="7020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None/>
            </a:pPr>
            <a:r>
              <a:rPr b="1" lang="en-US">
                <a:solidFill>
                  <a:srgbClr val="6B5470"/>
                </a:solidFill>
                <a:latin typeface="DM Sans"/>
                <a:ea typeface="DM Sans"/>
                <a:cs typeface="DM Sans"/>
                <a:sym typeface="DM Sans"/>
              </a:rPr>
              <a:t>Strongest SHAP</a:t>
            </a:r>
            <a:r>
              <a:rPr b="1" lang="en-US">
                <a:solidFill>
                  <a:srgbClr val="6B5470"/>
                </a:solidFill>
                <a:latin typeface="DM Sans"/>
                <a:ea typeface="DM Sans"/>
                <a:cs typeface="DM Sans"/>
                <a:sym typeface="DM Sans"/>
              </a:rPr>
              <a:t> drivers: skin darkening, excess hair growth and weight gain.</a:t>
            </a:r>
            <a:endParaRPr b="1"/>
          </a:p>
        </p:txBody>
      </p:sp>
      <p:sp>
        <p:nvSpPr>
          <p:cNvPr id="118" name="Google Shape;118;p11"/>
          <p:cNvSpPr txBox="1"/>
          <p:nvPr/>
        </p:nvSpPr>
        <p:spPr>
          <a:xfrm>
            <a:off x="5592067" y="5469325"/>
            <a:ext cx="5647800" cy="7020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None/>
            </a:pPr>
            <a:r>
              <a:rPr lang="en-US">
                <a:solidFill>
                  <a:srgbClr val="6B5470"/>
                </a:solidFill>
                <a:latin typeface="DM Sans"/>
                <a:ea typeface="DM Sans"/>
                <a:cs typeface="DM Sans"/>
                <a:sym typeface="DM Sans"/>
              </a:rPr>
              <a:t>Threshold 0.5,</a:t>
            </a:r>
            <a:r>
              <a:rPr lang="en-US">
                <a:solidFill>
                  <a:srgbClr val="6B5470"/>
                </a:solidFill>
                <a:latin typeface="DM Sans"/>
                <a:ea typeface="DM Sans"/>
                <a:cs typeface="DM Sans"/>
                <a:sym typeface="DM Sans"/>
              </a:rPr>
              <a:t> Lowering to 0.4 increased recall only slightly </a:t>
            </a:r>
            <a:endParaRPr>
              <a:solidFill>
                <a:srgbClr val="6B5470"/>
              </a:solidFill>
              <a:latin typeface="DM Sans"/>
              <a:ea typeface="DM Sans"/>
              <a:cs typeface="DM Sans"/>
              <a:sym typeface="DM Sans"/>
            </a:endParaRPr>
          </a:p>
          <a:p>
            <a:pPr indent="0" lvl="0" marL="0" marR="0" rtl="0" algn="l">
              <a:lnSpc>
                <a:spcPct val="140000"/>
              </a:lnSpc>
              <a:spcBef>
                <a:spcPts val="0"/>
              </a:spcBef>
              <a:spcAft>
                <a:spcPts val="0"/>
              </a:spcAft>
              <a:buNone/>
            </a:pPr>
            <a:r>
              <a:rPr lang="en-US">
                <a:solidFill>
                  <a:srgbClr val="6B5470"/>
                </a:solidFill>
                <a:latin typeface="DM Sans"/>
                <a:ea typeface="DM Sans"/>
                <a:cs typeface="DM Sans"/>
                <a:sym typeface="DM Sans"/>
              </a:rPr>
              <a:t>(80.6% → 83.3%) while increasing false positives (8 → 12).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 name="Shape 123"/>
        <p:cNvGrpSpPr/>
        <p:nvPr/>
      </p:nvGrpSpPr>
      <p:grpSpPr>
        <a:xfrm>
          <a:off x="0" y="0"/>
          <a:ext cx="0" cy="0"/>
          <a:chOff x="0" y="0"/>
          <a:chExt cx="0" cy="0"/>
        </a:xfrm>
      </p:grpSpPr>
      <p:sp>
        <p:nvSpPr>
          <p:cNvPr id="124" name="Google Shape;124;p12"/>
          <p:cNvSpPr/>
          <p:nvPr/>
        </p:nvSpPr>
        <p:spPr>
          <a:xfrm>
            <a:off x="809625" y="495300"/>
            <a:ext cx="105729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000">
                <a:solidFill>
                  <a:srgbClr val="3B2340"/>
                </a:solidFill>
                <a:latin typeface="DM Sans"/>
                <a:ea typeface="DM Sans"/>
                <a:cs typeface="DM Sans"/>
                <a:sym typeface="DM Sans"/>
              </a:rPr>
              <a:t>How the two models become one score</a:t>
            </a:r>
            <a:endParaRPr b="1" sz="3000">
              <a:solidFill>
                <a:srgbClr val="3B2340"/>
              </a:solidFill>
              <a:latin typeface="DM Sans"/>
              <a:ea typeface="DM Sans"/>
              <a:cs typeface="DM Sans"/>
              <a:sym typeface="DM Sans"/>
            </a:endParaRPr>
          </a:p>
        </p:txBody>
      </p:sp>
      <p:sp>
        <p:nvSpPr>
          <p:cNvPr id="125" name="Google Shape;125;p12"/>
          <p:cNvSpPr/>
          <p:nvPr/>
        </p:nvSpPr>
        <p:spPr>
          <a:xfrm>
            <a:off x="809625" y="1143000"/>
            <a:ext cx="3333900" cy="2571900"/>
          </a:xfrm>
          <a:prstGeom prst="roundRect">
            <a:avLst>
              <a:gd fmla="val 5925" name="adj"/>
            </a:avLst>
          </a:prstGeom>
          <a:solidFill>
            <a:srgbClr val="FFFFFF"/>
          </a:solidFill>
          <a:ln cap="flat" cmpd="sng" w="14300">
            <a:solidFill>
              <a:srgbClr val="F0C2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2"/>
          <p:cNvSpPr/>
          <p:nvPr/>
        </p:nvSpPr>
        <p:spPr>
          <a:xfrm>
            <a:off x="4429125" y="1143000"/>
            <a:ext cx="3333900" cy="2571900"/>
          </a:xfrm>
          <a:prstGeom prst="roundRect">
            <a:avLst>
              <a:gd fmla="val 5925" name="adj"/>
            </a:avLst>
          </a:prstGeom>
          <a:solidFill>
            <a:srgbClr val="FFFFFF"/>
          </a:solidFill>
          <a:ln cap="flat" cmpd="sng" w="14300">
            <a:solidFill>
              <a:srgbClr val="D8C5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2"/>
          <p:cNvSpPr/>
          <p:nvPr/>
        </p:nvSpPr>
        <p:spPr>
          <a:xfrm>
            <a:off x="8048625" y="1143000"/>
            <a:ext cx="3619500" cy="2571900"/>
          </a:xfrm>
          <a:prstGeom prst="roundRect">
            <a:avLst>
              <a:gd fmla="val 5925" name="adj"/>
            </a:avLst>
          </a:prstGeom>
          <a:solidFill>
            <a:srgbClr val="EEE5F6"/>
          </a:solidFill>
          <a:ln cap="flat" cmpd="sng" w="9525">
            <a:solidFill>
              <a:srgbClr val="DDCD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2"/>
          <p:cNvSpPr/>
          <p:nvPr/>
        </p:nvSpPr>
        <p:spPr>
          <a:xfrm>
            <a:off x="1047750" y="1333500"/>
            <a:ext cx="28575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3B2340"/>
                </a:solidFill>
                <a:latin typeface="DM Sans"/>
                <a:ea typeface="DM Sans"/>
                <a:cs typeface="DM Sans"/>
                <a:sym typeface="DM Sans"/>
              </a:rPr>
              <a:t>Model 1 — Cycle Pattern</a:t>
            </a:r>
            <a:endParaRPr b="1" sz="1500">
              <a:solidFill>
                <a:srgbClr val="3B2340"/>
              </a:solidFill>
              <a:latin typeface="DM Sans"/>
              <a:ea typeface="DM Sans"/>
              <a:cs typeface="DM Sans"/>
              <a:sym typeface="DM Sans"/>
            </a:endParaRPr>
          </a:p>
        </p:txBody>
      </p:sp>
      <p:sp>
        <p:nvSpPr>
          <p:cNvPr id="129" name="Google Shape;129;p12"/>
          <p:cNvSpPr/>
          <p:nvPr/>
        </p:nvSpPr>
        <p:spPr>
          <a:xfrm>
            <a:off x="1047750" y="1638300"/>
            <a:ext cx="10479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720">
                <a:solidFill>
                  <a:srgbClr val="C2386B"/>
                </a:solidFill>
                <a:latin typeface="DM Sans"/>
                <a:ea typeface="DM Sans"/>
                <a:cs typeface="DM Sans"/>
                <a:sym typeface="DM Sans"/>
              </a:rPr>
              <a:t>40%</a:t>
            </a:r>
            <a:endParaRPr b="1" sz="2720">
              <a:solidFill>
                <a:srgbClr val="C2386B"/>
              </a:solidFill>
              <a:latin typeface="DM Sans"/>
              <a:ea typeface="DM Sans"/>
              <a:cs typeface="DM Sans"/>
              <a:sym typeface="DM Sans"/>
            </a:endParaRPr>
          </a:p>
        </p:txBody>
      </p:sp>
      <p:sp>
        <p:nvSpPr>
          <p:cNvPr id="130" name="Google Shape;130;p12"/>
          <p:cNvSpPr/>
          <p:nvPr/>
        </p:nvSpPr>
        <p:spPr>
          <a:xfrm>
            <a:off x="2143125" y="1771650"/>
            <a:ext cx="1524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8C6D92"/>
                </a:solidFill>
                <a:latin typeface="DM Sans Medium"/>
                <a:ea typeface="DM Sans Medium"/>
                <a:cs typeface="DM Sans Medium"/>
                <a:sym typeface="DM Sans Medium"/>
              </a:rPr>
              <a:t>of score</a:t>
            </a:r>
            <a:endParaRPr b="0" sz="1400">
              <a:solidFill>
                <a:srgbClr val="8C6D92"/>
              </a:solidFill>
              <a:latin typeface="DM Sans Medium"/>
              <a:ea typeface="DM Sans Medium"/>
              <a:cs typeface="DM Sans Medium"/>
              <a:sym typeface="DM Sans Medium"/>
            </a:endParaRPr>
          </a:p>
        </p:txBody>
      </p:sp>
      <p:sp>
        <p:nvSpPr>
          <p:cNvPr id="131" name="Google Shape;131;p12"/>
          <p:cNvSpPr/>
          <p:nvPr/>
        </p:nvSpPr>
        <p:spPr>
          <a:xfrm>
            <a:off x="1047750" y="2152650"/>
            <a:ext cx="2905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5A435E"/>
                </a:solidFill>
                <a:latin typeface="DM Sans"/>
                <a:ea typeface="DM Sans"/>
                <a:cs typeface="DM Sans"/>
                <a:sym typeface="DM Sans"/>
              </a:rPr>
              <a:t>• Based on logged cycle history</a:t>
            </a:r>
            <a:endParaRPr b="0" sz="1250">
              <a:solidFill>
                <a:srgbClr val="5A435E"/>
              </a:solidFill>
              <a:latin typeface="DM Sans"/>
              <a:ea typeface="DM Sans"/>
              <a:cs typeface="DM Sans"/>
              <a:sym typeface="DM Sans"/>
            </a:endParaRPr>
          </a:p>
        </p:txBody>
      </p:sp>
      <p:sp>
        <p:nvSpPr>
          <p:cNvPr id="132" name="Google Shape;132;p12"/>
          <p:cNvSpPr/>
          <p:nvPr/>
        </p:nvSpPr>
        <p:spPr>
          <a:xfrm>
            <a:off x="1047750" y="2533650"/>
            <a:ext cx="2905200" cy="495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5A435E"/>
                </a:solidFill>
                <a:latin typeface="DM Sans"/>
                <a:ea typeface="DM Sans"/>
                <a:cs typeface="DM Sans"/>
                <a:sym typeface="DM Sans"/>
              </a:rPr>
              <a:t>• Regularity / persistent long or short</a:t>
            </a:r>
            <a:r>
              <a:rPr lang="en-US" sz="1250">
                <a:solidFill>
                  <a:srgbClr val="5A435E"/>
                </a:solidFill>
                <a:latin typeface="DM Sans"/>
                <a:ea typeface="DM Sans"/>
                <a:cs typeface="DM Sans"/>
                <a:sym typeface="DM Sans"/>
              </a:rPr>
              <a:t> </a:t>
            </a:r>
            <a:r>
              <a:rPr b="0" lang="en-US" sz="1250">
                <a:solidFill>
                  <a:srgbClr val="5A435E"/>
                </a:solidFill>
                <a:latin typeface="DM Sans"/>
                <a:ea typeface="DM Sans"/>
                <a:cs typeface="DM Sans"/>
                <a:sym typeface="DM Sans"/>
              </a:rPr>
              <a:t>cycles</a:t>
            </a:r>
            <a:endParaRPr b="0" sz="1250">
              <a:solidFill>
                <a:srgbClr val="5A435E"/>
              </a:solidFill>
              <a:latin typeface="DM Sans"/>
              <a:ea typeface="DM Sans"/>
              <a:cs typeface="DM Sans"/>
              <a:sym typeface="DM Sans"/>
            </a:endParaRPr>
          </a:p>
        </p:txBody>
      </p:sp>
      <p:sp>
        <p:nvSpPr>
          <p:cNvPr id="133" name="Google Shape;133;p12"/>
          <p:cNvSpPr/>
          <p:nvPr/>
        </p:nvSpPr>
        <p:spPr>
          <a:xfrm>
            <a:off x="1047750" y="3048000"/>
            <a:ext cx="2905200" cy="495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5A435E"/>
                </a:solidFill>
                <a:latin typeface="DM Sans"/>
                <a:ea typeface="DM Sans"/>
                <a:cs typeface="DM Sans"/>
                <a:sym typeface="DM Sans"/>
              </a:rPr>
              <a:t>• Infrequent periods / 90+ day gap</a:t>
            </a:r>
            <a:endParaRPr b="0" sz="1250">
              <a:solidFill>
                <a:srgbClr val="5A435E"/>
              </a:solidFill>
              <a:latin typeface="DM Sans"/>
              <a:ea typeface="DM Sans"/>
              <a:cs typeface="DM Sans"/>
              <a:sym typeface="DM Sans"/>
            </a:endParaRPr>
          </a:p>
        </p:txBody>
      </p:sp>
      <p:sp>
        <p:nvSpPr>
          <p:cNvPr id="134" name="Google Shape;134;p12"/>
          <p:cNvSpPr/>
          <p:nvPr/>
        </p:nvSpPr>
        <p:spPr>
          <a:xfrm>
            <a:off x="4667250" y="1333500"/>
            <a:ext cx="28575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3B2340"/>
                </a:solidFill>
                <a:latin typeface="DM Sans"/>
                <a:ea typeface="DM Sans"/>
                <a:cs typeface="DM Sans"/>
                <a:sym typeface="DM Sans"/>
              </a:rPr>
              <a:t>Model 2 — PCOS Profile</a:t>
            </a:r>
            <a:endParaRPr b="1" sz="1500">
              <a:solidFill>
                <a:srgbClr val="3B2340"/>
              </a:solidFill>
              <a:latin typeface="DM Sans"/>
              <a:ea typeface="DM Sans"/>
              <a:cs typeface="DM Sans"/>
              <a:sym typeface="DM Sans"/>
            </a:endParaRPr>
          </a:p>
        </p:txBody>
      </p:sp>
      <p:sp>
        <p:nvSpPr>
          <p:cNvPr id="135" name="Google Shape;135;p12"/>
          <p:cNvSpPr/>
          <p:nvPr/>
        </p:nvSpPr>
        <p:spPr>
          <a:xfrm>
            <a:off x="4667250" y="1638300"/>
            <a:ext cx="10479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720">
                <a:solidFill>
                  <a:srgbClr val="7A5CB8"/>
                </a:solidFill>
                <a:latin typeface="DM Sans"/>
                <a:ea typeface="DM Sans"/>
                <a:cs typeface="DM Sans"/>
                <a:sym typeface="DM Sans"/>
              </a:rPr>
              <a:t>60%</a:t>
            </a:r>
            <a:endParaRPr b="1" sz="2720">
              <a:solidFill>
                <a:srgbClr val="7A5CB8"/>
              </a:solidFill>
              <a:latin typeface="DM Sans"/>
              <a:ea typeface="DM Sans"/>
              <a:cs typeface="DM Sans"/>
              <a:sym typeface="DM Sans"/>
            </a:endParaRPr>
          </a:p>
        </p:txBody>
      </p:sp>
      <p:sp>
        <p:nvSpPr>
          <p:cNvPr id="136" name="Google Shape;136;p12"/>
          <p:cNvSpPr/>
          <p:nvPr/>
        </p:nvSpPr>
        <p:spPr>
          <a:xfrm>
            <a:off x="5762625" y="1771650"/>
            <a:ext cx="1524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8C6D92"/>
                </a:solidFill>
                <a:latin typeface="DM Sans Medium"/>
                <a:ea typeface="DM Sans Medium"/>
                <a:cs typeface="DM Sans Medium"/>
                <a:sym typeface="DM Sans Medium"/>
              </a:rPr>
              <a:t>of score</a:t>
            </a:r>
            <a:endParaRPr b="0" sz="1400">
              <a:solidFill>
                <a:srgbClr val="8C6D92"/>
              </a:solidFill>
              <a:latin typeface="DM Sans Medium"/>
              <a:ea typeface="DM Sans Medium"/>
              <a:cs typeface="DM Sans Medium"/>
              <a:sym typeface="DM Sans Medium"/>
            </a:endParaRPr>
          </a:p>
        </p:txBody>
      </p:sp>
      <p:sp>
        <p:nvSpPr>
          <p:cNvPr id="137" name="Google Shape;137;p12"/>
          <p:cNvSpPr/>
          <p:nvPr/>
        </p:nvSpPr>
        <p:spPr>
          <a:xfrm>
            <a:off x="4667250" y="2152650"/>
            <a:ext cx="2905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5A435E"/>
                </a:solidFill>
                <a:latin typeface="DM Sans"/>
                <a:ea typeface="DM Sans"/>
                <a:cs typeface="DM Sans"/>
                <a:sym typeface="DM Sans"/>
              </a:rPr>
              <a:t>• Extra Trees output</a:t>
            </a:r>
            <a:endParaRPr b="0" sz="1250">
              <a:solidFill>
                <a:srgbClr val="5A435E"/>
              </a:solidFill>
              <a:latin typeface="DM Sans"/>
              <a:ea typeface="DM Sans"/>
              <a:cs typeface="DM Sans"/>
              <a:sym typeface="DM Sans"/>
            </a:endParaRPr>
          </a:p>
        </p:txBody>
      </p:sp>
      <p:sp>
        <p:nvSpPr>
          <p:cNvPr id="138" name="Google Shape;138;p12"/>
          <p:cNvSpPr/>
          <p:nvPr/>
        </p:nvSpPr>
        <p:spPr>
          <a:xfrm>
            <a:off x="4667250" y="2533650"/>
            <a:ext cx="29052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5A435E"/>
                </a:solidFill>
                <a:latin typeface="DM Sans"/>
                <a:ea typeface="DM Sans"/>
                <a:cs typeface="DM Sans"/>
                <a:sym typeface="DM Sans"/>
              </a:rPr>
              <a:t>• Uses 11 self-reportable inputs</a:t>
            </a:r>
            <a:endParaRPr b="0" sz="1250">
              <a:solidFill>
                <a:srgbClr val="5A435E"/>
              </a:solidFill>
              <a:latin typeface="DM Sans"/>
              <a:ea typeface="DM Sans"/>
              <a:cs typeface="DM Sans"/>
              <a:sym typeface="DM Sans"/>
            </a:endParaRPr>
          </a:p>
        </p:txBody>
      </p:sp>
      <p:sp>
        <p:nvSpPr>
          <p:cNvPr id="139" name="Google Shape;139;p12"/>
          <p:cNvSpPr/>
          <p:nvPr/>
        </p:nvSpPr>
        <p:spPr>
          <a:xfrm>
            <a:off x="4667250" y="2914650"/>
            <a:ext cx="2905200" cy="628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5A435E"/>
                </a:solidFill>
                <a:latin typeface="DM Sans"/>
                <a:ea typeface="DM Sans"/>
                <a:cs typeface="DM Sans"/>
                <a:sym typeface="DM Sans"/>
              </a:rPr>
              <a:t>• Symptoms, BMI, period regularity and period length</a:t>
            </a:r>
            <a:endParaRPr b="0" sz="1250">
              <a:solidFill>
                <a:srgbClr val="5A435E"/>
              </a:solidFill>
              <a:latin typeface="DM Sans"/>
              <a:ea typeface="DM Sans"/>
              <a:cs typeface="DM Sans"/>
              <a:sym typeface="DM Sans"/>
            </a:endParaRPr>
          </a:p>
        </p:txBody>
      </p:sp>
      <p:sp>
        <p:nvSpPr>
          <p:cNvPr id="140" name="Google Shape;140;p12"/>
          <p:cNvSpPr/>
          <p:nvPr/>
        </p:nvSpPr>
        <p:spPr>
          <a:xfrm>
            <a:off x="8286750" y="1333500"/>
            <a:ext cx="3143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B2340"/>
                </a:solidFill>
                <a:latin typeface="DM Sans"/>
                <a:ea typeface="DM Sans"/>
                <a:cs typeface="DM Sans"/>
                <a:sym typeface="DM Sans"/>
              </a:rPr>
              <a:t>Example: Sarah</a:t>
            </a:r>
            <a:endParaRPr b="1" sz="1600">
              <a:solidFill>
                <a:srgbClr val="3B2340"/>
              </a:solidFill>
              <a:latin typeface="DM Sans"/>
              <a:ea typeface="DM Sans"/>
              <a:cs typeface="DM Sans"/>
              <a:sym typeface="DM Sans"/>
            </a:endParaRPr>
          </a:p>
        </p:txBody>
      </p:sp>
      <p:sp>
        <p:nvSpPr>
          <p:cNvPr id="141" name="Google Shape;141;p12"/>
          <p:cNvSpPr/>
          <p:nvPr/>
        </p:nvSpPr>
        <p:spPr>
          <a:xfrm>
            <a:off x="8286750" y="1695450"/>
            <a:ext cx="31434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350">
                <a:solidFill>
                  <a:srgbClr val="5A435E"/>
                </a:solidFill>
                <a:latin typeface="DM Sans Medium"/>
                <a:ea typeface="DM Sans Medium"/>
                <a:cs typeface="DM Sans Medium"/>
                <a:sym typeface="DM Sans Medium"/>
              </a:rPr>
              <a:t>Cycle component (40%)</a:t>
            </a:r>
            <a:endParaRPr b="0" sz="1350">
              <a:solidFill>
                <a:srgbClr val="5A435E"/>
              </a:solidFill>
              <a:latin typeface="DM Sans Medium"/>
              <a:ea typeface="DM Sans Medium"/>
              <a:cs typeface="DM Sans Medium"/>
              <a:sym typeface="DM Sans Medium"/>
            </a:endParaRPr>
          </a:p>
        </p:txBody>
      </p:sp>
      <p:sp>
        <p:nvSpPr>
          <p:cNvPr id="142" name="Google Shape;142;p12"/>
          <p:cNvSpPr/>
          <p:nvPr/>
        </p:nvSpPr>
        <p:spPr>
          <a:xfrm>
            <a:off x="8286750" y="1974980"/>
            <a:ext cx="3143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FF85B3"/>
                </a:solidFill>
                <a:latin typeface="DM Sans"/>
                <a:ea typeface="DM Sans"/>
                <a:cs typeface="DM Sans"/>
                <a:sym typeface="DM Sans"/>
              </a:rPr>
              <a:t>= 30.0 points</a:t>
            </a:r>
            <a:endParaRPr b="1" sz="1600">
              <a:solidFill>
                <a:srgbClr val="FF85B3"/>
              </a:solidFill>
              <a:latin typeface="DM Sans"/>
              <a:ea typeface="DM Sans"/>
              <a:cs typeface="DM Sans"/>
              <a:sym typeface="DM Sans"/>
            </a:endParaRPr>
          </a:p>
        </p:txBody>
      </p:sp>
      <p:sp>
        <p:nvSpPr>
          <p:cNvPr id="143" name="Google Shape;143;p12"/>
          <p:cNvSpPr/>
          <p:nvPr/>
        </p:nvSpPr>
        <p:spPr>
          <a:xfrm>
            <a:off x="8286750" y="2290860"/>
            <a:ext cx="31434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350">
                <a:solidFill>
                  <a:srgbClr val="5A435E"/>
                </a:solidFill>
                <a:latin typeface="DM Sans Medium"/>
                <a:ea typeface="DM Sans Medium"/>
                <a:cs typeface="DM Sans Medium"/>
                <a:sym typeface="DM Sans Medium"/>
              </a:rPr>
              <a:t>Model 2 component (60%)</a:t>
            </a:r>
            <a:endParaRPr b="0" sz="1350">
              <a:solidFill>
                <a:srgbClr val="5A435E"/>
              </a:solidFill>
              <a:latin typeface="DM Sans Medium"/>
              <a:ea typeface="DM Sans Medium"/>
              <a:cs typeface="DM Sans Medium"/>
              <a:sym typeface="DM Sans Medium"/>
            </a:endParaRPr>
          </a:p>
        </p:txBody>
      </p:sp>
      <p:sp>
        <p:nvSpPr>
          <p:cNvPr id="144" name="Google Shape;144;p12"/>
          <p:cNvSpPr/>
          <p:nvPr/>
        </p:nvSpPr>
        <p:spPr>
          <a:xfrm>
            <a:off x="8251760" y="3009900"/>
            <a:ext cx="3143400" cy="514500"/>
          </a:xfrm>
          <a:prstGeom prst="roundRect">
            <a:avLst>
              <a:gd fmla="val 18518" name="adj"/>
            </a:avLst>
          </a:prstGeom>
          <a:solidFill>
            <a:srgbClr val="EEE5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2"/>
          <p:cNvSpPr/>
          <p:nvPr/>
        </p:nvSpPr>
        <p:spPr>
          <a:xfrm>
            <a:off x="8286750" y="2570389"/>
            <a:ext cx="3143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C09BFF"/>
                </a:solidFill>
                <a:latin typeface="DM Sans"/>
                <a:ea typeface="DM Sans"/>
                <a:cs typeface="DM Sans"/>
                <a:sym typeface="DM Sans"/>
              </a:rPr>
              <a:t>= 58.0 points</a:t>
            </a:r>
            <a:endParaRPr b="1" sz="1600">
              <a:solidFill>
                <a:srgbClr val="C09BFF"/>
              </a:solidFill>
              <a:latin typeface="DM Sans"/>
              <a:ea typeface="DM Sans"/>
              <a:cs typeface="DM Sans"/>
              <a:sym typeface="DM Sans"/>
            </a:endParaRPr>
          </a:p>
        </p:txBody>
      </p:sp>
      <p:sp>
        <p:nvSpPr>
          <p:cNvPr id="146" name="Google Shape;146;p12"/>
          <p:cNvSpPr/>
          <p:nvPr/>
        </p:nvSpPr>
        <p:spPr>
          <a:xfrm>
            <a:off x="8307161" y="3086100"/>
            <a:ext cx="13335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3B2340"/>
                </a:solidFill>
                <a:latin typeface="DM Sans"/>
                <a:ea typeface="DM Sans"/>
                <a:cs typeface="DM Sans"/>
                <a:sym typeface="DM Sans"/>
              </a:rPr>
              <a:t>CycleSignal </a:t>
            </a:r>
            <a:endParaRPr b="1" sz="1300">
              <a:solidFill>
                <a:srgbClr val="3B2340"/>
              </a:solidFill>
              <a:latin typeface="DM Sans"/>
              <a:ea typeface="DM Sans"/>
              <a:cs typeface="DM Sans"/>
              <a:sym typeface="DM Sans"/>
            </a:endParaRPr>
          </a:p>
          <a:p>
            <a:pPr indent="0" lvl="0" marL="0" rtl="0" algn="l">
              <a:spcBef>
                <a:spcPts val="0"/>
              </a:spcBef>
              <a:spcAft>
                <a:spcPts val="0"/>
              </a:spcAft>
              <a:buNone/>
            </a:pPr>
            <a:r>
              <a:rPr b="1" lang="en-US" sz="1300">
                <a:solidFill>
                  <a:srgbClr val="3B2340"/>
                </a:solidFill>
                <a:latin typeface="DM Sans"/>
                <a:ea typeface="DM Sans"/>
                <a:cs typeface="DM Sans"/>
                <a:sym typeface="DM Sans"/>
              </a:rPr>
              <a:t>score</a:t>
            </a:r>
            <a:endParaRPr b="1" sz="1300">
              <a:solidFill>
                <a:srgbClr val="3B2340"/>
              </a:solidFill>
              <a:latin typeface="DM Sans"/>
              <a:ea typeface="DM Sans"/>
              <a:cs typeface="DM Sans"/>
              <a:sym typeface="DM Sans"/>
            </a:endParaRPr>
          </a:p>
        </p:txBody>
      </p:sp>
      <p:sp>
        <p:nvSpPr>
          <p:cNvPr id="147" name="Google Shape;147;p12"/>
          <p:cNvSpPr/>
          <p:nvPr/>
        </p:nvSpPr>
        <p:spPr>
          <a:xfrm>
            <a:off x="9667875" y="3057525"/>
            <a:ext cx="16191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1" lang="en-US" sz="2000">
                <a:solidFill>
                  <a:srgbClr val="7A5CB8"/>
                </a:solidFill>
                <a:latin typeface="DM Sans"/>
                <a:ea typeface="DM Sans"/>
                <a:cs typeface="DM Sans"/>
                <a:sym typeface="DM Sans"/>
              </a:rPr>
              <a:t>88.0 / 100</a:t>
            </a:r>
            <a:endParaRPr b="1" sz="2000">
              <a:solidFill>
                <a:srgbClr val="7A5CB8"/>
              </a:solidFill>
              <a:latin typeface="DM Sans"/>
              <a:ea typeface="DM Sans"/>
              <a:cs typeface="DM Sans"/>
              <a:sym typeface="DM Sans"/>
            </a:endParaRPr>
          </a:p>
        </p:txBody>
      </p:sp>
      <p:sp>
        <p:nvSpPr>
          <p:cNvPr id="148" name="Google Shape;148;p12"/>
          <p:cNvSpPr/>
          <p:nvPr/>
        </p:nvSpPr>
        <p:spPr>
          <a:xfrm>
            <a:off x="809625" y="3905250"/>
            <a:ext cx="10858500" cy="4764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2"/>
          <p:cNvSpPr/>
          <p:nvPr/>
        </p:nvSpPr>
        <p:spPr>
          <a:xfrm>
            <a:off x="1000125" y="4010025"/>
            <a:ext cx="20955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50">
                <a:solidFill>
                  <a:srgbClr val="3B2340"/>
                </a:solidFill>
                <a:latin typeface="DM Sans"/>
                <a:ea typeface="DM Sans"/>
                <a:cs typeface="DM Sans"/>
                <a:sym typeface="DM Sans"/>
              </a:rPr>
              <a:t>Temperature / ovulation</a:t>
            </a:r>
            <a:endParaRPr b="1" sz="1250">
              <a:solidFill>
                <a:srgbClr val="3B2340"/>
              </a:solidFill>
              <a:latin typeface="DM Sans"/>
              <a:ea typeface="DM Sans"/>
              <a:cs typeface="DM Sans"/>
              <a:sym typeface="DM Sans"/>
            </a:endParaRPr>
          </a:p>
        </p:txBody>
      </p:sp>
      <p:sp>
        <p:nvSpPr>
          <p:cNvPr id="150" name="Google Shape;150;p12"/>
          <p:cNvSpPr/>
          <p:nvPr/>
        </p:nvSpPr>
        <p:spPr>
          <a:xfrm>
            <a:off x="3238500" y="3962400"/>
            <a:ext cx="82392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5470"/>
                </a:solidFill>
                <a:latin typeface="DM Sans"/>
                <a:ea typeface="DM Sans"/>
                <a:cs typeface="DM Sans"/>
                <a:sym typeface="DM Sans"/>
              </a:rPr>
              <a:t>Context only</a:t>
            </a:r>
            <a:r>
              <a:rPr lang="en-US" sz="1200">
                <a:solidFill>
                  <a:srgbClr val="6B5470"/>
                </a:solidFill>
                <a:latin typeface="DM Sans"/>
                <a:ea typeface="DM Sans"/>
                <a:cs typeface="DM Sans"/>
                <a:sym typeface="DM Sans"/>
              </a:rPr>
              <a:t>, ex</a:t>
            </a:r>
            <a:r>
              <a:rPr b="0" lang="en-US" sz="1200">
                <a:solidFill>
                  <a:srgbClr val="6B5470"/>
                </a:solidFill>
                <a:latin typeface="DM Sans"/>
                <a:ea typeface="DM Sans"/>
                <a:cs typeface="DM Sans"/>
                <a:sym typeface="DM Sans"/>
              </a:rPr>
              <a:t>cluded </a:t>
            </a:r>
            <a:r>
              <a:rPr lang="en-US" sz="1200">
                <a:solidFill>
                  <a:srgbClr val="6B5470"/>
                </a:solidFill>
                <a:latin typeface="DM Sans"/>
                <a:ea typeface="DM Sans"/>
                <a:cs typeface="DM Sans"/>
                <a:sym typeface="DM Sans"/>
              </a:rPr>
              <a:t>from</a:t>
            </a:r>
            <a:r>
              <a:rPr b="0" lang="en-US" sz="1200">
                <a:solidFill>
                  <a:srgbClr val="6B5470"/>
                </a:solidFill>
                <a:latin typeface="DM Sans"/>
                <a:ea typeface="DM Sans"/>
                <a:cs typeface="DM Sans"/>
                <a:sym typeface="DM Sans"/>
              </a:rPr>
              <a:t> the score </a:t>
            </a:r>
            <a:r>
              <a:rPr lang="en-US" sz="1200">
                <a:solidFill>
                  <a:srgbClr val="6B5470"/>
                </a:solidFill>
                <a:latin typeface="DM Sans"/>
                <a:ea typeface="DM Sans"/>
                <a:cs typeface="DM Sans"/>
                <a:sym typeface="DM Sans"/>
              </a:rPr>
              <a:t>and escalation</a:t>
            </a:r>
            <a:endParaRPr b="0" sz="1200">
              <a:solidFill>
                <a:srgbClr val="6B5470"/>
              </a:solidFill>
              <a:latin typeface="DM Sans"/>
              <a:ea typeface="DM Sans"/>
              <a:cs typeface="DM Sans"/>
              <a:sym typeface="DM Sans"/>
            </a:endParaRPr>
          </a:p>
        </p:txBody>
      </p:sp>
      <p:sp>
        <p:nvSpPr>
          <p:cNvPr id="151" name="Google Shape;151;p12"/>
          <p:cNvSpPr/>
          <p:nvPr/>
        </p:nvSpPr>
        <p:spPr>
          <a:xfrm>
            <a:off x="809625" y="4476750"/>
            <a:ext cx="10858500" cy="4764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2"/>
          <p:cNvSpPr/>
          <p:nvPr/>
        </p:nvSpPr>
        <p:spPr>
          <a:xfrm>
            <a:off x="1000125" y="4581525"/>
            <a:ext cx="20955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50">
                <a:solidFill>
                  <a:srgbClr val="3B2340"/>
                </a:solidFill>
                <a:latin typeface="DM Sans"/>
                <a:ea typeface="DM Sans"/>
                <a:cs typeface="DM Sans"/>
                <a:sym typeface="DM Sans"/>
              </a:rPr>
              <a:t>Score bands</a:t>
            </a:r>
            <a:endParaRPr b="1" sz="1250">
              <a:solidFill>
                <a:srgbClr val="3B2340"/>
              </a:solidFill>
              <a:latin typeface="DM Sans"/>
              <a:ea typeface="DM Sans"/>
              <a:cs typeface="DM Sans"/>
              <a:sym typeface="DM Sans"/>
            </a:endParaRPr>
          </a:p>
        </p:txBody>
      </p:sp>
      <p:sp>
        <p:nvSpPr>
          <p:cNvPr id="153" name="Google Shape;153;p12"/>
          <p:cNvSpPr/>
          <p:nvPr/>
        </p:nvSpPr>
        <p:spPr>
          <a:xfrm>
            <a:off x="3238500" y="4581525"/>
            <a:ext cx="82392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7A5CB8"/>
                </a:solidFill>
                <a:latin typeface="DM Sans"/>
                <a:ea typeface="DM Sans"/>
                <a:cs typeface="DM Sans"/>
                <a:sym typeface="DM Sans"/>
              </a:rPr>
              <a:t>Low · Some patterns to monitor · Increased · Elevated</a:t>
            </a:r>
            <a:endParaRPr b="1" sz="1300">
              <a:solidFill>
                <a:srgbClr val="7A5CB8"/>
              </a:solidFill>
              <a:latin typeface="DM Sans"/>
              <a:ea typeface="DM Sans"/>
              <a:cs typeface="DM Sans"/>
              <a:sym typeface="DM Sans"/>
            </a:endParaRPr>
          </a:p>
        </p:txBody>
      </p:sp>
      <p:sp>
        <p:nvSpPr>
          <p:cNvPr id="154" name="Google Shape;154;p12"/>
          <p:cNvSpPr/>
          <p:nvPr/>
        </p:nvSpPr>
        <p:spPr>
          <a:xfrm>
            <a:off x="809625" y="5048250"/>
            <a:ext cx="10858500" cy="476400"/>
          </a:xfrm>
          <a:prstGeom prst="roundRect">
            <a:avLst>
              <a:gd fmla="val 24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2"/>
          <p:cNvSpPr/>
          <p:nvPr/>
        </p:nvSpPr>
        <p:spPr>
          <a:xfrm>
            <a:off x="1000125" y="5153025"/>
            <a:ext cx="20955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50">
                <a:solidFill>
                  <a:srgbClr val="3B2340"/>
                </a:solidFill>
                <a:latin typeface="DM Sans"/>
                <a:ea typeface="DM Sans"/>
                <a:cs typeface="DM Sans"/>
                <a:sym typeface="DM Sans"/>
              </a:rPr>
              <a:t>Agent recommendation</a:t>
            </a:r>
            <a:endParaRPr b="1" sz="1250">
              <a:solidFill>
                <a:srgbClr val="3B2340"/>
              </a:solidFill>
              <a:latin typeface="DM Sans"/>
              <a:ea typeface="DM Sans"/>
              <a:cs typeface="DM Sans"/>
              <a:sym typeface="DM Sans"/>
            </a:endParaRPr>
          </a:p>
        </p:txBody>
      </p:sp>
      <p:sp>
        <p:nvSpPr>
          <p:cNvPr id="156" name="Google Shape;156;p12"/>
          <p:cNvSpPr/>
          <p:nvPr/>
        </p:nvSpPr>
        <p:spPr>
          <a:xfrm>
            <a:off x="3238500" y="5105400"/>
            <a:ext cx="82392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5470"/>
                </a:solidFill>
                <a:latin typeface="DM Sans"/>
                <a:ea typeface="DM Sans"/>
                <a:cs typeface="DM Sans"/>
                <a:sym typeface="DM Sans"/>
              </a:rPr>
              <a:t>Uses separate safety/escalation rules, not the score alone (e.g. ‘worth discussing with a doctor soon’).</a:t>
            </a:r>
            <a:endParaRPr b="0" sz="1200">
              <a:solidFill>
                <a:srgbClr val="6B5470"/>
              </a:solidFill>
              <a:latin typeface="DM Sans"/>
              <a:ea typeface="DM Sans"/>
              <a:cs typeface="DM Sans"/>
              <a:sym typeface="DM Sans"/>
            </a:endParaRPr>
          </a:p>
        </p:txBody>
      </p:sp>
      <p:sp>
        <p:nvSpPr>
          <p:cNvPr id="157" name="Google Shape;157;p12"/>
          <p:cNvSpPr/>
          <p:nvPr/>
        </p:nvSpPr>
        <p:spPr>
          <a:xfrm>
            <a:off x="809625" y="5695950"/>
            <a:ext cx="10858500" cy="266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8C7491"/>
                </a:solidFill>
                <a:latin typeface="DM Sans"/>
                <a:ea typeface="DM Sans"/>
                <a:cs typeface="DM Sans"/>
                <a:sym typeface="DM Sans"/>
              </a:rPr>
              <a:t>Prototype only. The 40/60 weights and score bands are project heuristics, not clinically validated. The combined score is not a probability of PCOS or a diagnosis.</a:t>
            </a:r>
            <a:endParaRPr b="0" sz="1000">
              <a:solidFill>
                <a:srgbClr val="8C7491"/>
              </a:solidFill>
              <a:latin typeface="DM Sans"/>
              <a:ea typeface="DM Sans"/>
              <a:cs typeface="DM Sans"/>
              <a:sym typeface="DM Sans"/>
            </a:endParaRPr>
          </a:p>
        </p:txBody>
      </p:sp>
      <p:sp>
        <p:nvSpPr>
          <p:cNvPr id="158" name="Google Shape;158;p12"/>
          <p:cNvSpPr/>
          <p:nvPr/>
        </p:nvSpPr>
        <p:spPr>
          <a:xfrm>
            <a:off x="809625" y="6286500"/>
            <a:ext cx="3810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9C83A2"/>
                </a:solidFill>
                <a:latin typeface="DM Sans Medium"/>
                <a:ea typeface="DM Sans Medium"/>
                <a:cs typeface="DM Sans Medium"/>
                <a:sym typeface="DM Sans Medium"/>
              </a:rPr>
              <a:t>CycleSignal · </a:t>
            </a:r>
            <a:r>
              <a:rPr lang="en-US" sz="1100">
                <a:solidFill>
                  <a:srgbClr val="9C83A2"/>
                </a:solidFill>
                <a:latin typeface="DM Sans Medium"/>
                <a:ea typeface="DM Sans Medium"/>
                <a:cs typeface="DM Sans Medium"/>
                <a:sym typeface="DM Sans Medium"/>
              </a:rPr>
              <a:t>group </a:t>
            </a:r>
            <a:r>
              <a:rPr b="0" lang="en-US" sz="1100">
                <a:solidFill>
                  <a:srgbClr val="9C83A2"/>
                </a:solidFill>
                <a:latin typeface="DM Sans Medium"/>
                <a:ea typeface="DM Sans Medium"/>
                <a:cs typeface="DM Sans Medium"/>
                <a:sym typeface="DM Sans Medium"/>
              </a:rPr>
              <a:t>showcase</a:t>
            </a:r>
            <a:endParaRPr b="0" sz="1100">
              <a:solidFill>
                <a:srgbClr val="9C83A2"/>
              </a:solidFill>
              <a:latin typeface="DM Sans Medium"/>
              <a:ea typeface="DM Sans Medium"/>
              <a:cs typeface="DM Sans Medium"/>
              <a:sym typeface="DM Sans Medium"/>
            </a:endParaRPr>
          </a:p>
        </p:txBody>
      </p:sp>
      <p:sp>
        <p:nvSpPr>
          <p:cNvPr id="159" name="Google Shape;159;p12"/>
          <p:cNvSpPr/>
          <p:nvPr/>
        </p:nvSpPr>
        <p:spPr>
          <a:xfrm>
            <a:off x="11239500" y="6286500"/>
            <a:ext cx="4287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lang="en-US" sz="1100">
                <a:solidFill>
                  <a:srgbClr val="9C83A2"/>
                </a:solidFill>
                <a:latin typeface="DM Sans Medium"/>
                <a:ea typeface="DM Sans Medium"/>
                <a:cs typeface="DM Sans Medium"/>
                <a:sym typeface="DM Sans Medium"/>
              </a:rPr>
              <a:t>7</a:t>
            </a:r>
            <a:endParaRPr b="0" sz="1100">
              <a:solidFill>
                <a:srgbClr val="9C83A2"/>
              </a:solidFill>
              <a:latin typeface="DM Sans Medium"/>
              <a:ea typeface="DM Sans Medium"/>
              <a:cs typeface="DM Sans Medium"/>
              <a:sym typeface="DM Sans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p:nvPr/>
        </p:nvSpPr>
        <p:spPr>
          <a:xfrm>
            <a:off x="812782" y="812784"/>
            <a:ext cx="10883400" cy="468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Issues we hit, and how we resolved them</a:t>
            </a:r>
            <a:endParaRPr b="0" i="0" sz="3200" u="none" cap="none" strike="noStrike">
              <a:solidFill>
                <a:schemeClr val="dk1"/>
              </a:solidFill>
              <a:latin typeface="Calibri"/>
              <a:ea typeface="Calibri"/>
              <a:cs typeface="Calibri"/>
              <a:sym typeface="Calibri"/>
            </a:endParaRPr>
          </a:p>
        </p:txBody>
      </p:sp>
      <p:graphicFrame>
        <p:nvGraphicFramePr>
          <p:cNvPr id="166" name="Google Shape;166;p13"/>
          <p:cNvGraphicFramePr/>
          <p:nvPr/>
        </p:nvGraphicFramePr>
        <p:xfrm>
          <a:off x="824327" y="1495678"/>
          <a:ext cx="3000000" cy="3000000"/>
        </p:xfrm>
        <a:graphic>
          <a:graphicData uri="http://schemas.openxmlformats.org/drawingml/2006/table">
            <a:tbl>
              <a:tblPr>
                <a:noFill/>
                <a:tableStyleId>{CDA2F613-993C-4B29-8FF0-6B7151607D89}</a:tableStyleId>
              </a:tblPr>
              <a:tblGrid>
                <a:gridCol w="2533175"/>
                <a:gridCol w="4010850"/>
                <a:gridCol w="4010850"/>
              </a:tblGrid>
              <a:tr h="387325">
                <a:tc>
                  <a:txBody>
                    <a:bodyPr/>
                    <a:lstStyle/>
                    <a:p>
                      <a:pPr indent="0" lvl="0" marL="0" marR="0" rtl="0" algn="l">
                        <a:lnSpc>
                          <a:spcPct val="139984"/>
                        </a:lnSpc>
                        <a:spcBef>
                          <a:spcPts val="0"/>
                        </a:spcBef>
                        <a:spcAft>
                          <a:spcPts val="0"/>
                        </a:spcAft>
                        <a:buClr>
                          <a:srgbClr val="3B2340"/>
                        </a:buClr>
                        <a:buSzPts val="1288"/>
                        <a:buFont typeface="DM Sans"/>
                        <a:buNone/>
                      </a:pPr>
                      <a:r>
                        <a:rPr b="1" lang="en-US" sz="1288" u="none" cap="none" strike="noStrike">
                          <a:solidFill>
                            <a:srgbClr val="3B2340"/>
                          </a:solidFill>
                          <a:latin typeface="DM Sans"/>
                          <a:ea typeface="DM Sans"/>
                          <a:cs typeface="DM Sans"/>
                          <a:sym typeface="DM Sans"/>
                        </a:rPr>
                        <a:t>Issue</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39984"/>
                        </a:lnSpc>
                        <a:spcBef>
                          <a:spcPts val="0"/>
                        </a:spcBef>
                        <a:spcAft>
                          <a:spcPts val="0"/>
                        </a:spcAft>
                        <a:buClr>
                          <a:srgbClr val="3B2340"/>
                        </a:buClr>
                        <a:buSzPts val="1288"/>
                        <a:buFont typeface="DM Sans"/>
                        <a:buNone/>
                      </a:pPr>
                      <a:r>
                        <a:rPr b="1" lang="en-US" sz="1288" u="none" cap="none" strike="noStrike">
                          <a:solidFill>
                            <a:srgbClr val="3B2340"/>
                          </a:solidFill>
                          <a:latin typeface="DM Sans"/>
                          <a:ea typeface="DM Sans"/>
                          <a:cs typeface="DM Sans"/>
                          <a:sym typeface="DM Sans"/>
                        </a:rPr>
                        <a:t>What happened</a:t>
                      </a:r>
                      <a:endParaRPr sz="1288" u="none" cap="none" strike="noStrike">
                        <a:latin typeface="DM Sans"/>
                        <a:ea typeface="DM Sans"/>
                        <a:cs typeface="DM Sans"/>
                        <a:sym typeface="DM Sans"/>
                      </a:endParaRPr>
                    </a:p>
                  </a:txBody>
                  <a:tcPr marT="57250" marB="57250" marR="57250" marL="57250">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39984"/>
                        </a:lnSpc>
                        <a:spcBef>
                          <a:spcPts val="0"/>
                        </a:spcBef>
                        <a:spcAft>
                          <a:spcPts val="0"/>
                        </a:spcAft>
                        <a:buClr>
                          <a:srgbClr val="3B2340"/>
                        </a:buClr>
                        <a:buSzPts val="1288"/>
                        <a:buFont typeface="DM Sans"/>
                        <a:buNone/>
                      </a:pPr>
                      <a:r>
                        <a:rPr b="1" lang="en-US" sz="1288" u="none" cap="none" strike="noStrike">
                          <a:solidFill>
                            <a:srgbClr val="3B2340"/>
                          </a:solidFill>
                          <a:latin typeface="DM Sans"/>
                          <a:ea typeface="DM Sans"/>
                          <a:cs typeface="DM Sans"/>
                          <a:sym typeface="DM Sans"/>
                        </a:rPr>
                        <a:t>Resolution</a:t>
                      </a:r>
                      <a:endParaRPr sz="1288" u="none" cap="none" strike="noStrike">
                        <a:latin typeface="DM Sans"/>
                        <a:ea typeface="DM Sans"/>
                        <a:cs typeface="DM Sans"/>
                        <a:sym typeface="DM Sans"/>
                      </a:endParaRPr>
                    </a:p>
                  </a:txBody>
                  <a:tcPr marT="57250" marB="57250" marR="57250" marL="57250">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r>
              <a:tr h="616250">
                <a:tc>
                  <a:txBody>
                    <a:bodyPr/>
                    <a:lstStyle/>
                    <a:p>
                      <a:pPr indent="0" lvl="0" marL="0" marR="0" rtl="0" algn="l">
                        <a:lnSpc>
                          <a:spcPct val="139984"/>
                        </a:lnSpc>
                        <a:spcBef>
                          <a:spcPts val="0"/>
                        </a:spcBef>
                        <a:spcAft>
                          <a:spcPts val="0"/>
                        </a:spcAft>
                        <a:buClr>
                          <a:srgbClr val="C2386B"/>
                        </a:buClr>
                        <a:buSzPts val="1288"/>
                        <a:buFont typeface="DM Sans"/>
                        <a:buNone/>
                      </a:pPr>
                      <a:r>
                        <a:rPr lang="en-US" sz="1288" u="none" cap="none" strike="noStrike">
                          <a:solidFill>
                            <a:srgbClr val="C2386B"/>
                          </a:solidFill>
                          <a:latin typeface="DM Sans"/>
                          <a:ea typeface="DM Sans"/>
                          <a:cs typeface="DM Sans"/>
                          <a:sym typeface="DM Sans"/>
                        </a:rPr>
                        <a:t>Two datasets, no link</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No dataset has both wearable data and a PCOS diagnosis.</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Each model is tested on its own. The combined score is not validated on anyone.</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r>
              <a:tr h="387400">
                <a:tc>
                  <a:txBody>
                    <a:bodyPr/>
                    <a:lstStyle/>
                    <a:p>
                      <a:pPr indent="0" lvl="0" marL="0" marR="0" rtl="0" algn="l">
                        <a:lnSpc>
                          <a:spcPct val="139984"/>
                        </a:lnSpc>
                        <a:spcBef>
                          <a:spcPts val="0"/>
                        </a:spcBef>
                        <a:spcAft>
                          <a:spcPts val="0"/>
                        </a:spcAft>
                        <a:buClr>
                          <a:srgbClr val="C2386B"/>
                        </a:buClr>
                        <a:buSzPts val="1288"/>
                        <a:buFont typeface="DM Sans"/>
                        <a:buNone/>
                      </a:pPr>
                      <a:r>
                        <a:rPr lang="en-US" sz="1288" u="none" cap="none" strike="noStrike">
                          <a:solidFill>
                            <a:srgbClr val="C2386B"/>
                          </a:solidFill>
                          <a:latin typeface="DM Sans"/>
                          <a:ea typeface="DM Sans"/>
                          <a:cs typeface="DM Sans"/>
                          <a:sym typeface="DM Sans"/>
                        </a:rPr>
                        <a:t>Ovulation check failed</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Temperature failed our pre-set checks.</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Shown as context only and kept out of the score.</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616325">
                <a:tc>
                  <a:txBody>
                    <a:bodyPr/>
                    <a:lstStyle/>
                    <a:p>
                      <a:pPr indent="0" lvl="0" marL="0" marR="0" rtl="0" algn="l">
                        <a:lnSpc>
                          <a:spcPct val="139984"/>
                        </a:lnSpc>
                        <a:spcBef>
                          <a:spcPts val="0"/>
                        </a:spcBef>
                        <a:spcAft>
                          <a:spcPts val="0"/>
                        </a:spcAft>
                        <a:buClr>
                          <a:srgbClr val="C2386B"/>
                        </a:buClr>
                        <a:buSzPts val="1288"/>
                        <a:buFont typeface="DM Sans"/>
                        <a:buNone/>
                      </a:pPr>
                      <a:r>
                        <a:rPr lang="en-US" sz="1288" u="none" cap="none" strike="noStrike">
                          <a:solidFill>
                            <a:srgbClr val="C2386B"/>
                          </a:solidFill>
                          <a:latin typeface="DM Sans"/>
                          <a:ea typeface="DM Sans"/>
                          <a:cs typeface="DM Sans"/>
                          <a:sym typeface="DM Sans"/>
                        </a:rPr>
                        <a:t>Counting evidence twice</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Cycle answers could count twice in the score.</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a:solidFill>
                            <a:srgbClr val="3B2340"/>
                          </a:solidFill>
                          <a:latin typeface="DM Sans"/>
                          <a:ea typeface="DM Sans"/>
                          <a:cs typeface="DM Sans"/>
                          <a:sym typeface="DM Sans"/>
                        </a:rPr>
                        <a:t>Recalculated the Model 2 flag with cycle inputs neutralised before combining evidence. </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616325">
                <a:tc>
                  <a:txBody>
                    <a:bodyPr/>
                    <a:lstStyle/>
                    <a:p>
                      <a:pPr indent="0" lvl="0" marL="0" marR="0" rtl="0" algn="l">
                        <a:lnSpc>
                          <a:spcPct val="139984"/>
                        </a:lnSpc>
                        <a:spcBef>
                          <a:spcPts val="0"/>
                        </a:spcBef>
                        <a:spcAft>
                          <a:spcPts val="0"/>
                        </a:spcAft>
                        <a:buClr>
                          <a:srgbClr val="C2386B"/>
                        </a:buClr>
                        <a:buSzPts val="1288"/>
                        <a:buFont typeface="DM Sans"/>
                        <a:buNone/>
                      </a:pPr>
                      <a:r>
                        <a:rPr lang="en-US" sz="1288" u="none" cap="none" strike="noStrike">
                          <a:solidFill>
                            <a:srgbClr val="C2386B"/>
                          </a:solidFill>
                          <a:latin typeface="DM Sans"/>
                          <a:ea typeface="DM Sans"/>
                          <a:cs typeface="DM Sans"/>
                          <a:sym typeface="DM Sans"/>
                        </a:rPr>
                        <a:t>Odd training-data effects</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Some answers, like acne, lowered the score for some users.</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Those bars are faded and labelled as data quirks, not advice.</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616325">
                <a:tc>
                  <a:txBody>
                    <a:bodyPr/>
                    <a:lstStyle/>
                    <a:p>
                      <a:pPr indent="0" lvl="0" marL="0" marR="0" rtl="0" algn="l">
                        <a:lnSpc>
                          <a:spcPct val="139984"/>
                        </a:lnSpc>
                        <a:spcBef>
                          <a:spcPts val="0"/>
                        </a:spcBef>
                        <a:spcAft>
                          <a:spcPts val="0"/>
                        </a:spcAft>
                        <a:buClr>
                          <a:srgbClr val="C2386B"/>
                        </a:buClr>
                        <a:buSzPts val="1288"/>
                        <a:buFont typeface="DM Sans"/>
                        <a:buNone/>
                      </a:pPr>
                      <a:r>
                        <a:rPr lang="en-US" sz="1288" u="none" cap="none" strike="noStrike">
                          <a:solidFill>
                            <a:srgbClr val="C2386B"/>
                          </a:solidFill>
                          <a:latin typeface="DM Sans"/>
                          <a:ea typeface="DM Sans"/>
                          <a:cs typeface="DM Sans"/>
                          <a:sym typeface="DM Sans"/>
                        </a:rPr>
                        <a:t>Gaps in testing</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9</a:t>
                      </a:r>
                      <a:r>
                        <a:rPr lang="en-US" sz="1288">
                          <a:solidFill>
                            <a:srgbClr val="3B2340"/>
                          </a:solidFill>
                          <a:latin typeface="DM Sans"/>
                          <a:ea typeface="DM Sans"/>
                          <a:cs typeface="DM Sans"/>
                          <a:sym typeface="DM Sans"/>
                        </a:rPr>
                        <a:t> participants </a:t>
                      </a:r>
                      <a:r>
                        <a:rPr lang="en-US" sz="1288" u="none" cap="none" strike="noStrike">
                          <a:solidFill>
                            <a:srgbClr val="3B2340"/>
                          </a:solidFill>
                          <a:latin typeface="DM Sans"/>
                          <a:ea typeface="DM Sans"/>
                          <a:cs typeface="DM Sans"/>
                          <a:sym typeface="DM Sans"/>
                        </a:rPr>
                        <a:t>were FIGO-irregular, but none met stricter escalation rule. Model 2 comes from just one hospital network in India.</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a:solidFill>
                            <a:srgbClr val="3B2340"/>
                          </a:solidFill>
                          <a:latin typeface="DM Sans"/>
                          <a:ea typeface="DM Sans"/>
                          <a:cs typeface="DM Sans"/>
                          <a:sym typeface="DM Sans"/>
                        </a:rPr>
                        <a:t>Marked that escalation rule as unvalidated. </a:t>
                      </a:r>
                      <a:endParaRPr sz="1288">
                        <a:solidFill>
                          <a:srgbClr val="3B2340"/>
                        </a:solidFill>
                        <a:latin typeface="DM Sans"/>
                        <a:ea typeface="DM Sans"/>
                        <a:cs typeface="DM Sans"/>
                        <a:sym typeface="DM Sans"/>
                      </a:endParaRPr>
                    </a:p>
                    <a:p>
                      <a:pPr indent="0" lvl="0" marL="0" marR="0" rtl="0" algn="l">
                        <a:lnSpc>
                          <a:spcPct val="139984"/>
                        </a:lnSpc>
                        <a:spcBef>
                          <a:spcPts val="0"/>
                        </a:spcBef>
                        <a:spcAft>
                          <a:spcPts val="0"/>
                        </a:spcAft>
                        <a:buClr>
                          <a:srgbClr val="3B2340"/>
                        </a:buClr>
                        <a:buSzPts val="1288"/>
                        <a:buFont typeface="DM Sans"/>
                        <a:buNone/>
                      </a:pPr>
                      <a:r>
                        <a:rPr lang="en-US" sz="1288">
                          <a:solidFill>
                            <a:srgbClr val="3B2340"/>
                          </a:solidFill>
                          <a:latin typeface="DM Sans"/>
                          <a:ea typeface="DM Sans"/>
                          <a:cs typeface="DM Sans"/>
                          <a:sym typeface="DM Sans"/>
                        </a:rPr>
                        <a:t>Model 2 generalisability is limited. </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616325">
                <a:tc>
                  <a:txBody>
                    <a:bodyPr/>
                    <a:lstStyle/>
                    <a:p>
                      <a:pPr indent="0" lvl="0" marL="0" marR="0" rtl="0" algn="l">
                        <a:lnSpc>
                          <a:spcPct val="139984"/>
                        </a:lnSpc>
                        <a:spcBef>
                          <a:spcPts val="0"/>
                        </a:spcBef>
                        <a:spcAft>
                          <a:spcPts val="0"/>
                        </a:spcAft>
                        <a:buClr>
                          <a:srgbClr val="C2386B"/>
                        </a:buClr>
                        <a:buSzPts val="1288"/>
                        <a:buFont typeface="DM Sans"/>
                        <a:buNone/>
                      </a:pPr>
                      <a:r>
                        <a:rPr lang="en-US" sz="1288" u="none" cap="none" strike="noStrike">
                          <a:solidFill>
                            <a:srgbClr val="C2386B"/>
                          </a:solidFill>
                          <a:latin typeface="DM Sans"/>
                          <a:ea typeface="DM Sans"/>
                          <a:cs typeface="DM Sans"/>
                          <a:sym typeface="DM Sans"/>
                        </a:rPr>
                        <a:t>Demo data</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No real patient was wearing a watch, and the score weights are our own choices.</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39984"/>
                        </a:lnSpc>
                        <a:spcBef>
                          <a:spcPts val="0"/>
                        </a:spcBef>
                        <a:spcAft>
                          <a:spcPts val="0"/>
                        </a:spcAft>
                        <a:buClr>
                          <a:srgbClr val="3B2340"/>
                        </a:buClr>
                        <a:buSzPts val="1288"/>
                        <a:buFont typeface="DM Sans"/>
                        <a:buNone/>
                      </a:pPr>
                      <a:r>
                        <a:rPr lang="en-US" sz="1288" u="none" cap="none" strike="noStrike">
                          <a:solidFill>
                            <a:srgbClr val="3B2340"/>
                          </a:solidFill>
                          <a:latin typeface="DM Sans"/>
                          <a:ea typeface="DM Sans"/>
                          <a:cs typeface="DM Sans"/>
                          <a:sym typeface="DM Sans"/>
                        </a:rPr>
                        <a:t>Demo nights are simulated, and we say so on screen.</a:t>
                      </a:r>
                      <a:endParaRPr sz="1288" u="none" cap="none" strike="noStrike">
                        <a:latin typeface="DM Sans"/>
                        <a:ea typeface="DM Sans"/>
                        <a:cs typeface="DM Sans"/>
                        <a:sym typeface="DM Sans"/>
                      </a:endParaRPr>
                    </a:p>
                  </a:txBody>
                  <a:tcPr marT="57250" marB="57250" marR="57250" marL="57250">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bl>
          </a:graphicData>
        </a:graphic>
      </p:graphicFrame>
      <p:sp>
        <p:nvSpPr>
          <p:cNvPr id="167" name="Google Shape;167;p13"/>
          <p:cNvSpPr/>
          <p:nvPr/>
        </p:nvSpPr>
        <p:spPr>
          <a:xfrm>
            <a:off x="812782" y="5658444"/>
            <a:ext cx="10883400" cy="286800"/>
          </a:xfrm>
          <a:prstGeom prst="rect">
            <a:avLst/>
          </a:prstGeom>
          <a:noFill/>
          <a:ln>
            <a:noFill/>
          </a:ln>
        </p:spPr>
        <p:txBody>
          <a:bodyPr anchorCtr="0" anchor="t" bIns="0" lIns="0" spcFirstLastPara="1" rIns="0" wrap="square" tIns="0">
            <a:noAutofit/>
          </a:bodyPr>
          <a:lstStyle/>
          <a:p>
            <a:pPr indent="0" lvl="0" marL="0" marR="0" rtl="0" algn="l">
              <a:lnSpc>
                <a:spcPct val="130031"/>
              </a:lnSpc>
              <a:spcBef>
                <a:spcPts val="0"/>
              </a:spcBef>
              <a:spcAft>
                <a:spcPts val="0"/>
              </a:spcAft>
              <a:buClr>
                <a:srgbClr val="7A5CB8"/>
              </a:buClr>
              <a:buSzPts val="1595"/>
              <a:buFont typeface="DM Sans"/>
              <a:buNone/>
            </a:pPr>
            <a:r>
              <a:rPr b="1" i="0" lang="en-US" sz="1595" u="none" cap="none" strike="noStrike">
                <a:solidFill>
                  <a:srgbClr val="7A5CB8"/>
                </a:solidFill>
                <a:latin typeface="DM Sans"/>
                <a:ea typeface="DM Sans"/>
                <a:cs typeface="DM Sans"/>
                <a:sym typeface="DM Sans"/>
              </a:rPr>
              <a:t>We kept every claim to what the data can support.</a:t>
            </a:r>
            <a:endParaRPr b="0" i="0" sz="1595" u="none" cap="none" strike="noStrike">
              <a:solidFill>
                <a:schemeClr val="dk1"/>
              </a:solidFill>
              <a:latin typeface="Calibri"/>
              <a:ea typeface="Calibri"/>
              <a:cs typeface="Calibri"/>
              <a:sym typeface="Calibri"/>
            </a:endParaRPr>
          </a:p>
        </p:txBody>
      </p:sp>
      <p:sp>
        <p:nvSpPr>
          <p:cNvPr id="168" name="Google Shape;168;p13"/>
          <p:cNvSpPr/>
          <p:nvPr/>
        </p:nvSpPr>
        <p:spPr>
          <a:xfrm>
            <a:off x="812782" y="6238246"/>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169" name="Google Shape;169;p13"/>
          <p:cNvSpPr/>
          <p:nvPr/>
        </p:nvSpPr>
        <p:spPr>
          <a:xfrm>
            <a:off x="10058418" y="6238246"/>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p:nvPr/>
        </p:nvSpPr>
        <p:spPr>
          <a:xfrm>
            <a:off x="812782" y="571500"/>
            <a:ext cx="10883400" cy="428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2775">
                <a:solidFill>
                  <a:srgbClr val="3B2340"/>
                </a:solidFill>
                <a:latin typeface="DM Sans"/>
                <a:ea typeface="DM Sans"/>
                <a:cs typeface="DM Sans"/>
                <a:sym typeface="DM Sans"/>
              </a:rPr>
              <a:t>Key learnings</a:t>
            </a:r>
            <a:endParaRPr b="1" sz="2775">
              <a:solidFill>
                <a:srgbClr val="3B2340"/>
              </a:solidFill>
              <a:latin typeface="DM Sans"/>
              <a:ea typeface="DM Sans"/>
              <a:cs typeface="DM Sans"/>
              <a:sym typeface="DM Sans"/>
            </a:endParaRPr>
          </a:p>
        </p:txBody>
      </p:sp>
      <p:grpSp>
        <p:nvGrpSpPr>
          <p:cNvPr id="176" name="Google Shape;176;p14"/>
          <p:cNvGrpSpPr/>
          <p:nvPr/>
        </p:nvGrpSpPr>
        <p:grpSpPr>
          <a:xfrm>
            <a:off x="812782" y="1381125"/>
            <a:ext cx="3333900" cy="2047800"/>
            <a:chOff x="0" y="0"/>
            <a:chExt cx="3333900" cy="2047800"/>
          </a:xfrm>
        </p:grpSpPr>
        <p:sp>
          <p:nvSpPr>
            <p:cNvPr id="177" name="Google Shape;177;p14"/>
            <p:cNvSpPr/>
            <p:nvPr/>
          </p:nvSpPr>
          <p:spPr>
            <a:xfrm>
              <a:off x="0" y="0"/>
              <a:ext cx="3333900" cy="2047800"/>
            </a:xfrm>
            <a:prstGeom prst="roundRect">
              <a:avLst>
                <a:gd fmla="val 5581" name="adj"/>
              </a:avLst>
            </a:prstGeom>
            <a:solidFill>
              <a:srgbClr val="FFFFFF"/>
            </a:solidFill>
            <a:ln cap="flat" cmpd="sng" w="11425">
              <a:solidFill>
                <a:srgbClr val="F3D3D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4"/>
            <p:cNvSpPr txBox="1"/>
            <p:nvPr/>
          </p:nvSpPr>
          <p:spPr>
            <a:xfrm>
              <a:off x="228600" y="190500"/>
              <a:ext cx="28767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C2386B"/>
                  </a:solidFill>
                  <a:latin typeface="DM Sans"/>
                  <a:ea typeface="DM Sans"/>
                  <a:cs typeface="DM Sans"/>
                  <a:sym typeface="DM Sans"/>
                </a:rPr>
                <a:t>01</a:t>
              </a:r>
              <a:endParaRPr b="1" sz="2000">
                <a:solidFill>
                  <a:srgbClr val="C2386B"/>
                </a:solidFill>
                <a:latin typeface="DM Sans"/>
                <a:ea typeface="DM Sans"/>
                <a:cs typeface="DM Sans"/>
                <a:sym typeface="DM Sans"/>
              </a:endParaRPr>
            </a:p>
            <a:p>
              <a:pPr indent="0" lvl="0" marL="0" rtl="0" algn="l">
                <a:spcBef>
                  <a:spcPts val="600"/>
                </a:spcBef>
                <a:spcAft>
                  <a:spcPts val="0"/>
                </a:spcAft>
                <a:buNone/>
              </a:pPr>
              <a:r>
                <a:rPr b="1" lang="en-US" sz="1400">
                  <a:solidFill>
                    <a:srgbClr val="3B2340"/>
                  </a:solidFill>
                  <a:latin typeface="DM Sans"/>
                  <a:ea typeface="DM Sans"/>
                  <a:cs typeface="DM Sans"/>
                  <a:sym typeface="DM Sans"/>
                </a:rPr>
                <a:t>Decide what not to claim</a:t>
              </a:r>
              <a:endParaRPr b="1" sz="1400">
                <a:solidFill>
                  <a:srgbClr val="3B2340"/>
                </a:solidFill>
                <a:latin typeface="DM Sans"/>
                <a:ea typeface="DM Sans"/>
                <a:cs typeface="DM Sans"/>
                <a:sym typeface="DM Sans"/>
              </a:endParaRPr>
            </a:p>
            <a:p>
              <a:pPr indent="0" lvl="0" marL="0" rtl="0" algn="l">
                <a:spcBef>
                  <a:spcPts val="750"/>
                </a:spcBef>
                <a:spcAft>
                  <a:spcPts val="0"/>
                </a:spcAft>
                <a:buNone/>
              </a:pPr>
              <a:r>
                <a:rPr lang="en-US" sz="1100">
                  <a:solidFill>
                    <a:srgbClr val="6B5470"/>
                  </a:solidFill>
                  <a:latin typeface="DM Sans"/>
                  <a:ea typeface="DM Sans"/>
                  <a:cs typeface="DM Sans"/>
                  <a:sym typeface="DM Sans"/>
                </a:rPr>
                <a:t>Most of our design effort went into what the app should not say, not into the model.</a:t>
              </a:r>
              <a:endParaRPr sz="1100">
                <a:solidFill>
                  <a:srgbClr val="6B5470"/>
                </a:solidFill>
                <a:latin typeface="DM Sans"/>
                <a:ea typeface="DM Sans"/>
                <a:cs typeface="DM Sans"/>
                <a:sym typeface="DM Sans"/>
              </a:endParaRPr>
            </a:p>
          </p:txBody>
        </p:sp>
      </p:grpSp>
      <p:grpSp>
        <p:nvGrpSpPr>
          <p:cNvPr id="179" name="Google Shape;179;p14"/>
          <p:cNvGrpSpPr/>
          <p:nvPr/>
        </p:nvGrpSpPr>
        <p:grpSpPr>
          <a:xfrm>
            <a:off x="4432282" y="1381125"/>
            <a:ext cx="3333900" cy="2047800"/>
            <a:chOff x="0" y="0"/>
            <a:chExt cx="3333900" cy="2047800"/>
          </a:xfrm>
        </p:grpSpPr>
        <p:sp>
          <p:nvSpPr>
            <p:cNvPr id="180" name="Google Shape;180;p14"/>
            <p:cNvSpPr/>
            <p:nvPr/>
          </p:nvSpPr>
          <p:spPr>
            <a:xfrm>
              <a:off x="0" y="0"/>
              <a:ext cx="3333900" cy="2047800"/>
            </a:xfrm>
            <a:prstGeom prst="roundRect">
              <a:avLst>
                <a:gd fmla="val 5581" name="adj"/>
              </a:avLst>
            </a:prstGeom>
            <a:solidFill>
              <a:srgbClr val="FFFFFF"/>
            </a:solidFill>
            <a:ln cap="flat" cmpd="sng" w="11425">
              <a:solidFill>
                <a:srgbClr val="F3D3D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4"/>
            <p:cNvSpPr txBox="1"/>
            <p:nvPr/>
          </p:nvSpPr>
          <p:spPr>
            <a:xfrm>
              <a:off x="228600" y="190500"/>
              <a:ext cx="28767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C2386B"/>
                  </a:solidFill>
                  <a:latin typeface="DM Sans"/>
                  <a:ea typeface="DM Sans"/>
                  <a:cs typeface="DM Sans"/>
                  <a:sym typeface="DM Sans"/>
                </a:rPr>
                <a:t>02</a:t>
              </a:r>
              <a:endParaRPr b="1" sz="2000">
                <a:solidFill>
                  <a:srgbClr val="C2386B"/>
                </a:solidFill>
                <a:latin typeface="DM Sans"/>
                <a:ea typeface="DM Sans"/>
                <a:cs typeface="DM Sans"/>
                <a:sym typeface="DM Sans"/>
              </a:endParaRPr>
            </a:p>
            <a:p>
              <a:pPr indent="0" lvl="0" marL="0" rtl="0" algn="l">
                <a:spcBef>
                  <a:spcPts val="600"/>
                </a:spcBef>
                <a:spcAft>
                  <a:spcPts val="0"/>
                </a:spcAft>
                <a:buNone/>
              </a:pPr>
              <a:r>
                <a:rPr b="1" lang="en-US" sz="1400">
                  <a:solidFill>
                    <a:srgbClr val="3B2340"/>
                  </a:solidFill>
                  <a:latin typeface="DM Sans"/>
                  <a:ea typeface="DM Sans"/>
                  <a:cs typeface="DM Sans"/>
                  <a:sym typeface="DM Sans"/>
                </a:rPr>
                <a:t>A failed check is a result</a:t>
              </a:r>
              <a:endParaRPr b="1" sz="1400">
                <a:solidFill>
                  <a:srgbClr val="3B2340"/>
                </a:solidFill>
                <a:latin typeface="DM Sans"/>
                <a:ea typeface="DM Sans"/>
                <a:cs typeface="DM Sans"/>
                <a:sym typeface="DM Sans"/>
              </a:endParaRPr>
            </a:p>
            <a:p>
              <a:pPr indent="0" lvl="0" marL="0" rtl="0" algn="l">
                <a:spcBef>
                  <a:spcPts val="750"/>
                </a:spcBef>
                <a:spcAft>
                  <a:spcPts val="0"/>
                </a:spcAft>
                <a:buNone/>
              </a:pPr>
              <a:r>
                <a:rPr lang="en-US" sz="1100">
                  <a:solidFill>
                    <a:srgbClr val="6B5470"/>
                  </a:solidFill>
                  <a:latin typeface="DM Sans"/>
                  <a:ea typeface="DM Sans"/>
                  <a:cs typeface="DM Sans"/>
                  <a:sym typeface="DM Sans"/>
                </a:rPr>
                <a:t>Ovulation from temperature did not pass. Reporting that made the product more honest.</a:t>
              </a:r>
              <a:endParaRPr sz="1100">
                <a:solidFill>
                  <a:srgbClr val="6B5470"/>
                </a:solidFill>
                <a:latin typeface="DM Sans"/>
                <a:ea typeface="DM Sans"/>
                <a:cs typeface="DM Sans"/>
                <a:sym typeface="DM Sans"/>
              </a:endParaRPr>
            </a:p>
          </p:txBody>
        </p:sp>
      </p:grpSp>
      <p:grpSp>
        <p:nvGrpSpPr>
          <p:cNvPr id="182" name="Google Shape;182;p14"/>
          <p:cNvGrpSpPr/>
          <p:nvPr/>
        </p:nvGrpSpPr>
        <p:grpSpPr>
          <a:xfrm>
            <a:off x="8051782" y="1381125"/>
            <a:ext cx="3333900" cy="2047800"/>
            <a:chOff x="0" y="0"/>
            <a:chExt cx="3333900" cy="2047800"/>
          </a:xfrm>
        </p:grpSpPr>
        <p:sp>
          <p:nvSpPr>
            <p:cNvPr id="183" name="Google Shape;183;p14"/>
            <p:cNvSpPr/>
            <p:nvPr/>
          </p:nvSpPr>
          <p:spPr>
            <a:xfrm>
              <a:off x="0" y="0"/>
              <a:ext cx="3333900" cy="2047800"/>
            </a:xfrm>
            <a:prstGeom prst="roundRect">
              <a:avLst>
                <a:gd fmla="val 5581" name="adj"/>
              </a:avLst>
            </a:prstGeom>
            <a:solidFill>
              <a:srgbClr val="FFFFFF"/>
            </a:solidFill>
            <a:ln cap="flat" cmpd="sng" w="11425">
              <a:solidFill>
                <a:srgbClr val="F3D3D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4"/>
            <p:cNvSpPr txBox="1"/>
            <p:nvPr/>
          </p:nvSpPr>
          <p:spPr>
            <a:xfrm>
              <a:off x="228600" y="190500"/>
              <a:ext cx="28767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7A5CB8"/>
                  </a:solidFill>
                  <a:latin typeface="DM Sans"/>
                  <a:ea typeface="DM Sans"/>
                  <a:cs typeface="DM Sans"/>
                  <a:sym typeface="DM Sans"/>
                </a:rPr>
                <a:t>03</a:t>
              </a:r>
              <a:endParaRPr b="1" sz="2000">
                <a:solidFill>
                  <a:srgbClr val="7A5CB8"/>
                </a:solidFill>
                <a:latin typeface="DM Sans"/>
                <a:ea typeface="DM Sans"/>
                <a:cs typeface="DM Sans"/>
                <a:sym typeface="DM Sans"/>
              </a:endParaRPr>
            </a:p>
            <a:p>
              <a:pPr indent="0" lvl="0" marL="0" rtl="0" algn="l">
                <a:spcBef>
                  <a:spcPts val="600"/>
                </a:spcBef>
                <a:spcAft>
                  <a:spcPts val="0"/>
                </a:spcAft>
                <a:buNone/>
              </a:pPr>
              <a:r>
                <a:rPr b="1" lang="en-US" sz="1400">
                  <a:solidFill>
                    <a:srgbClr val="3B2340"/>
                  </a:solidFill>
                  <a:latin typeface="DM Sans"/>
                  <a:ea typeface="DM Sans"/>
                  <a:cs typeface="DM Sans"/>
                  <a:sym typeface="DM Sans"/>
                </a:rPr>
                <a:t>Pick the metric for the risk</a:t>
              </a:r>
              <a:endParaRPr b="1" sz="1400">
                <a:solidFill>
                  <a:srgbClr val="3B2340"/>
                </a:solidFill>
                <a:latin typeface="DM Sans"/>
                <a:ea typeface="DM Sans"/>
                <a:cs typeface="DM Sans"/>
                <a:sym typeface="DM Sans"/>
              </a:endParaRPr>
            </a:p>
            <a:p>
              <a:pPr indent="0" lvl="0" marL="0" rtl="0" algn="l">
                <a:spcBef>
                  <a:spcPts val="750"/>
                </a:spcBef>
                <a:spcAft>
                  <a:spcPts val="0"/>
                </a:spcAft>
                <a:buNone/>
              </a:pPr>
              <a:r>
                <a:rPr lang="en-US" sz="1100">
                  <a:solidFill>
                    <a:srgbClr val="6B5470"/>
                  </a:solidFill>
                  <a:latin typeface="DM Sans"/>
                  <a:ea typeface="DM Sans"/>
                  <a:cs typeface="DM Sans"/>
                  <a:sym typeface="DM Sans"/>
                </a:rPr>
                <a:t>We chose recall over precision, because a missed case costs more than a false alarm.</a:t>
              </a:r>
              <a:endParaRPr sz="1100">
                <a:solidFill>
                  <a:srgbClr val="6B5470"/>
                </a:solidFill>
                <a:latin typeface="DM Sans"/>
                <a:ea typeface="DM Sans"/>
                <a:cs typeface="DM Sans"/>
                <a:sym typeface="DM Sans"/>
              </a:endParaRPr>
            </a:p>
          </p:txBody>
        </p:sp>
      </p:grpSp>
      <p:grpSp>
        <p:nvGrpSpPr>
          <p:cNvPr id="185" name="Google Shape;185;p14"/>
          <p:cNvGrpSpPr/>
          <p:nvPr/>
        </p:nvGrpSpPr>
        <p:grpSpPr>
          <a:xfrm>
            <a:off x="812782" y="3667125"/>
            <a:ext cx="3333900" cy="2047800"/>
            <a:chOff x="0" y="0"/>
            <a:chExt cx="3333900" cy="2047800"/>
          </a:xfrm>
        </p:grpSpPr>
        <p:sp>
          <p:nvSpPr>
            <p:cNvPr id="186" name="Google Shape;186;p14"/>
            <p:cNvSpPr/>
            <p:nvPr/>
          </p:nvSpPr>
          <p:spPr>
            <a:xfrm>
              <a:off x="0" y="0"/>
              <a:ext cx="3333900" cy="2047800"/>
            </a:xfrm>
            <a:prstGeom prst="roundRect">
              <a:avLst>
                <a:gd fmla="val 5581" name="adj"/>
              </a:avLst>
            </a:prstGeom>
            <a:solidFill>
              <a:srgbClr val="FFFFFF"/>
            </a:solidFill>
            <a:ln cap="flat" cmpd="sng" w="11425">
              <a:solidFill>
                <a:srgbClr val="F3D3D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4"/>
            <p:cNvSpPr txBox="1"/>
            <p:nvPr/>
          </p:nvSpPr>
          <p:spPr>
            <a:xfrm>
              <a:off x="228600" y="190500"/>
              <a:ext cx="28767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7A5CB8"/>
                  </a:solidFill>
                  <a:latin typeface="DM Sans"/>
                  <a:ea typeface="DM Sans"/>
                  <a:cs typeface="DM Sans"/>
                  <a:sym typeface="DM Sans"/>
                </a:rPr>
                <a:t>04</a:t>
              </a:r>
              <a:endParaRPr b="1" sz="2000">
                <a:solidFill>
                  <a:srgbClr val="7A5CB8"/>
                </a:solidFill>
                <a:latin typeface="DM Sans"/>
                <a:ea typeface="DM Sans"/>
                <a:cs typeface="DM Sans"/>
                <a:sym typeface="DM Sans"/>
              </a:endParaRPr>
            </a:p>
            <a:p>
              <a:pPr indent="0" lvl="0" marL="0" rtl="0" algn="l">
                <a:spcBef>
                  <a:spcPts val="600"/>
                </a:spcBef>
                <a:spcAft>
                  <a:spcPts val="0"/>
                </a:spcAft>
                <a:buNone/>
              </a:pPr>
              <a:r>
                <a:rPr b="1" lang="en-US" sz="1400">
                  <a:solidFill>
                    <a:srgbClr val="3B2340"/>
                  </a:solidFill>
                  <a:latin typeface="DM Sans"/>
                  <a:ea typeface="DM Sans"/>
                  <a:cs typeface="DM Sans"/>
                  <a:sym typeface="DM Sans"/>
                </a:rPr>
                <a:t>Explain every score</a:t>
              </a:r>
              <a:endParaRPr b="1" sz="1400">
                <a:solidFill>
                  <a:srgbClr val="3B2340"/>
                </a:solidFill>
                <a:latin typeface="DM Sans"/>
                <a:ea typeface="DM Sans"/>
                <a:cs typeface="DM Sans"/>
                <a:sym typeface="DM Sans"/>
              </a:endParaRPr>
            </a:p>
            <a:p>
              <a:pPr indent="0" lvl="0" marL="0" rtl="0" algn="l">
                <a:spcBef>
                  <a:spcPts val="750"/>
                </a:spcBef>
                <a:spcAft>
                  <a:spcPts val="0"/>
                </a:spcAft>
                <a:buNone/>
              </a:pPr>
              <a:r>
                <a:rPr lang="en-US" sz="1100">
                  <a:solidFill>
                    <a:srgbClr val="6B5470"/>
                  </a:solidFill>
                  <a:latin typeface="DM Sans"/>
                  <a:ea typeface="DM Sans"/>
                  <a:cs typeface="DM Sans"/>
                  <a:sym typeface="DM Sans"/>
                </a:rPr>
                <a:t>Showing which answers moved the score makes it easier to trust and to question.</a:t>
              </a:r>
              <a:endParaRPr sz="1100">
                <a:solidFill>
                  <a:srgbClr val="6B5470"/>
                </a:solidFill>
                <a:latin typeface="DM Sans"/>
                <a:ea typeface="DM Sans"/>
                <a:cs typeface="DM Sans"/>
                <a:sym typeface="DM Sans"/>
              </a:endParaRPr>
            </a:p>
          </p:txBody>
        </p:sp>
      </p:grpSp>
      <p:grpSp>
        <p:nvGrpSpPr>
          <p:cNvPr id="188" name="Google Shape;188;p14"/>
          <p:cNvGrpSpPr/>
          <p:nvPr/>
        </p:nvGrpSpPr>
        <p:grpSpPr>
          <a:xfrm>
            <a:off x="4432282" y="3667125"/>
            <a:ext cx="3333900" cy="2047800"/>
            <a:chOff x="0" y="0"/>
            <a:chExt cx="3333900" cy="2047800"/>
          </a:xfrm>
        </p:grpSpPr>
        <p:sp>
          <p:nvSpPr>
            <p:cNvPr id="189" name="Google Shape;189;p14"/>
            <p:cNvSpPr/>
            <p:nvPr/>
          </p:nvSpPr>
          <p:spPr>
            <a:xfrm>
              <a:off x="0" y="0"/>
              <a:ext cx="3333900" cy="2047800"/>
            </a:xfrm>
            <a:prstGeom prst="roundRect">
              <a:avLst>
                <a:gd fmla="val 5581" name="adj"/>
              </a:avLst>
            </a:prstGeom>
            <a:solidFill>
              <a:srgbClr val="FFFFFF"/>
            </a:solidFill>
            <a:ln cap="flat" cmpd="sng" w="11425">
              <a:solidFill>
                <a:srgbClr val="F3D3D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4"/>
            <p:cNvSpPr txBox="1"/>
            <p:nvPr/>
          </p:nvSpPr>
          <p:spPr>
            <a:xfrm>
              <a:off x="228600" y="190500"/>
              <a:ext cx="28767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3B2340"/>
                  </a:solidFill>
                  <a:latin typeface="DM Sans"/>
                  <a:ea typeface="DM Sans"/>
                  <a:cs typeface="DM Sans"/>
                  <a:sym typeface="DM Sans"/>
                </a:rPr>
                <a:t>05</a:t>
              </a:r>
              <a:endParaRPr b="1" sz="2000">
                <a:solidFill>
                  <a:srgbClr val="3B2340"/>
                </a:solidFill>
                <a:latin typeface="DM Sans"/>
                <a:ea typeface="DM Sans"/>
                <a:cs typeface="DM Sans"/>
                <a:sym typeface="DM Sans"/>
              </a:endParaRPr>
            </a:p>
            <a:p>
              <a:pPr indent="0" lvl="0" marL="0" rtl="0" algn="l">
                <a:spcBef>
                  <a:spcPts val="600"/>
                </a:spcBef>
                <a:spcAft>
                  <a:spcPts val="0"/>
                </a:spcAft>
                <a:buNone/>
              </a:pPr>
              <a:r>
                <a:rPr b="1" lang="en-US" sz="1400">
                  <a:solidFill>
                    <a:srgbClr val="3B2340"/>
                  </a:solidFill>
                  <a:latin typeface="DM Sans"/>
                  <a:ea typeface="DM Sans"/>
                  <a:cs typeface="DM Sans"/>
                  <a:sym typeface="DM Sans"/>
                </a:rPr>
                <a:t>Label data quirks</a:t>
              </a:r>
              <a:endParaRPr b="1" sz="1400">
                <a:solidFill>
                  <a:srgbClr val="3B2340"/>
                </a:solidFill>
                <a:latin typeface="DM Sans"/>
                <a:ea typeface="DM Sans"/>
                <a:cs typeface="DM Sans"/>
                <a:sym typeface="DM Sans"/>
              </a:endParaRPr>
            </a:p>
            <a:p>
              <a:pPr indent="0" lvl="0" marL="0" rtl="0" algn="l">
                <a:spcBef>
                  <a:spcPts val="750"/>
                </a:spcBef>
                <a:spcAft>
                  <a:spcPts val="0"/>
                </a:spcAft>
                <a:buNone/>
              </a:pPr>
              <a:r>
                <a:rPr lang="en-US" sz="1100">
                  <a:solidFill>
                    <a:srgbClr val="6B5470"/>
                  </a:solidFill>
                  <a:latin typeface="DM Sans"/>
                  <a:ea typeface="DM Sans"/>
                  <a:cs typeface="DM Sans"/>
                  <a:sym typeface="DM Sans"/>
                </a:rPr>
                <a:t>If the training data looks odd, say so on screen instead of hiding it.</a:t>
              </a:r>
              <a:endParaRPr sz="1100">
                <a:solidFill>
                  <a:srgbClr val="6B5470"/>
                </a:solidFill>
                <a:latin typeface="DM Sans"/>
                <a:ea typeface="DM Sans"/>
                <a:cs typeface="DM Sans"/>
                <a:sym typeface="DM Sans"/>
              </a:endParaRPr>
            </a:p>
          </p:txBody>
        </p:sp>
      </p:grpSp>
      <p:grpSp>
        <p:nvGrpSpPr>
          <p:cNvPr id="191" name="Google Shape;191;p14"/>
          <p:cNvGrpSpPr/>
          <p:nvPr/>
        </p:nvGrpSpPr>
        <p:grpSpPr>
          <a:xfrm>
            <a:off x="8051782" y="3667125"/>
            <a:ext cx="3333900" cy="2047800"/>
            <a:chOff x="0" y="0"/>
            <a:chExt cx="3333900" cy="2047800"/>
          </a:xfrm>
        </p:grpSpPr>
        <p:sp>
          <p:nvSpPr>
            <p:cNvPr id="192" name="Google Shape;192;p14"/>
            <p:cNvSpPr/>
            <p:nvPr/>
          </p:nvSpPr>
          <p:spPr>
            <a:xfrm>
              <a:off x="0" y="0"/>
              <a:ext cx="3333900" cy="2047800"/>
            </a:xfrm>
            <a:prstGeom prst="roundRect">
              <a:avLst>
                <a:gd fmla="val 5581" name="adj"/>
              </a:avLst>
            </a:prstGeom>
            <a:solidFill>
              <a:srgbClr val="FFFFFF"/>
            </a:solidFill>
            <a:ln cap="flat" cmpd="sng" w="11425">
              <a:solidFill>
                <a:srgbClr val="F3D3D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4"/>
            <p:cNvSpPr txBox="1"/>
            <p:nvPr/>
          </p:nvSpPr>
          <p:spPr>
            <a:xfrm>
              <a:off x="228600" y="190500"/>
              <a:ext cx="28767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3B2340"/>
                  </a:solidFill>
                  <a:latin typeface="DM Sans"/>
                  <a:ea typeface="DM Sans"/>
                  <a:cs typeface="DM Sans"/>
                  <a:sym typeface="DM Sans"/>
                </a:rPr>
                <a:t>06</a:t>
              </a:r>
              <a:endParaRPr b="1" sz="2000">
                <a:solidFill>
                  <a:srgbClr val="3B2340"/>
                </a:solidFill>
                <a:latin typeface="DM Sans"/>
                <a:ea typeface="DM Sans"/>
                <a:cs typeface="DM Sans"/>
                <a:sym typeface="DM Sans"/>
              </a:endParaRPr>
            </a:p>
            <a:p>
              <a:pPr indent="0" lvl="0" marL="0" rtl="0" algn="l">
                <a:spcBef>
                  <a:spcPts val="600"/>
                </a:spcBef>
                <a:spcAft>
                  <a:spcPts val="0"/>
                </a:spcAft>
                <a:buNone/>
              </a:pPr>
              <a:r>
                <a:rPr b="1" lang="en-US" sz="1400">
                  <a:solidFill>
                    <a:srgbClr val="3B2340"/>
                  </a:solidFill>
                  <a:latin typeface="DM Sans"/>
                  <a:ea typeface="DM Sans"/>
                  <a:cs typeface="DM Sans"/>
                  <a:sym typeface="DM Sans"/>
                </a:rPr>
                <a:t>Do not count evidence twice</a:t>
              </a:r>
              <a:endParaRPr b="1" sz="1400">
                <a:solidFill>
                  <a:srgbClr val="3B2340"/>
                </a:solidFill>
                <a:latin typeface="DM Sans"/>
                <a:ea typeface="DM Sans"/>
                <a:cs typeface="DM Sans"/>
                <a:sym typeface="DM Sans"/>
              </a:endParaRPr>
            </a:p>
            <a:p>
              <a:pPr indent="0" lvl="0" marL="0" rtl="0" algn="l">
                <a:spcBef>
                  <a:spcPts val="750"/>
                </a:spcBef>
                <a:spcAft>
                  <a:spcPts val="0"/>
                </a:spcAft>
                <a:buNone/>
              </a:pPr>
              <a:r>
                <a:rPr lang="en-US" sz="1100">
                  <a:solidFill>
                    <a:srgbClr val="6B5470"/>
                  </a:solidFill>
                  <a:latin typeface="DM Sans"/>
                  <a:ea typeface="DM Sans"/>
                  <a:cs typeface="DM Sans"/>
                  <a:sym typeface="DM Sans"/>
                </a:rPr>
                <a:t>Keep unvalidated signals as context, and keep each signal in one place.</a:t>
              </a:r>
              <a:endParaRPr sz="1100">
                <a:solidFill>
                  <a:srgbClr val="6B5470"/>
                </a:solidFill>
                <a:latin typeface="DM Sans"/>
                <a:ea typeface="DM Sans"/>
                <a:cs typeface="DM Sans"/>
                <a:sym typeface="DM Sans"/>
              </a:endParaRPr>
            </a:p>
          </p:txBody>
        </p:sp>
      </p:grpSp>
      <p:sp>
        <p:nvSpPr>
          <p:cNvPr id="194" name="Google Shape;194;p14"/>
          <p:cNvSpPr/>
          <p:nvPr/>
        </p:nvSpPr>
        <p:spPr>
          <a:xfrm>
            <a:off x="10687572" y="6309592"/>
            <a:ext cx="1008600" cy="1824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916"/>
              <a:buFont typeface="DM Sans"/>
              <a:buNone/>
            </a:pPr>
            <a:r>
              <a:rPr lang="en-US" sz="916">
                <a:solidFill>
                  <a:srgbClr val="7B6680"/>
                </a:solidFill>
                <a:latin typeface="DM Sans"/>
                <a:ea typeface="DM Sans"/>
                <a:cs typeface="DM Sans"/>
                <a:sym typeface="DM Sans"/>
              </a:rPr>
              <a:t>9</a:t>
            </a:r>
            <a:endParaRPr b="0" i="0" sz="916" u="none" cap="none" strike="noStrike">
              <a:solidFill>
                <a:schemeClr val="dk1"/>
              </a:solidFill>
              <a:latin typeface="Calibri"/>
              <a:ea typeface="Calibri"/>
              <a:cs typeface="Calibri"/>
              <a:sym typeface="Calibri"/>
            </a:endParaRPr>
          </a:p>
        </p:txBody>
      </p:sp>
      <p:sp>
        <p:nvSpPr>
          <p:cNvPr id="195" name="Google Shape;195;p14"/>
          <p:cNvSpPr/>
          <p:nvPr/>
        </p:nvSpPr>
        <p:spPr>
          <a:xfrm>
            <a:off x="809625" y="6286500"/>
            <a:ext cx="3810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9C83A2"/>
                </a:solidFill>
                <a:latin typeface="DM Sans Medium"/>
                <a:ea typeface="DM Sans Medium"/>
                <a:cs typeface="DM Sans Medium"/>
                <a:sym typeface="DM Sans Medium"/>
              </a:rPr>
              <a:t>CycleSignal · </a:t>
            </a:r>
            <a:r>
              <a:rPr lang="en-US" sz="1100">
                <a:solidFill>
                  <a:srgbClr val="9C83A2"/>
                </a:solidFill>
                <a:latin typeface="DM Sans Medium"/>
                <a:ea typeface="DM Sans Medium"/>
                <a:cs typeface="DM Sans Medium"/>
                <a:sym typeface="DM Sans Medium"/>
              </a:rPr>
              <a:t>group </a:t>
            </a:r>
            <a:r>
              <a:rPr b="0" lang="en-US" sz="1100">
                <a:solidFill>
                  <a:srgbClr val="9C83A2"/>
                </a:solidFill>
                <a:latin typeface="DM Sans Medium"/>
                <a:ea typeface="DM Sans Medium"/>
                <a:cs typeface="DM Sans Medium"/>
                <a:sym typeface="DM Sans Medium"/>
              </a:rPr>
              <a:t>showcase</a:t>
            </a:r>
            <a:endParaRPr b="0" sz="1100">
              <a:solidFill>
                <a:srgbClr val="9C83A2"/>
              </a:solidFill>
              <a:latin typeface="DM Sans Medium"/>
              <a:ea typeface="DM Sans Medium"/>
              <a:cs typeface="DM Sans Medium"/>
              <a:sym typeface="DM Sa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5"/>
          <p:cNvSpPr/>
          <p:nvPr/>
        </p:nvSpPr>
        <p:spPr>
          <a:xfrm>
            <a:off x="4762506" y="560075"/>
            <a:ext cx="2667000" cy="3099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C2386B"/>
              </a:buClr>
              <a:buSzPts val="1600"/>
              <a:buFont typeface="DM Sans"/>
              <a:buNone/>
            </a:pPr>
            <a:r>
              <a:rPr b="1" lang="en-US" sz="1600">
                <a:solidFill>
                  <a:srgbClr val="C2386B"/>
                </a:solidFill>
                <a:latin typeface="DM Sans"/>
                <a:ea typeface="DM Sans"/>
                <a:cs typeface="DM Sans"/>
                <a:sym typeface="DM Sans"/>
              </a:rPr>
              <a:t>CycleSignal Web App</a:t>
            </a:r>
            <a:endParaRPr b="0" i="0" sz="1600" u="none" cap="none" strike="noStrike">
              <a:solidFill>
                <a:schemeClr val="dk1"/>
              </a:solidFill>
              <a:latin typeface="Calibri"/>
              <a:ea typeface="Calibri"/>
              <a:cs typeface="Calibri"/>
              <a:sym typeface="Calibri"/>
            </a:endParaRPr>
          </a:p>
        </p:txBody>
      </p:sp>
      <p:sp>
        <p:nvSpPr>
          <p:cNvPr id="202" name="Google Shape;202;p15"/>
          <p:cNvSpPr/>
          <p:nvPr/>
        </p:nvSpPr>
        <p:spPr>
          <a:xfrm>
            <a:off x="314993" y="1085024"/>
            <a:ext cx="11562000" cy="3905700"/>
          </a:xfrm>
          <a:prstGeom prst="roundRect">
            <a:avLst>
              <a:gd fmla="val 5476" name="adj"/>
            </a:avLst>
          </a:prstGeom>
          <a:solidFill>
            <a:srgbClr val="FFFFFF"/>
          </a:solidFill>
          <a:ln cap="flat" cmpd="sng" w="17050">
            <a:solidFill>
              <a:srgbClr val="C2386B"/>
            </a:solidFill>
            <a:prstDash val="dash"/>
            <a:round/>
            <a:headEnd len="sm" w="sm" type="none"/>
            <a:tailEnd len="sm" w="sm" type="none"/>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7B6680"/>
              </a:buClr>
              <a:buSzPts val="1969"/>
              <a:buFont typeface="DM Sans"/>
              <a:buNone/>
            </a:pPr>
            <a:r>
              <a:t/>
            </a:r>
            <a:endParaRPr b="0" i="0" sz="1969" u="none" cap="none" strike="noStrike">
              <a:solidFill>
                <a:schemeClr val="dk1"/>
              </a:solidFill>
              <a:latin typeface="Calibri"/>
              <a:ea typeface="Calibri"/>
              <a:cs typeface="Calibri"/>
              <a:sym typeface="Calibri"/>
            </a:endParaRPr>
          </a:p>
        </p:txBody>
      </p:sp>
      <p:pic>
        <p:nvPicPr>
          <p:cNvPr id="203" name="Google Shape;203;p15"/>
          <p:cNvPicPr preferRelativeResize="0"/>
          <p:nvPr/>
        </p:nvPicPr>
        <p:blipFill>
          <a:blip r:embed="rId3">
            <a:alphaModFix/>
          </a:blip>
          <a:stretch>
            <a:fillRect/>
          </a:stretch>
        </p:blipFill>
        <p:spPr>
          <a:xfrm>
            <a:off x="483275" y="1307250"/>
            <a:ext cx="3593525" cy="3225045"/>
          </a:xfrm>
          <a:prstGeom prst="rect">
            <a:avLst/>
          </a:prstGeom>
          <a:noFill/>
          <a:ln>
            <a:noFill/>
          </a:ln>
        </p:spPr>
      </p:pic>
      <p:pic>
        <p:nvPicPr>
          <p:cNvPr id="204" name="Google Shape;204;p15"/>
          <p:cNvPicPr preferRelativeResize="0"/>
          <p:nvPr/>
        </p:nvPicPr>
        <p:blipFill>
          <a:blip r:embed="rId4">
            <a:alphaModFix/>
          </a:blip>
          <a:stretch>
            <a:fillRect/>
          </a:stretch>
        </p:blipFill>
        <p:spPr>
          <a:xfrm>
            <a:off x="4457687" y="1868975"/>
            <a:ext cx="3559585" cy="2101600"/>
          </a:xfrm>
          <a:prstGeom prst="rect">
            <a:avLst/>
          </a:prstGeom>
          <a:noFill/>
          <a:ln>
            <a:noFill/>
          </a:ln>
        </p:spPr>
      </p:pic>
      <p:pic>
        <p:nvPicPr>
          <p:cNvPr id="205" name="Google Shape;205;p15"/>
          <p:cNvPicPr preferRelativeResize="0"/>
          <p:nvPr/>
        </p:nvPicPr>
        <p:blipFill>
          <a:blip r:embed="rId5">
            <a:alphaModFix/>
          </a:blip>
          <a:stretch>
            <a:fillRect/>
          </a:stretch>
        </p:blipFill>
        <p:spPr>
          <a:xfrm>
            <a:off x="8191475" y="1307250"/>
            <a:ext cx="3593525" cy="2891851"/>
          </a:xfrm>
          <a:prstGeom prst="rect">
            <a:avLst/>
          </a:prstGeom>
          <a:noFill/>
          <a:ln>
            <a:noFill/>
          </a:ln>
        </p:spPr>
      </p:pic>
      <p:pic>
        <p:nvPicPr>
          <p:cNvPr id="206" name="Google Shape;206;p15" title="WhatsApp Image 2026-10-26 at 13.00.43.jpeg"/>
          <p:cNvPicPr preferRelativeResize="0"/>
          <p:nvPr/>
        </p:nvPicPr>
        <p:blipFill>
          <a:blip r:embed="rId6">
            <a:alphaModFix/>
          </a:blip>
          <a:stretch>
            <a:fillRect/>
          </a:stretch>
        </p:blipFill>
        <p:spPr>
          <a:xfrm>
            <a:off x="3642725" y="5205775"/>
            <a:ext cx="1347975" cy="1347975"/>
          </a:xfrm>
          <a:prstGeom prst="rect">
            <a:avLst/>
          </a:prstGeom>
          <a:noFill/>
          <a:ln>
            <a:noFill/>
          </a:ln>
        </p:spPr>
      </p:pic>
      <p:sp>
        <p:nvSpPr>
          <p:cNvPr id="207" name="Google Shape;207;p15"/>
          <p:cNvSpPr/>
          <p:nvPr/>
        </p:nvSpPr>
        <p:spPr>
          <a:xfrm>
            <a:off x="5181053" y="5726763"/>
            <a:ext cx="6373500" cy="306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5CB8"/>
              </a:buClr>
              <a:buSzPts val="1700"/>
              <a:buFont typeface="DM Sans"/>
              <a:buNone/>
            </a:pPr>
            <a:r>
              <a:rPr b="1" lang="en-US" sz="1700">
                <a:solidFill>
                  <a:srgbClr val="7A5CB8"/>
                </a:solidFill>
                <a:latin typeface="DM Sans"/>
                <a:ea typeface="DM Sans"/>
                <a:cs typeface="DM Sans"/>
                <a:sym typeface="DM Sans"/>
              </a:rPr>
              <a:t>Scan to access the blog + web app</a:t>
            </a:r>
            <a:endParaRPr b="0" i="0" sz="1700" u="none" cap="none" strike="noStrike">
              <a:solidFill>
                <a:schemeClr val="dk1"/>
              </a:solidFill>
              <a:latin typeface="Calibri"/>
              <a:ea typeface="Calibri"/>
              <a:cs typeface="Calibri"/>
              <a:sym typeface="Calibri"/>
            </a:endParaRPr>
          </a:p>
        </p:txBody>
      </p:sp>
      <p:sp>
        <p:nvSpPr>
          <p:cNvPr id="208" name="Google Shape;208;p15"/>
          <p:cNvSpPr/>
          <p:nvPr/>
        </p:nvSpPr>
        <p:spPr>
          <a:xfrm>
            <a:off x="809625" y="6286500"/>
            <a:ext cx="3810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9C83A2"/>
                </a:solidFill>
                <a:latin typeface="DM Sans Medium"/>
                <a:ea typeface="DM Sans Medium"/>
                <a:cs typeface="DM Sans Medium"/>
                <a:sym typeface="DM Sans Medium"/>
              </a:rPr>
              <a:t>CycleSignal · </a:t>
            </a:r>
            <a:r>
              <a:rPr lang="en-US" sz="1100">
                <a:solidFill>
                  <a:srgbClr val="9C83A2"/>
                </a:solidFill>
                <a:latin typeface="DM Sans Medium"/>
                <a:ea typeface="DM Sans Medium"/>
                <a:cs typeface="DM Sans Medium"/>
                <a:sym typeface="DM Sans Medium"/>
              </a:rPr>
              <a:t>group </a:t>
            </a:r>
            <a:r>
              <a:rPr b="0" lang="en-US" sz="1100">
                <a:solidFill>
                  <a:srgbClr val="9C83A2"/>
                </a:solidFill>
                <a:latin typeface="DM Sans Medium"/>
                <a:ea typeface="DM Sans Medium"/>
                <a:cs typeface="DM Sans Medium"/>
                <a:sym typeface="DM Sans Medium"/>
              </a:rPr>
              <a:t>showcase</a:t>
            </a:r>
            <a:endParaRPr b="0" sz="1100">
              <a:solidFill>
                <a:srgbClr val="9C83A2"/>
              </a:solidFill>
              <a:latin typeface="DM Sans Medium"/>
              <a:ea typeface="DM Sans Medium"/>
              <a:cs typeface="DM Sans Medium"/>
              <a:sym typeface="DM Sans Medium"/>
            </a:endParaRPr>
          </a:p>
        </p:txBody>
      </p:sp>
      <p:sp>
        <p:nvSpPr>
          <p:cNvPr id="209" name="Google Shape;209;p15"/>
          <p:cNvSpPr/>
          <p:nvPr/>
        </p:nvSpPr>
        <p:spPr>
          <a:xfrm>
            <a:off x="10210818" y="63906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lang="en-US" sz="1200">
                <a:solidFill>
                  <a:srgbClr val="7B6680"/>
                </a:solidFill>
                <a:latin typeface="DM Sans"/>
                <a:ea typeface="DM Sans"/>
                <a:cs typeface="DM Sans"/>
                <a:sym typeface="DM Sans"/>
              </a:rPr>
              <a:t>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6"/>
          <p:cNvSpPr/>
          <p:nvPr/>
        </p:nvSpPr>
        <p:spPr>
          <a:xfrm>
            <a:off x="812782" y="812781"/>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lang="en-US" sz="3200">
                <a:solidFill>
                  <a:srgbClr val="3B2340"/>
                </a:solidFill>
                <a:latin typeface="DM Sans"/>
                <a:ea typeface="DM Sans"/>
                <a:cs typeface="DM Sans"/>
                <a:sym typeface="DM Sans"/>
              </a:rPr>
              <a:t>Next Steps</a:t>
            </a:r>
            <a:endParaRPr b="0" i="0" sz="3200" u="none" cap="none" strike="noStrike">
              <a:solidFill>
                <a:schemeClr val="dk1"/>
              </a:solidFill>
              <a:latin typeface="Calibri"/>
              <a:ea typeface="Calibri"/>
              <a:cs typeface="Calibri"/>
              <a:sym typeface="Calibri"/>
            </a:endParaRPr>
          </a:p>
        </p:txBody>
      </p:sp>
      <p:sp>
        <p:nvSpPr>
          <p:cNvPr id="216" name="Google Shape;216;p16"/>
          <p:cNvSpPr/>
          <p:nvPr/>
        </p:nvSpPr>
        <p:spPr>
          <a:xfrm>
            <a:off x="815957" y="1567762"/>
            <a:ext cx="1985100" cy="2351700"/>
          </a:xfrm>
          <a:prstGeom prst="roundRect">
            <a:avLst>
              <a:gd fmla="val 4958"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a:off x="970901" y="1773486"/>
            <a:ext cx="1725900" cy="4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386B"/>
              </a:buClr>
              <a:buSzPts val="3200"/>
              <a:buFont typeface="DM Sans"/>
              <a:buNone/>
            </a:pPr>
            <a:r>
              <a:rPr b="1" i="0" lang="en-US" sz="3200" u="none" cap="none" strike="noStrike">
                <a:solidFill>
                  <a:srgbClr val="C2386B"/>
                </a:solidFill>
                <a:latin typeface="DM Sans"/>
                <a:ea typeface="DM Sans"/>
                <a:cs typeface="DM Sans"/>
                <a:sym typeface="DM Sans"/>
              </a:rPr>
              <a:t>1</a:t>
            </a:r>
            <a:endParaRPr b="0" i="0" sz="3200" u="none" cap="none" strike="noStrike">
              <a:solidFill>
                <a:schemeClr val="dk1"/>
              </a:solidFill>
              <a:latin typeface="Calibri"/>
              <a:ea typeface="Calibri"/>
              <a:cs typeface="Calibri"/>
              <a:sym typeface="Calibri"/>
            </a:endParaRPr>
          </a:p>
        </p:txBody>
      </p:sp>
      <p:sp>
        <p:nvSpPr>
          <p:cNvPr id="218" name="Google Shape;218;p16"/>
          <p:cNvSpPr/>
          <p:nvPr/>
        </p:nvSpPr>
        <p:spPr>
          <a:xfrm>
            <a:off x="970901" y="2256048"/>
            <a:ext cx="1725900" cy="482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1500"/>
              <a:buFont typeface="DM Sans"/>
              <a:buNone/>
            </a:pPr>
            <a:r>
              <a:rPr b="1" i="0" lang="en-US" sz="1500" u="none" cap="none" strike="noStrike">
                <a:solidFill>
                  <a:srgbClr val="3B2340"/>
                </a:solidFill>
                <a:latin typeface="DM Sans"/>
                <a:ea typeface="DM Sans"/>
                <a:cs typeface="DM Sans"/>
                <a:sym typeface="DM Sans"/>
              </a:rPr>
              <a:t>Same-person data</a:t>
            </a:r>
            <a:endParaRPr b="0" i="0" sz="1500" u="none" cap="none" strike="noStrike">
              <a:solidFill>
                <a:schemeClr val="dk1"/>
              </a:solidFill>
              <a:latin typeface="Calibri"/>
              <a:ea typeface="Calibri"/>
              <a:cs typeface="Calibri"/>
              <a:sym typeface="Calibri"/>
            </a:endParaRPr>
          </a:p>
        </p:txBody>
      </p:sp>
      <p:sp>
        <p:nvSpPr>
          <p:cNvPr id="219" name="Google Shape;219;p16"/>
          <p:cNvSpPr/>
          <p:nvPr/>
        </p:nvSpPr>
        <p:spPr>
          <a:xfrm>
            <a:off x="970901" y="2789306"/>
            <a:ext cx="1725900" cy="949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Watch, symptoms and a confirmed diagnosis, followed for 6 to 12 months.</a:t>
            </a:r>
            <a:endParaRPr b="0" i="0" sz="1300" u="none" cap="none" strike="noStrike">
              <a:solidFill>
                <a:schemeClr val="dk1"/>
              </a:solidFill>
              <a:latin typeface="Calibri"/>
              <a:ea typeface="Calibri"/>
              <a:cs typeface="Calibri"/>
              <a:sym typeface="Calibri"/>
            </a:endParaRPr>
          </a:p>
        </p:txBody>
      </p:sp>
      <p:sp>
        <p:nvSpPr>
          <p:cNvPr id="220" name="Google Shape;220;p16"/>
          <p:cNvSpPr/>
          <p:nvPr/>
        </p:nvSpPr>
        <p:spPr>
          <a:xfrm>
            <a:off x="2959713" y="1567762"/>
            <a:ext cx="1985100" cy="2351700"/>
          </a:xfrm>
          <a:prstGeom prst="roundRect">
            <a:avLst>
              <a:gd fmla="val 4958"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3114657" y="1773486"/>
            <a:ext cx="1725900" cy="4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386B"/>
              </a:buClr>
              <a:buSzPts val="3200"/>
              <a:buFont typeface="DM Sans"/>
              <a:buNone/>
            </a:pPr>
            <a:r>
              <a:rPr b="1" i="0" lang="en-US" sz="3200" u="none" cap="none" strike="noStrike">
                <a:solidFill>
                  <a:srgbClr val="C2386B"/>
                </a:solidFill>
                <a:latin typeface="DM Sans"/>
                <a:ea typeface="DM Sans"/>
                <a:cs typeface="DM Sans"/>
                <a:sym typeface="DM Sans"/>
              </a:rPr>
              <a:t>2</a:t>
            </a:r>
            <a:endParaRPr b="0" i="0" sz="3200" u="none" cap="none" strike="noStrike">
              <a:solidFill>
                <a:schemeClr val="dk1"/>
              </a:solidFill>
              <a:latin typeface="Calibri"/>
              <a:ea typeface="Calibri"/>
              <a:cs typeface="Calibri"/>
              <a:sym typeface="Calibri"/>
            </a:endParaRPr>
          </a:p>
        </p:txBody>
      </p:sp>
      <p:sp>
        <p:nvSpPr>
          <p:cNvPr id="222" name="Google Shape;222;p16"/>
          <p:cNvSpPr/>
          <p:nvPr/>
        </p:nvSpPr>
        <p:spPr>
          <a:xfrm>
            <a:off x="3114657" y="2256048"/>
            <a:ext cx="17259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1500"/>
              <a:buFont typeface="DM Sans"/>
              <a:buNone/>
            </a:pPr>
            <a:r>
              <a:rPr b="1" i="0" lang="en-US" sz="1500" u="none" cap="none" strike="noStrike">
                <a:solidFill>
                  <a:srgbClr val="3B2340"/>
                </a:solidFill>
                <a:latin typeface="DM Sans"/>
                <a:ea typeface="DM Sans"/>
                <a:cs typeface="DM Sans"/>
                <a:sym typeface="DM Sans"/>
              </a:rPr>
              <a:t>A diverse cohort</a:t>
            </a:r>
            <a:endParaRPr b="0" i="0" sz="1500" u="none" cap="none" strike="noStrike">
              <a:solidFill>
                <a:schemeClr val="dk1"/>
              </a:solidFill>
              <a:latin typeface="Calibri"/>
              <a:ea typeface="Calibri"/>
              <a:cs typeface="Calibri"/>
              <a:sym typeface="Calibri"/>
            </a:endParaRPr>
          </a:p>
        </p:txBody>
      </p:sp>
      <p:sp>
        <p:nvSpPr>
          <p:cNvPr id="223" name="Google Shape;223;p16"/>
          <p:cNvSpPr/>
          <p:nvPr/>
        </p:nvSpPr>
        <p:spPr>
          <a:xfrm>
            <a:off x="3114657" y="2560743"/>
            <a:ext cx="17259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A group that reflects the women who would use it.</a:t>
            </a:r>
            <a:endParaRPr b="0" i="0" sz="1300" u="none" cap="none" strike="noStrike">
              <a:solidFill>
                <a:schemeClr val="dk1"/>
              </a:solidFill>
              <a:latin typeface="Calibri"/>
              <a:ea typeface="Calibri"/>
              <a:cs typeface="Calibri"/>
              <a:sym typeface="Calibri"/>
            </a:endParaRPr>
          </a:p>
        </p:txBody>
      </p:sp>
      <p:sp>
        <p:nvSpPr>
          <p:cNvPr id="224" name="Google Shape;224;p16"/>
          <p:cNvSpPr/>
          <p:nvPr/>
        </p:nvSpPr>
        <p:spPr>
          <a:xfrm>
            <a:off x="5103469" y="1567762"/>
            <a:ext cx="1985100" cy="2351700"/>
          </a:xfrm>
          <a:prstGeom prst="roundRect">
            <a:avLst>
              <a:gd fmla="val 4958"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
          <p:cNvSpPr/>
          <p:nvPr/>
        </p:nvSpPr>
        <p:spPr>
          <a:xfrm>
            <a:off x="5258413" y="1773486"/>
            <a:ext cx="1725900" cy="4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A5CB8"/>
              </a:buClr>
              <a:buSzPts val="3200"/>
              <a:buFont typeface="DM Sans"/>
              <a:buNone/>
            </a:pPr>
            <a:r>
              <a:rPr b="1" i="0" lang="en-US" sz="3200" u="none" cap="none" strike="noStrike">
                <a:solidFill>
                  <a:srgbClr val="7A5CB8"/>
                </a:solidFill>
                <a:latin typeface="DM Sans"/>
                <a:ea typeface="DM Sans"/>
                <a:cs typeface="DM Sans"/>
                <a:sym typeface="DM Sans"/>
              </a:rPr>
              <a:t>3</a:t>
            </a:r>
            <a:endParaRPr b="0" i="0" sz="3200" u="none" cap="none" strike="noStrike">
              <a:solidFill>
                <a:schemeClr val="dk1"/>
              </a:solidFill>
              <a:latin typeface="Calibri"/>
              <a:ea typeface="Calibri"/>
              <a:cs typeface="Calibri"/>
              <a:sym typeface="Calibri"/>
            </a:endParaRPr>
          </a:p>
        </p:txBody>
      </p:sp>
      <p:sp>
        <p:nvSpPr>
          <p:cNvPr id="226" name="Google Shape;226;p16"/>
          <p:cNvSpPr/>
          <p:nvPr/>
        </p:nvSpPr>
        <p:spPr>
          <a:xfrm>
            <a:off x="5258413" y="2256048"/>
            <a:ext cx="1725900" cy="71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1500"/>
              <a:buFont typeface="DM Sans"/>
              <a:buNone/>
            </a:pPr>
            <a:r>
              <a:rPr b="1" i="0" lang="en-US" sz="1500" u="none" cap="none" strike="noStrike">
                <a:solidFill>
                  <a:srgbClr val="3B2340"/>
                </a:solidFill>
                <a:latin typeface="DM Sans"/>
                <a:ea typeface="DM Sans"/>
                <a:cs typeface="DM Sans"/>
                <a:sym typeface="DM Sans"/>
              </a:rPr>
              <a:t>A validated ovulation detector</a:t>
            </a:r>
            <a:endParaRPr b="0" i="0" sz="1500" u="none" cap="none" strike="noStrike">
              <a:solidFill>
                <a:schemeClr val="dk1"/>
              </a:solidFill>
              <a:latin typeface="Calibri"/>
              <a:ea typeface="Calibri"/>
              <a:cs typeface="Calibri"/>
              <a:sym typeface="Calibri"/>
            </a:endParaRPr>
          </a:p>
        </p:txBody>
      </p:sp>
      <p:sp>
        <p:nvSpPr>
          <p:cNvPr id="227" name="Google Shape;227;p16"/>
          <p:cNvSpPr/>
          <p:nvPr/>
        </p:nvSpPr>
        <p:spPr>
          <a:xfrm>
            <a:off x="5258413" y="3017869"/>
            <a:ext cx="17259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Checked against hormone tests.</a:t>
            </a:r>
            <a:endParaRPr b="0" i="0" sz="1300" u="none" cap="none" strike="noStrike">
              <a:solidFill>
                <a:schemeClr val="dk1"/>
              </a:solidFill>
              <a:latin typeface="Calibri"/>
              <a:ea typeface="Calibri"/>
              <a:cs typeface="Calibri"/>
              <a:sym typeface="Calibri"/>
            </a:endParaRPr>
          </a:p>
        </p:txBody>
      </p:sp>
      <p:sp>
        <p:nvSpPr>
          <p:cNvPr id="228" name="Google Shape;228;p16"/>
          <p:cNvSpPr/>
          <p:nvPr/>
        </p:nvSpPr>
        <p:spPr>
          <a:xfrm>
            <a:off x="7247226" y="1567762"/>
            <a:ext cx="1985100" cy="2351700"/>
          </a:xfrm>
          <a:prstGeom prst="roundRect">
            <a:avLst>
              <a:gd fmla="val 4958"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6"/>
          <p:cNvSpPr/>
          <p:nvPr/>
        </p:nvSpPr>
        <p:spPr>
          <a:xfrm>
            <a:off x="7402169" y="1773486"/>
            <a:ext cx="1725900" cy="4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A5CB8"/>
              </a:buClr>
              <a:buSzPts val="3200"/>
              <a:buFont typeface="DM Sans"/>
              <a:buNone/>
            </a:pPr>
            <a:r>
              <a:rPr b="1" i="0" lang="en-US" sz="3200" u="none" cap="none" strike="noStrike">
                <a:solidFill>
                  <a:srgbClr val="7A5CB8"/>
                </a:solidFill>
                <a:latin typeface="DM Sans"/>
                <a:ea typeface="DM Sans"/>
                <a:cs typeface="DM Sans"/>
                <a:sym typeface="DM Sans"/>
              </a:rPr>
              <a:t>4</a:t>
            </a:r>
            <a:endParaRPr b="0" i="0" sz="3200" u="none" cap="none" strike="noStrike">
              <a:solidFill>
                <a:schemeClr val="dk1"/>
              </a:solidFill>
              <a:latin typeface="Calibri"/>
              <a:ea typeface="Calibri"/>
              <a:cs typeface="Calibri"/>
              <a:sym typeface="Calibri"/>
            </a:endParaRPr>
          </a:p>
        </p:txBody>
      </p:sp>
      <p:sp>
        <p:nvSpPr>
          <p:cNvPr id="230" name="Google Shape;230;p16"/>
          <p:cNvSpPr/>
          <p:nvPr/>
        </p:nvSpPr>
        <p:spPr>
          <a:xfrm>
            <a:off x="7402169" y="2256048"/>
            <a:ext cx="17259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1500"/>
              <a:buFont typeface="DM Sans"/>
              <a:buNone/>
            </a:pPr>
            <a:r>
              <a:rPr b="1" i="0" lang="en-US" sz="1500" u="none" cap="none" strike="noStrike">
                <a:solidFill>
                  <a:srgbClr val="3B2340"/>
                </a:solidFill>
                <a:latin typeface="DM Sans"/>
                <a:ea typeface="DM Sans"/>
                <a:cs typeface="DM Sans"/>
                <a:sym typeface="DM Sans"/>
              </a:rPr>
              <a:t>A clinical study</a:t>
            </a:r>
            <a:endParaRPr b="0" i="0" sz="1500" u="none" cap="none" strike="noStrike">
              <a:solidFill>
                <a:schemeClr val="dk1"/>
              </a:solidFill>
              <a:latin typeface="Calibri"/>
              <a:ea typeface="Calibri"/>
              <a:cs typeface="Calibri"/>
              <a:sym typeface="Calibri"/>
            </a:endParaRPr>
          </a:p>
        </p:txBody>
      </p:sp>
      <p:sp>
        <p:nvSpPr>
          <p:cNvPr id="231" name="Google Shape;231;p16"/>
          <p:cNvSpPr/>
          <p:nvPr/>
        </p:nvSpPr>
        <p:spPr>
          <a:xfrm>
            <a:off x="7402169" y="2560743"/>
            <a:ext cx="17259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To test the combined score against real diagnoses.</a:t>
            </a:r>
            <a:endParaRPr b="0" i="0" sz="1300" u="none" cap="none" strike="noStrike">
              <a:solidFill>
                <a:schemeClr val="dk1"/>
              </a:solidFill>
              <a:latin typeface="Calibri"/>
              <a:ea typeface="Calibri"/>
              <a:cs typeface="Calibri"/>
              <a:sym typeface="Calibri"/>
            </a:endParaRPr>
          </a:p>
        </p:txBody>
      </p:sp>
      <p:sp>
        <p:nvSpPr>
          <p:cNvPr id="232" name="Google Shape;232;p16"/>
          <p:cNvSpPr/>
          <p:nvPr/>
        </p:nvSpPr>
        <p:spPr>
          <a:xfrm>
            <a:off x="9390982" y="1567762"/>
            <a:ext cx="1985100" cy="2351700"/>
          </a:xfrm>
          <a:prstGeom prst="roundRect">
            <a:avLst>
              <a:gd fmla="val 4958"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6"/>
          <p:cNvSpPr/>
          <p:nvPr/>
        </p:nvSpPr>
        <p:spPr>
          <a:xfrm>
            <a:off x="9545926" y="1773486"/>
            <a:ext cx="1725900" cy="4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5</a:t>
            </a:r>
            <a:endParaRPr b="0" i="0" sz="3200" u="none" cap="none" strike="noStrike">
              <a:solidFill>
                <a:schemeClr val="dk1"/>
              </a:solidFill>
              <a:latin typeface="Calibri"/>
              <a:ea typeface="Calibri"/>
              <a:cs typeface="Calibri"/>
              <a:sym typeface="Calibri"/>
            </a:endParaRPr>
          </a:p>
        </p:txBody>
      </p:sp>
      <p:sp>
        <p:nvSpPr>
          <p:cNvPr id="234" name="Google Shape;234;p16"/>
          <p:cNvSpPr/>
          <p:nvPr/>
        </p:nvSpPr>
        <p:spPr>
          <a:xfrm>
            <a:off x="9545926" y="2256048"/>
            <a:ext cx="1725900" cy="482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1500"/>
              <a:buFont typeface="DM Sans"/>
              <a:buNone/>
            </a:pPr>
            <a:r>
              <a:rPr b="1" i="0" lang="en-US" sz="1500" u="none" cap="none" strike="noStrike">
                <a:solidFill>
                  <a:srgbClr val="3B2340"/>
                </a:solidFill>
                <a:latin typeface="DM Sans"/>
                <a:ea typeface="DM Sans"/>
                <a:cs typeface="DM Sans"/>
                <a:sym typeface="DM Sans"/>
              </a:rPr>
              <a:t>Medical-device approval</a:t>
            </a:r>
            <a:endParaRPr b="0" i="0" sz="1500" u="none" cap="none" strike="noStrike">
              <a:solidFill>
                <a:schemeClr val="dk1"/>
              </a:solidFill>
              <a:latin typeface="Calibri"/>
              <a:ea typeface="Calibri"/>
              <a:cs typeface="Calibri"/>
              <a:sym typeface="Calibri"/>
            </a:endParaRPr>
          </a:p>
        </p:txBody>
      </p:sp>
      <p:sp>
        <p:nvSpPr>
          <p:cNvPr id="235" name="Google Shape;235;p16"/>
          <p:cNvSpPr/>
          <p:nvPr/>
        </p:nvSpPr>
        <p:spPr>
          <a:xfrm>
            <a:off x="9545926" y="2789306"/>
            <a:ext cx="17259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Needed before any clinical use.</a:t>
            </a:r>
            <a:endParaRPr b="0" i="0" sz="1300" u="none" cap="none" strike="noStrike">
              <a:solidFill>
                <a:schemeClr val="dk1"/>
              </a:solidFill>
              <a:latin typeface="Calibri"/>
              <a:ea typeface="Calibri"/>
              <a:cs typeface="Calibri"/>
              <a:sym typeface="Calibri"/>
            </a:endParaRPr>
          </a:p>
        </p:txBody>
      </p:sp>
      <p:sp>
        <p:nvSpPr>
          <p:cNvPr id="236" name="Google Shape;236;p16"/>
          <p:cNvSpPr/>
          <p:nvPr/>
        </p:nvSpPr>
        <p:spPr>
          <a:xfrm>
            <a:off x="812782" y="5478766"/>
            <a:ext cx="10883400" cy="388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5CB8"/>
              </a:buClr>
              <a:buSzPts val="2200"/>
              <a:buFont typeface="DM Sans"/>
              <a:buNone/>
            </a:pPr>
            <a:r>
              <a:rPr b="1" i="0" lang="en-US" sz="2200" u="none" cap="none" strike="noStrike">
                <a:solidFill>
                  <a:srgbClr val="7A5CB8"/>
                </a:solidFill>
                <a:latin typeface="DM Sans"/>
                <a:ea typeface="DM Sans"/>
                <a:cs typeface="DM Sans"/>
                <a:sym typeface="DM Sans"/>
              </a:rPr>
              <a:t>CycleSignal: earlier awareness, not a diagnosis?</a:t>
            </a:r>
            <a:endParaRPr b="0" i="0" sz="2200" u="none" cap="none" strike="noStrike">
              <a:solidFill>
                <a:schemeClr val="dk1"/>
              </a:solidFill>
              <a:latin typeface="Calibri"/>
              <a:ea typeface="Calibri"/>
              <a:cs typeface="Calibri"/>
              <a:sym typeface="Calibri"/>
            </a:endParaRPr>
          </a:p>
        </p:txBody>
      </p:sp>
      <p:sp>
        <p:nvSpPr>
          <p:cNvPr id="237" name="Google Shape;237;p16"/>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238" name="Google Shape;238;p16"/>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lang="en-US" sz="1200">
                <a:solidFill>
                  <a:srgbClr val="7B6680"/>
                </a:solidFill>
                <a:latin typeface="DM Sans"/>
                <a:ea typeface="DM Sans"/>
                <a:cs typeface="DM Sans"/>
                <a:sym typeface="DM Sans"/>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7"/>
          <p:cNvSpPr/>
          <p:nvPr/>
        </p:nvSpPr>
        <p:spPr>
          <a:xfrm>
            <a:off x="812782" y="2538822"/>
            <a:ext cx="1088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B2340"/>
              </a:buClr>
              <a:buSzPts val="6000"/>
              <a:buFont typeface="DM Sans"/>
              <a:buNone/>
            </a:pPr>
            <a:r>
              <a:rPr b="1" i="0" lang="en-US" sz="6000" u="none" cap="none" strike="noStrike">
                <a:solidFill>
                  <a:srgbClr val="3B2340"/>
                </a:solidFill>
                <a:latin typeface="DM Sans"/>
                <a:ea typeface="DM Sans"/>
                <a:cs typeface="DM Sans"/>
                <a:sym typeface="DM Sans"/>
              </a:rPr>
              <a:t>Questions?</a:t>
            </a:r>
            <a:endParaRPr b="0" i="0" sz="6000" u="none" cap="none" strike="noStrike">
              <a:solidFill>
                <a:schemeClr val="dk1"/>
              </a:solidFill>
              <a:latin typeface="Calibri"/>
              <a:ea typeface="Calibri"/>
              <a:cs typeface="Calibri"/>
              <a:sym typeface="Calibri"/>
            </a:endParaRPr>
          </a:p>
        </p:txBody>
      </p:sp>
      <p:sp>
        <p:nvSpPr>
          <p:cNvPr id="245" name="Google Shape;245;p17"/>
          <p:cNvSpPr/>
          <p:nvPr/>
        </p:nvSpPr>
        <p:spPr>
          <a:xfrm>
            <a:off x="812782" y="3503954"/>
            <a:ext cx="10883400" cy="388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B5470"/>
              </a:buClr>
              <a:buSzPts val="2200"/>
              <a:buFont typeface="DM Sans"/>
              <a:buNone/>
            </a:pPr>
            <a:r>
              <a:rPr b="0" i="0" lang="en-US" sz="2200" u="none" cap="none" strike="noStrike">
                <a:solidFill>
                  <a:srgbClr val="6B5470"/>
                </a:solidFill>
                <a:latin typeface="DM Sans"/>
                <a:ea typeface="DM Sans"/>
                <a:cs typeface="DM Sans"/>
                <a:sym typeface="DM Sans"/>
              </a:rPr>
              <a:t>CycleSignal: earlier awareness, not a diagnosis.</a:t>
            </a:r>
            <a:endParaRPr b="0" i="0" sz="2200" u="none" cap="none" strike="noStrike">
              <a:solidFill>
                <a:schemeClr val="dk1"/>
              </a:solidFill>
              <a:latin typeface="Calibri"/>
              <a:ea typeface="Calibri"/>
              <a:cs typeface="Calibri"/>
              <a:sym typeface="Calibri"/>
            </a:endParaRPr>
          </a:p>
        </p:txBody>
      </p:sp>
      <p:sp>
        <p:nvSpPr>
          <p:cNvPr id="246" name="Google Shape;246;p17"/>
          <p:cNvSpPr/>
          <p:nvPr/>
        </p:nvSpPr>
        <p:spPr>
          <a:xfrm>
            <a:off x="812782" y="4070313"/>
            <a:ext cx="108834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400"/>
              <a:buFont typeface="DM Sans"/>
              <a:buNone/>
            </a:pPr>
            <a:r>
              <a:rPr b="0" i="0" lang="en-US" sz="1400" u="none" cap="none" strike="noStrike">
                <a:solidFill>
                  <a:srgbClr val="7B6680"/>
                </a:solidFill>
                <a:latin typeface="DM Sans"/>
                <a:ea typeface="DM Sans"/>
                <a:cs typeface="DM Sans"/>
                <a:sym typeface="DM Sans"/>
              </a:rPr>
              <a:t>Group 1</a:t>
            </a:r>
            <a:r>
              <a:rPr lang="en-US">
                <a:solidFill>
                  <a:srgbClr val="7B6680"/>
                </a:solidFill>
                <a:latin typeface="DM Sans"/>
                <a:ea typeface="DM Sans"/>
                <a:cs typeface="DM Sans"/>
                <a:sym typeface="DM Sans"/>
              </a:rPr>
              <a:t>: </a:t>
            </a:r>
            <a:r>
              <a:rPr b="0" i="0" lang="en-US" sz="1400" u="none" cap="none" strike="noStrike">
                <a:solidFill>
                  <a:srgbClr val="7B6680"/>
                </a:solidFill>
                <a:latin typeface="DM Sans"/>
                <a:ea typeface="DM Sans"/>
                <a:cs typeface="DM Sans"/>
                <a:sym typeface="DM Sans"/>
              </a:rPr>
              <a:t>Anuja </a:t>
            </a:r>
            <a:r>
              <a:rPr lang="en-US">
                <a:solidFill>
                  <a:srgbClr val="7B6680"/>
                </a:solidFill>
                <a:latin typeface="DM Sans"/>
                <a:ea typeface="DM Sans"/>
                <a:cs typeface="DM Sans"/>
                <a:sym typeface="DM Sans"/>
              </a:rPr>
              <a:t>Jayakumar</a:t>
            </a:r>
            <a:r>
              <a:rPr b="0" i="0" lang="en-US" sz="1400" u="none" cap="none" strike="noStrike">
                <a:solidFill>
                  <a:srgbClr val="7B6680"/>
                </a:solidFill>
                <a:latin typeface="DM Sans"/>
                <a:ea typeface="DM Sans"/>
                <a:cs typeface="DM Sans"/>
                <a:sym typeface="DM Sans"/>
              </a:rPr>
              <a:t>,</a:t>
            </a:r>
            <a:r>
              <a:rPr lang="en-US">
                <a:solidFill>
                  <a:srgbClr val="7B6680"/>
                </a:solidFill>
                <a:latin typeface="DM Sans"/>
                <a:ea typeface="DM Sans"/>
                <a:cs typeface="DM Sans"/>
                <a:sym typeface="DM Sans"/>
              </a:rPr>
              <a:t> </a:t>
            </a:r>
            <a:r>
              <a:rPr b="0" i="0" lang="en-US" sz="1400" u="none" cap="none" strike="noStrike">
                <a:solidFill>
                  <a:srgbClr val="7B6680"/>
                </a:solidFill>
                <a:latin typeface="DM Sans"/>
                <a:ea typeface="DM Sans"/>
                <a:cs typeface="DM Sans"/>
                <a:sym typeface="DM Sans"/>
              </a:rPr>
              <a:t>Fiona Edocket, Ling Tsai · Mentor: Emma</a:t>
            </a:r>
            <a:endParaRPr b="0" i="0" sz="1400" u="none" cap="none" strike="noStrike">
              <a:solidFill>
                <a:schemeClr val="dk1"/>
              </a:solidFill>
              <a:latin typeface="Calibri"/>
              <a:ea typeface="Calibri"/>
              <a:cs typeface="Calibri"/>
              <a:sym typeface="Calibri"/>
            </a:endParaRPr>
          </a:p>
        </p:txBody>
      </p:sp>
      <p:sp>
        <p:nvSpPr>
          <p:cNvPr id="247" name="Google Shape;247;p17"/>
          <p:cNvSpPr/>
          <p:nvPr/>
        </p:nvSpPr>
        <p:spPr>
          <a:xfrm>
            <a:off x="10105071"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lang="en-US" sz="1200">
                <a:solidFill>
                  <a:srgbClr val="7B6680"/>
                </a:solidFill>
                <a:latin typeface="DM Sans"/>
                <a:ea typeface="DM Sans"/>
                <a:cs typeface="DM Sans"/>
                <a:sym typeface="DM Sans"/>
              </a:rPr>
              <a:t>12</a:t>
            </a:r>
            <a:endParaRPr sz="1200">
              <a:solidFill>
                <a:srgbClr val="7B6680"/>
              </a:solidFill>
              <a:latin typeface="DM Sans"/>
              <a:ea typeface="DM Sans"/>
              <a:cs typeface="DM Sans"/>
              <a:sym typeface="DM Sans"/>
            </a:endParaRPr>
          </a:p>
          <a:p>
            <a:pPr indent="0" lvl="0" marL="0" marR="0" rtl="0" algn="r">
              <a:lnSpc>
                <a:spcPct val="140000"/>
              </a:lnSpc>
              <a:spcBef>
                <a:spcPts val="0"/>
              </a:spcBef>
              <a:spcAft>
                <a:spcPts val="0"/>
              </a:spcAft>
              <a:buClr>
                <a:srgbClr val="7B6680"/>
              </a:buClr>
              <a:buSzPts val="1200"/>
              <a:buFont typeface="DM Sans"/>
              <a:buNone/>
            </a:pPr>
            <a:r>
              <a:t/>
            </a:r>
            <a:endParaRPr sz="1200">
              <a:solidFill>
                <a:srgbClr val="7B6680"/>
              </a:solidFill>
              <a:latin typeface="DM Sans"/>
              <a:ea typeface="DM Sans"/>
              <a:cs typeface="DM Sans"/>
              <a:sym typeface="DM Sans"/>
            </a:endParaRPr>
          </a:p>
        </p:txBody>
      </p:sp>
      <p:sp>
        <p:nvSpPr>
          <p:cNvPr id="248" name="Google Shape;248;p17"/>
          <p:cNvSpPr/>
          <p:nvPr/>
        </p:nvSpPr>
        <p:spPr>
          <a:xfrm>
            <a:off x="1022707" y="5514648"/>
            <a:ext cx="10883400" cy="306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5CB8"/>
              </a:buClr>
              <a:buSzPts val="1700"/>
              <a:buFont typeface="DM Sans"/>
              <a:buNone/>
            </a:pPr>
            <a:r>
              <a:t/>
            </a:r>
            <a:endParaRPr b="1" sz="1700">
              <a:solidFill>
                <a:srgbClr val="7A5CB8"/>
              </a:solidFill>
              <a:latin typeface="DM Sans"/>
              <a:ea typeface="DM Sans"/>
              <a:cs typeface="DM Sans"/>
              <a:sym typeface="DM Sans"/>
            </a:endParaRPr>
          </a:p>
        </p:txBody>
      </p:sp>
      <p:sp>
        <p:nvSpPr>
          <p:cNvPr id="249" name="Google Shape;249;p17"/>
          <p:cNvSpPr/>
          <p:nvPr/>
        </p:nvSpPr>
        <p:spPr>
          <a:xfrm>
            <a:off x="809625" y="6286500"/>
            <a:ext cx="3810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00">
                <a:solidFill>
                  <a:srgbClr val="9C83A2"/>
                </a:solidFill>
                <a:latin typeface="DM Sans Medium"/>
                <a:ea typeface="DM Sans Medium"/>
                <a:cs typeface="DM Sans Medium"/>
                <a:sym typeface="DM Sans Medium"/>
              </a:rPr>
              <a:t>CycleSignal · </a:t>
            </a:r>
            <a:r>
              <a:rPr lang="en-US" sz="1100">
                <a:solidFill>
                  <a:srgbClr val="9C83A2"/>
                </a:solidFill>
                <a:latin typeface="DM Sans Medium"/>
                <a:ea typeface="DM Sans Medium"/>
                <a:cs typeface="DM Sans Medium"/>
                <a:sym typeface="DM Sans Medium"/>
              </a:rPr>
              <a:t>group </a:t>
            </a:r>
            <a:r>
              <a:rPr b="0" lang="en-US" sz="1100">
                <a:solidFill>
                  <a:srgbClr val="9C83A2"/>
                </a:solidFill>
                <a:latin typeface="DM Sans Medium"/>
                <a:ea typeface="DM Sans Medium"/>
                <a:cs typeface="DM Sans Medium"/>
                <a:sym typeface="DM Sans Medium"/>
              </a:rPr>
              <a:t>showcase</a:t>
            </a:r>
            <a:endParaRPr b="0" sz="1100">
              <a:solidFill>
                <a:srgbClr val="9C83A2"/>
              </a:solidFill>
              <a:latin typeface="DM Sans Medium"/>
              <a:ea typeface="DM Sans Medium"/>
              <a:cs typeface="DM Sans Medium"/>
              <a:sym typeface="DM Sa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sp>
        <p:nvSpPr>
          <p:cNvPr id="255" name="Google Shape;255;p18"/>
          <p:cNvSpPr/>
          <p:nvPr/>
        </p:nvSpPr>
        <p:spPr>
          <a:xfrm>
            <a:off x="812782" y="812781"/>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Final results: what works today</a:t>
            </a:r>
            <a:endParaRPr b="0" i="0" sz="3200" u="none" cap="none" strike="noStrike">
              <a:solidFill>
                <a:schemeClr val="dk1"/>
              </a:solidFill>
              <a:latin typeface="Calibri"/>
              <a:ea typeface="Calibri"/>
              <a:cs typeface="Calibri"/>
              <a:sym typeface="Calibri"/>
            </a:endParaRPr>
          </a:p>
        </p:txBody>
      </p:sp>
      <p:sp>
        <p:nvSpPr>
          <p:cNvPr id="256" name="Google Shape;256;p18"/>
          <p:cNvSpPr/>
          <p:nvPr/>
        </p:nvSpPr>
        <p:spPr>
          <a:xfrm>
            <a:off x="819132" y="1520155"/>
            <a:ext cx="3398700" cy="2015400"/>
          </a:xfrm>
          <a:prstGeom prst="roundRect">
            <a:avLst>
              <a:gd fmla="val 4726" name="adj"/>
            </a:avLst>
          </a:prstGeom>
          <a:solidFill>
            <a:srgbClr val="FFFFFF"/>
          </a:solidFill>
          <a:ln cap="flat" cmpd="sng" w="12700">
            <a:solidFill>
              <a:srgbClr val="C23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8"/>
          <p:cNvSpPr/>
          <p:nvPr/>
        </p:nvSpPr>
        <p:spPr>
          <a:xfrm>
            <a:off x="1052891" y="1753915"/>
            <a:ext cx="30189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800"/>
              <a:buFont typeface="DM Sans"/>
              <a:buNone/>
            </a:pPr>
            <a:r>
              <a:rPr b="1" i="0" lang="en-US" sz="1800" u="none" cap="none" strike="noStrike">
                <a:solidFill>
                  <a:srgbClr val="C2386B"/>
                </a:solidFill>
                <a:latin typeface="DM Sans"/>
                <a:ea typeface="DM Sans"/>
                <a:cs typeface="DM Sans"/>
                <a:sym typeface="DM Sans"/>
              </a:rPr>
              <a:t>Model 2 works</a:t>
            </a:r>
            <a:endParaRPr b="0" i="0" sz="1800" u="none" cap="none" strike="noStrike">
              <a:solidFill>
                <a:schemeClr val="dk1"/>
              </a:solidFill>
              <a:latin typeface="Calibri"/>
              <a:ea typeface="Calibri"/>
              <a:cs typeface="Calibri"/>
              <a:sym typeface="Calibri"/>
            </a:endParaRPr>
          </a:p>
        </p:txBody>
      </p:sp>
      <p:sp>
        <p:nvSpPr>
          <p:cNvPr id="258" name="Google Shape;258;p18"/>
          <p:cNvSpPr/>
          <p:nvPr/>
        </p:nvSpPr>
        <p:spPr>
          <a:xfrm>
            <a:off x="1052891" y="2116962"/>
            <a:ext cx="3018900" cy="9825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ROC-AUC 0.92, recall 0.81 and precision 0.78 on held-out patients. It catches about 8 in 10 cases and still misses some.</a:t>
            </a:r>
            <a:endParaRPr b="0" i="0" sz="1300" u="none" cap="none" strike="noStrike">
              <a:solidFill>
                <a:schemeClr val="dk1"/>
              </a:solidFill>
              <a:latin typeface="Calibri"/>
              <a:ea typeface="Calibri"/>
              <a:cs typeface="Calibri"/>
              <a:sym typeface="Calibri"/>
            </a:endParaRPr>
          </a:p>
        </p:txBody>
      </p:sp>
      <p:sp>
        <p:nvSpPr>
          <p:cNvPr id="259" name="Google Shape;259;p18"/>
          <p:cNvSpPr/>
          <p:nvPr/>
        </p:nvSpPr>
        <p:spPr>
          <a:xfrm>
            <a:off x="4405060" y="1516980"/>
            <a:ext cx="3393300" cy="2022000"/>
          </a:xfrm>
          <a:prstGeom prst="roundRect">
            <a:avLst>
              <a:gd fmla="val 4868"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
          <p:cNvSpPr/>
          <p:nvPr/>
        </p:nvSpPr>
        <p:spPr>
          <a:xfrm>
            <a:off x="4636221" y="1748141"/>
            <a:ext cx="30189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1800"/>
              <a:buFont typeface="DM Sans"/>
              <a:buNone/>
            </a:pPr>
            <a:r>
              <a:rPr b="1" i="0" lang="en-US" sz="1800" u="none" cap="none" strike="noStrike">
                <a:solidFill>
                  <a:srgbClr val="7A5CB8"/>
                </a:solidFill>
                <a:latin typeface="DM Sans"/>
                <a:ea typeface="DM Sans"/>
                <a:cs typeface="DM Sans"/>
                <a:sym typeface="DM Sans"/>
              </a:rPr>
              <a:t>The prototype app works</a:t>
            </a:r>
            <a:endParaRPr b="0" i="0" sz="1800" u="none" cap="none" strike="noStrike">
              <a:solidFill>
                <a:schemeClr val="dk1"/>
              </a:solidFill>
              <a:latin typeface="Calibri"/>
              <a:ea typeface="Calibri"/>
              <a:cs typeface="Calibri"/>
              <a:sym typeface="Calibri"/>
            </a:endParaRPr>
          </a:p>
        </p:txBody>
      </p:sp>
      <p:sp>
        <p:nvSpPr>
          <p:cNvPr id="261" name="Google Shape;261;p18"/>
          <p:cNvSpPr/>
          <p:nvPr/>
        </p:nvSpPr>
        <p:spPr>
          <a:xfrm>
            <a:off x="4636221" y="2111195"/>
            <a:ext cx="3018900" cy="12219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Cycle pattern and check-in answers become one score with reasons, a what-if view and a doctor summary. Sarah scores 66.0 on day 1 and 88.0 after 3 months. Aoife scores 19.7.</a:t>
            </a:r>
            <a:endParaRPr b="0" i="0" sz="1300" u="none" cap="none" strike="noStrike">
              <a:solidFill>
                <a:schemeClr val="dk1"/>
              </a:solidFill>
              <a:latin typeface="Calibri"/>
              <a:ea typeface="Calibri"/>
              <a:cs typeface="Calibri"/>
              <a:sym typeface="Calibri"/>
            </a:endParaRPr>
          </a:p>
        </p:txBody>
      </p:sp>
      <p:sp>
        <p:nvSpPr>
          <p:cNvPr id="262" name="Google Shape;262;p18"/>
          <p:cNvSpPr/>
          <p:nvPr/>
        </p:nvSpPr>
        <p:spPr>
          <a:xfrm>
            <a:off x="7982617" y="1516980"/>
            <a:ext cx="3393300" cy="2022000"/>
          </a:xfrm>
          <a:prstGeom prst="roundRect">
            <a:avLst>
              <a:gd fmla="val 4868"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8"/>
          <p:cNvSpPr/>
          <p:nvPr/>
        </p:nvSpPr>
        <p:spPr>
          <a:xfrm>
            <a:off x="8213778" y="1748141"/>
            <a:ext cx="30189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1800"/>
              <a:buFont typeface="DM Sans"/>
              <a:buNone/>
            </a:pPr>
            <a:r>
              <a:rPr b="1" i="0" lang="en-US" sz="1800" u="none" cap="none" strike="noStrike">
                <a:solidFill>
                  <a:srgbClr val="3B2340"/>
                </a:solidFill>
                <a:latin typeface="DM Sans"/>
                <a:ea typeface="DM Sans"/>
                <a:cs typeface="DM Sans"/>
                <a:sym typeface="DM Sans"/>
              </a:rPr>
              <a:t>Model 1: half works</a:t>
            </a:r>
            <a:endParaRPr b="0" i="0" sz="1800" u="none" cap="none" strike="noStrike">
              <a:solidFill>
                <a:schemeClr val="dk1"/>
              </a:solidFill>
              <a:latin typeface="Calibri"/>
              <a:ea typeface="Calibri"/>
              <a:cs typeface="Calibri"/>
              <a:sym typeface="Calibri"/>
            </a:endParaRPr>
          </a:p>
        </p:txBody>
      </p:sp>
      <p:sp>
        <p:nvSpPr>
          <p:cNvPr id="264" name="Google Shape;264;p18"/>
          <p:cNvSpPr/>
          <p:nvPr/>
        </p:nvSpPr>
        <p:spPr>
          <a:xfrm>
            <a:off x="8213778" y="2111195"/>
            <a:ext cx="3018900" cy="9825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Cycle length and regularity matched the diary for 24 of 25 people. Ovulation from temperature did not pass, so it is context only.</a:t>
            </a:r>
            <a:endParaRPr b="0" i="0" sz="1300" u="none" cap="none" strike="noStrike">
              <a:solidFill>
                <a:schemeClr val="dk1"/>
              </a:solidFill>
              <a:latin typeface="Calibri"/>
              <a:ea typeface="Calibri"/>
              <a:cs typeface="Calibri"/>
              <a:sym typeface="Calibri"/>
            </a:endParaRPr>
          </a:p>
        </p:txBody>
      </p:sp>
      <p:sp>
        <p:nvSpPr>
          <p:cNvPr id="265" name="Google Shape;265;p18"/>
          <p:cNvSpPr/>
          <p:nvPr/>
        </p:nvSpPr>
        <p:spPr>
          <a:xfrm>
            <a:off x="812782" y="5561298"/>
            <a:ext cx="10883400" cy="306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5CB8"/>
              </a:buClr>
              <a:buSzPts val="1700"/>
              <a:buFont typeface="DM Sans"/>
              <a:buNone/>
            </a:pPr>
            <a:r>
              <a:rPr b="1" i="0" lang="en-US" sz="1700" u="none" cap="none" strike="noStrike">
                <a:solidFill>
                  <a:srgbClr val="7A5CB8"/>
                </a:solidFill>
                <a:latin typeface="DM Sans"/>
                <a:ea typeface="DM Sans"/>
                <a:cs typeface="DM Sans"/>
                <a:sym typeface="DM Sans"/>
              </a:rPr>
              <a:t>A working prototype, not yet validated end to end.</a:t>
            </a:r>
            <a:endParaRPr b="0" i="0" sz="1700" u="none" cap="none" strike="noStrike">
              <a:solidFill>
                <a:schemeClr val="dk1"/>
              </a:solidFill>
              <a:latin typeface="Calibri"/>
              <a:ea typeface="Calibri"/>
              <a:cs typeface="Calibri"/>
              <a:sym typeface="Calibri"/>
            </a:endParaRPr>
          </a:p>
        </p:txBody>
      </p:sp>
      <p:sp>
        <p:nvSpPr>
          <p:cNvPr id="266" name="Google Shape;266;p18"/>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267" name="Google Shape;267;p18"/>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p19"/>
          <p:cNvSpPr/>
          <p:nvPr/>
        </p:nvSpPr>
        <p:spPr>
          <a:xfrm>
            <a:off x="812782" y="1448054"/>
            <a:ext cx="3401100" cy="919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What the user sees</a:t>
            </a:r>
            <a:endParaRPr b="0" i="0" sz="3200" u="none" cap="none" strike="noStrike">
              <a:solidFill>
                <a:schemeClr val="dk1"/>
              </a:solidFill>
              <a:latin typeface="Calibri"/>
              <a:ea typeface="Calibri"/>
              <a:cs typeface="Calibri"/>
              <a:sym typeface="Calibri"/>
            </a:endParaRPr>
          </a:p>
        </p:txBody>
      </p:sp>
      <p:sp>
        <p:nvSpPr>
          <p:cNvPr id="274" name="Google Shape;274;p19"/>
          <p:cNvSpPr/>
          <p:nvPr/>
        </p:nvSpPr>
        <p:spPr>
          <a:xfrm>
            <a:off x="812782" y="2494452"/>
            <a:ext cx="3401100" cy="558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One score, the reasons behind it, and a summary to take to her GP.</a:t>
            </a:r>
            <a:endParaRPr b="0" i="0" sz="1500" u="none" cap="none" strike="noStrike">
              <a:solidFill>
                <a:schemeClr val="dk1"/>
              </a:solidFill>
              <a:latin typeface="Calibri"/>
              <a:ea typeface="Calibri"/>
              <a:cs typeface="Calibri"/>
              <a:sym typeface="Calibri"/>
            </a:endParaRPr>
          </a:p>
        </p:txBody>
      </p:sp>
      <p:sp>
        <p:nvSpPr>
          <p:cNvPr id="275" name="Google Shape;275;p19"/>
          <p:cNvSpPr/>
          <p:nvPr/>
        </p:nvSpPr>
        <p:spPr>
          <a:xfrm>
            <a:off x="897364" y="3180054"/>
            <a:ext cx="3309000" cy="1269600"/>
          </a:xfrm>
          <a:prstGeom prst="rect">
            <a:avLst/>
          </a:prstGeom>
          <a:noFill/>
          <a:ln>
            <a:noFill/>
          </a:ln>
        </p:spPr>
        <p:txBody>
          <a:bodyPr anchorCtr="0" anchor="t" bIns="0" lIns="0" spcFirstLastPara="1" rIns="0" wrap="square" tIns="0">
            <a:noAutofit/>
          </a:bodyPr>
          <a:lstStyle/>
          <a:p>
            <a:pPr indent="-169418" lvl="0" marL="169418" marR="0" rtl="0" algn="l">
              <a:lnSpc>
                <a:spcPct val="140000"/>
              </a:lnSpc>
              <a:spcBef>
                <a:spcPts val="0"/>
              </a:spcBef>
              <a:spcAft>
                <a:spcPts val="0"/>
              </a:spcAft>
              <a:buClr>
                <a:srgbClr val="3B2340"/>
              </a:buClr>
              <a:buSzPts val="1400"/>
              <a:buFont typeface="DM Sans"/>
              <a:buChar char="•"/>
            </a:pPr>
            <a:r>
              <a:rPr b="0" i="0" lang="en-US" sz="1400" u="none" cap="none" strike="noStrike">
                <a:solidFill>
                  <a:srgbClr val="3B2340"/>
                </a:solidFill>
                <a:latin typeface="DM Sans"/>
                <a:ea typeface="DM Sans"/>
                <a:cs typeface="DM Sans"/>
                <a:sym typeface="DM Sans"/>
              </a:rPr>
              <a:t>An assistant that explains the result in plain words</a:t>
            </a:r>
            <a:endParaRPr b="0" i="0" sz="1400" u="none" cap="none" strike="noStrike">
              <a:solidFill>
                <a:schemeClr val="dk1"/>
              </a:solidFill>
              <a:latin typeface="Calibri"/>
              <a:ea typeface="Calibri"/>
              <a:cs typeface="Calibri"/>
              <a:sym typeface="Calibri"/>
            </a:endParaRPr>
          </a:p>
          <a:p>
            <a:pPr indent="-169418" lvl="0" marL="169418" marR="0" rtl="0" algn="l">
              <a:lnSpc>
                <a:spcPct val="140000"/>
              </a:lnSpc>
              <a:spcBef>
                <a:spcPts val="0"/>
              </a:spcBef>
              <a:spcAft>
                <a:spcPts val="0"/>
              </a:spcAft>
              <a:buClr>
                <a:srgbClr val="3B2340"/>
              </a:buClr>
              <a:buSzPts val="1400"/>
              <a:buFont typeface="DM Sans"/>
              <a:buChar char="•"/>
            </a:pPr>
            <a:r>
              <a:rPr b="0" i="0" lang="en-US" sz="1400" u="none" cap="none" strike="noStrike">
                <a:solidFill>
                  <a:srgbClr val="3B2340"/>
                </a:solidFill>
                <a:latin typeface="DM Sans"/>
                <a:ea typeface="DM Sans"/>
                <a:cs typeface="DM Sans"/>
                <a:sym typeface="DM Sans"/>
              </a:rPr>
              <a:t>A what-if view of which answers move the score</a:t>
            </a:r>
            <a:endParaRPr b="0" i="0" sz="1400" u="none" cap="none" strike="noStrike">
              <a:solidFill>
                <a:schemeClr val="dk1"/>
              </a:solidFill>
              <a:latin typeface="Calibri"/>
              <a:ea typeface="Calibri"/>
              <a:cs typeface="Calibri"/>
              <a:sym typeface="Calibri"/>
            </a:endParaRPr>
          </a:p>
          <a:p>
            <a:pPr indent="-169418" lvl="0" marL="169418" marR="0" rtl="0" algn="l">
              <a:lnSpc>
                <a:spcPct val="140000"/>
              </a:lnSpc>
              <a:spcBef>
                <a:spcPts val="0"/>
              </a:spcBef>
              <a:spcAft>
                <a:spcPts val="0"/>
              </a:spcAft>
              <a:buClr>
                <a:srgbClr val="3B2340"/>
              </a:buClr>
              <a:buSzPts val="1400"/>
              <a:buFont typeface="DM Sans"/>
              <a:buChar char="•"/>
            </a:pPr>
            <a:r>
              <a:rPr b="0" i="0" lang="en-US" sz="1400" u="none" cap="none" strike="noStrike">
                <a:solidFill>
                  <a:srgbClr val="3B2340"/>
                </a:solidFill>
                <a:latin typeface="DM Sans"/>
                <a:ea typeface="DM Sans"/>
                <a:cs typeface="DM Sans"/>
                <a:sym typeface="DM Sans"/>
              </a:rPr>
              <a:t>A one-page summary to download</a:t>
            </a:r>
            <a:endParaRPr b="0" i="0" sz="1400" u="none" cap="none" strike="noStrike">
              <a:solidFill>
                <a:schemeClr val="dk1"/>
              </a:solidFill>
              <a:latin typeface="Calibri"/>
              <a:ea typeface="Calibri"/>
              <a:cs typeface="Calibri"/>
              <a:sym typeface="Calibri"/>
            </a:endParaRPr>
          </a:p>
        </p:txBody>
      </p:sp>
      <p:sp>
        <p:nvSpPr>
          <p:cNvPr id="276" name="Google Shape;276;p19"/>
          <p:cNvSpPr/>
          <p:nvPr/>
        </p:nvSpPr>
        <p:spPr>
          <a:xfrm>
            <a:off x="812782" y="4576694"/>
            <a:ext cx="34011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Fictional demo user Sarah. Real output from our code.</a:t>
            </a:r>
            <a:endParaRPr b="0" i="0" sz="1200" u="none" cap="none" strike="noStrike">
              <a:solidFill>
                <a:schemeClr val="dk1"/>
              </a:solidFill>
              <a:latin typeface="Calibri"/>
              <a:ea typeface="Calibri"/>
              <a:cs typeface="Calibri"/>
              <a:sym typeface="Calibri"/>
            </a:endParaRPr>
          </a:p>
        </p:txBody>
      </p:sp>
      <p:sp>
        <p:nvSpPr>
          <p:cNvPr id="277" name="Google Shape;277;p19"/>
          <p:cNvSpPr/>
          <p:nvPr/>
        </p:nvSpPr>
        <p:spPr>
          <a:xfrm>
            <a:off x="4479871" y="1285844"/>
            <a:ext cx="2927400" cy="3879900"/>
          </a:xfrm>
          <a:prstGeom prst="roundRect">
            <a:avLst>
              <a:gd fmla="val 8352" name="adj"/>
            </a:avLst>
          </a:prstGeom>
          <a:solidFill>
            <a:srgbClr val="FFFFFF"/>
          </a:solidFill>
          <a:ln cap="flat" cmpd="sng" w="19050">
            <a:solidFill>
              <a:srgbClr val="C23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a:off x="4716228" y="1522202"/>
            <a:ext cx="2528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386B"/>
              </a:buClr>
              <a:buSzPts val="1200"/>
              <a:buFont typeface="DM Sans"/>
              <a:buNone/>
            </a:pPr>
            <a:r>
              <a:rPr b="1" i="0" lang="en-US" sz="1200" u="none" cap="none" strike="noStrike">
                <a:solidFill>
                  <a:srgbClr val="C2386B"/>
                </a:solidFill>
                <a:latin typeface="DM Sans"/>
                <a:ea typeface="DM Sans"/>
                <a:cs typeface="DM Sans"/>
                <a:sym typeface="DM Sans"/>
              </a:rPr>
              <a:t>SCORE</a:t>
            </a:r>
            <a:endParaRPr b="0" i="0" sz="1200" u="none" cap="none" strike="noStrike">
              <a:solidFill>
                <a:schemeClr val="dk1"/>
              </a:solidFill>
              <a:latin typeface="Calibri"/>
              <a:ea typeface="Calibri"/>
              <a:cs typeface="Calibri"/>
              <a:sym typeface="Calibri"/>
            </a:endParaRPr>
          </a:p>
        </p:txBody>
      </p:sp>
      <p:sp>
        <p:nvSpPr>
          <p:cNvPr id="279" name="Google Shape;279;p19"/>
          <p:cNvSpPr/>
          <p:nvPr/>
        </p:nvSpPr>
        <p:spPr>
          <a:xfrm>
            <a:off x="4716228" y="1862609"/>
            <a:ext cx="25281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B2340"/>
              </a:buClr>
              <a:buSzPts val="4800"/>
              <a:buFont typeface="DM Sans"/>
              <a:buNone/>
            </a:pPr>
            <a:r>
              <a:rPr b="1" i="0" lang="en-US" sz="4800" u="none" cap="none" strike="noStrike">
                <a:solidFill>
                  <a:srgbClr val="3B2340"/>
                </a:solidFill>
                <a:latin typeface="DM Sans"/>
                <a:ea typeface="DM Sans"/>
                <a:cs typeface="DM Sans"/>
                <a:sym typeface="DM Sans"/>
              </a:rPr>
              <a:t>88.0</a:t>
            </a:r>
            <a:endParaRPr b="0" i="0" sz="4800" u="none" cap="none" strike="noStrike">
              <a:solidFill>
                <a:schemeClr val="dk1"/>
              </a:solidFill>
              <a:latin typeface="Calibri"/>
              <a:ea typeface="Calibri"/>
              <a:cs typeface="Calibri"/>
              <a:sym typeface="Calibri"/>
            </a:endParaRPr>
          </a:p>
        </p:txBody>
      </p:sp>
      <p:sp>
        <p:nvSpPr>
          <p:cNvPr id="280" name="Google Shape;280;p19"/>
          <p:cNvSpPr/>
          <p:nvPr/>
        </p:nvSpPr>
        <p:spPr>
          <a:xfrm>
            <a:off x="4716228" y="2599172"/>
            <a:ext cx="2454600" cy="366900"/>
          </a:xfrm>
          <a:prstGeom prst="roundRect">
            <a:avLst>
              <a:gd fmla="val 20772" name="adj"/>
            </a:avLst>
          </a:prstGeom>
          <a:solidFill>
            <a:srgbClr val="FBD3C2"/>
          </a:solidFill>
          <a:ln>
            <a:noFill/>
          </a:ln>
        </p:spPr>
        <p:txBody>
          <a:bodyPr anchorCtr="0" anchor="t" bIns="28475" lIns="104675" spcFirstLastPara="1" rIns="38650" wrap="square" tIns="53875">
            <a:noAutofit/>
          </a:bodyPr>
          <a:lstStyle/>
          <a:p>
            <a:pPr indent="0" lvl="0" marL="0" marR="0" rtl="0" algn="l">
              <a:lnSpc>
                <a:spcPct val="130000"/>
              </a:lnSpc>
              <a:spcBef>
                <a:spcPts val="0"/>
              </a:spcBef>
              <a:spcAft>
                <a:spcPts val="0"/>
              </a:spcAft>
              <a:buClr>
                <a:srgbClr val="3B2340"/>
              </a:buClr>
              <a:buSzPts val="1300"/>
              <a:buFont typeface="DM Sans"/>
              <a:buNone/>
            </a:pPr>
            <a:r>
              <a:rPr b="1" i="0" lang="en-US" sz="1300" u="none" cap="none" strike="noStrike">
                <a:solidFill>
                  <a:srgbClr val="3B2340"/>
                </a:solidFill>
                <a:latin typeface="DM Sans"/>
                <a:ea typeface="DM Sans"/>
                <a:cs typeface="DM Sans"/>
                <a:sym typeface="DM Sans"/>
              </a:rPr>
              <a:t>Elevated pattern signal</a:t>
            </a:r>
            <a:endParaRPr b="0" i="0" sz="1300" u="none" cap="none" strike="noStrike">
              <a:solidFill>
                <a:schemeClr val="dk1"/>
              </a:solidFill>
              <a:latin typeface="Calibri"/>
              <a:ea typeface="Calibri"/>
              <a:cs typeface="Calibri"/>
              <a:sym typeface="Calibri"/>
            </a:endParaRPr>
          </a:p>
        </p:txBody>
      </p:sp>
      <p:sp>
        <p:nvSpPr>
          <p:cNvPr id="281" name="Google Shape;281;p19"/>
          <p:cNvSpPr/>
          <p:nvPr/>
        </p:nvSpPr>
        <p:spPr>
          <a:xfrm>
            <a:off x="4716228" y="3093014"/>
            <a:ext cx="25281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40% from her cycle pattern, 60% from her check-in answers.</a:t>
            </a:r>
            <a:endParaRPr b="0" i="0" sz="1300" u="none" cap="none" strike="noStrike">
              <a:solidFill>
                <a:schemeClr val="dk1"/>
              </a:solidFill>
              <a:latin typeface="Calibri"/>
              <a:ea typeface="Calibri"/>
              <a:cs typeface="Calibri"/>
              <a:sym typeface="Calibri"/>
            </a:endParaRPr>
          </a:p>
        </p:txBody>
      </p:sp>
      <p:sp>
        <p:nvSpPr>
          <p:cNvPr id="282" name="Google Shape;282;p19"/>
          <p:cNvSpPr/>
          <p:nvPr/>
        </p:nvSpPr>
        <p:spPr>
          <a:xfrm>
            <a:off x="4716228" y="3913281"/>
            <a:ext cx="25281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B2340"/>
              </a:buClr>
              <a:buSzPts val="1300"/>
              <a:buFont typeface="DM Sans"/>
              <a:buNone/>
            </a:pPr>
            <a:r>
              <a:rPr b="0" i="0" lang="en-US" sz="1300" u="none" cap="none" strike="noStrike">
                <a:solidFill>
                  <a:srgbClr val="3B2340"/>
                </a:solidFill>
                <a:latin typeface="DM Sans"/>
                <a:ea typeface="DM Sans"/>
                <a:cs typeface="DM Sans"/>
                <a:sym typeface="DM Sans"/>
              </a:rPr>
              <a:t>Cycles: 38, 44 and 41 days (typical: 21 to 35)</a:t>
            </a:r>
            <a:endParaRPr b="0" i="0" sz="1300" u="none" cap="none" strike="noStrike">
              <a:solidFill>
                <a:schemeClr val="dk1"/>
              </a:solidFill>
              <a:latin typeface="Calibri"/>
              <a:ea typeface="Calibri"/>
              <a:cs typeface="Calibri"/>
              <a:sym typeface="Calibri"/>
            </a:endParaRPr>
          </a:p>
        </p:txBody>
      </p:sp>
      <p:sp>
        <p:nvSpPr>
          <p:cNvPr id="283" name="Google Shape;283;p19"/>
          <p:cNvSpPr/>
          <p:nvPr/>
        </p:nvSpPr>
        <p:spPr>
          <a:xfrm>
            <a:off x="4716228" y="4502460"/>
            <a:ext cx="25281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Estimate for information, not a diagnosis.</a:t>
            </a:r>
            <a:endParaRPr b="0" i="0" sz="1200" u="none" cap="none" strike="noStrike">
              <a:solidFill>
                <a:schemeClr val="dk1"/>
              </a:solidFill>
              <a:latin typeface="Calibri"/>
              <a:ea typeface="Calibri"/>
              <a:cs typeface="Calibri"/>
              <a:sym typeface="Calibri"/>
            </a:endParaRPr>
          </a:p>
        </p:txBody>
      </p:sp>
      <p:sp>
        <p:nvSpPr>
          <p:cNvPr id="284" name="Google Shape;284;p19"/>
          <p:cNvSpPr/>
          <p:nvPr/>
        </p:nvSpPr>
        <p:spPr>
          <a:xfrm>
            <a:off x="7781780" y="1398228"/>
            <a:ext cx="2927400" cy="3655200"/>
          </a:xfrm>
          <a:prstGeom prst="roundRect">
            <a:avLst>
              <a:gd fmla="val 8352" name="adj"/>
            </a:avLst>
          </a:prstGeom>
          <a:solidFill>
            <a:srgbClr val="FFFFFF"/>
          </a:solidFill>
          <a:ln cap="flat" cmpd="sng" w="19050">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8018138" y="1634585"/>
            <a:ext cx="2528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5CB8"/>
              </a:buClr>
              <a:buSzPts val="1200"/>
              <a:buFont typeface="DM Sans"/>
              <a:buNone/>
            </a:pPr>
            <a:r>
              <a:rPr b="1" i="0" lang="en-US" sz="1200" u="none" cap="none" strike="noStrike">
                <a:solidFill>
                  <a:srgbClr val="7A5CB8"/>
                </a:solidFill>
                <a:latin typeface="DM Sans"/>
                <a:ea typeface="DM Sans"/>
                <a:cs typeface="DM Sans"/>
                <a:sym typeface="DM Sans"/>
              </a:rPr>
              <a:t>WHY</a:t>
            </a:r>
            <a:endParaRPr b="0" i="0" sz="1200" u="none" cap="none" strike="noStrike">
              <a:solidFill>
                <a:schemeClr val="dk1"/>
              </a:solidFill>
              <a:latin typeface="Calibri"/>
              <a:ea typeface="Calibri"/>
              <a:cs typeface="Calibri"/>
              <a:sym typeface="Calibri"/>
            </a:endParaRPr>
          </a:p>
        </p:txBody>
      </p:sp>
      <p:sp>
        <p:nvSpPr>
          <p:cNvPr id="286" name="Google Shape;286;p19"/>
          <p:cNvSpPr/>
          <p:nvPr/>
        </p:nvSpPr>
        <p:spPr>
          <a:xfrm>
            <a:off x="8018138" y="1974999"/>
            <a:ext cx="2528100" cy="317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B2340"/>
              </a:buClr>
              <a:buSzPts val="2000"/>
              <a:buFont typeface="DM Sans"/>
              <a:buNone/>
            </a:pPr>
            <a:r>
              <a:rPr b="1" i="0" lang="en-US" sz="2000" u="none" cap="none" strike="noStrike">
                <a:solidFill>
                  <a:srgbClr val="3B2340"/>
                </a:solidFill>
                <a:latin typeface="DM Sans"/>
                <a:ea typeface="DM Sans"/>
                <a:cs typeface="DM Sans"/>
                <a:sym typeface="DM Sans"/>
              </a:rPr>
              <a:t>What is driving it</a:t>
            </a:r>
            <a:endParaRPr b="0" i="0" sz="2000" u="none" cap="none" strike="noStrike">
              <a:solidFill>
                <a:schemeClr val="dk1"/>
              </a:solidFill>
              <a:latin typeface="Calibri"/>
              <a:ea typeface="Calibri"/>
              <a:cs typeface="Calibri"/>
              <a:sym typeface="Calibri"/>
            </a:endParaRPr>
          </a:p>
        </p:txBody>
      </p:sp>
      <p:sp>
        <p:nvSpPr>
          <p:cNvPr id="287" name="Google Shape;287;p19"/>
          <p:cNvSpPr/>
          <p:nvPr/>
        </p:nvSpPr>
        <p:spPr>
          <a:xfrm>
            <a:off x="8102720" y="2394062"/>
            <a:ext cx="2436000" cy="1092000"/>
          </a:xfrm>
          <a:prstGeom prst="rect">
            <a:avLst/>
          </a:prstGeom>
          <a:noFill/>
          <a:ln>
            <a:noFill/>
          </a:ln>
        </p:spPr>
        <p:txBody>
          <a:bodyPr anchorCtr="0" anchor="t" bIns="0" lIns="0" spcFirstLastPara="1" rIns="0" wrap="square" tIns="0">
            <a:noAutofit/>
          </a:bodyPr>
          <a:lstStyle/>
          <a:p>
            <a:pPr indent="-169418" lvl="0" marL="169418" marR="0" rtl="0" algn="l">
              <a:lnSpc>
                <a:spcPct val="150000"/>
              </a:lnSpc>
              <a:spcBef>
                <a:spcPts val="0"/>
              </a:spcBef>
              <a:spcAft>
                <a:spcPts val="0"/>
              </a:spcAft>
              <a:buClr>
                <a:srgbClr val="3B2340"/>
              </a:buClr>
              <a:buSzPts val="1400"/>
              <a:buFont typeface="DM Sans"/>
              <a:buChar char="•"/>
            </a:pPr>
            <a:r>
              <a:rPr b="0" i="0" lang="en-US" sz="1400" u="none" cap="none" strike="noStrike">
                <a:solidFill>
                  <a:srgbClr val="3B2340"/>
                </a:solidFill>
                <a:latin typeface="DM Sans"/>
                <a:ea typeface="DM Sans"/>
                <a:cs typeface="DM Sans"/>
                <a:sym typeface="DM Sans"/>
              </a:rPr>
              <a:t>Skin darkening +12</a:t>
            </a:r>
            <a:endParaRPr b="0" i="0" sz="1400" u="none" cap="none" strike="noStrike">
              <a:solidFill>
                <a:schemeClr val="dk1"/>
              </a:solidFill>
              <a:latin typeface="Calibri"/>
              <a:ea typeface="Calibri"/>
              <a:cs typeface="Calibri"/>
              <a:sym typeface="Calibri"/>
            </a:endParaRPr>
          </a:p>
          <a:p>
            <a:pPr indent="-169418" lvl="0" marL="169418" marR="0" rtl="0" algn="l">
              <a:lnSpc>
                <a:spcPct val="150000"/>
              </a:lnSpc>
              <a:spcBef>
                <a:spcPts val="0"/>
              </a:spcBef>
              <a:spcAft>
                <a:spcPts val="0"/>
              </a:spcAft>
              <a:buClr>
                <a:srgbClr val="3B2340"/>
              </a:buClr>
              <a:buSzPts val="1400"/>
              <a:buFont typeface="DM Sans"/>
              <a:buChar char="•"/>
            </a:pPr>
            <a:r>
              <a:rPr b="0" i="0" lang="en-US" sz="1400" u="none" cap="none" strike="noStrike">
                <a:solidFill>
                  <a:srgbClr val="3B2340"/>
                </a:solidFill>
                <a:latin typeface="DM Sans"/>
                <a:ea typeface="DM Sans"/>
                <a:cs typeface="DM Sans"/>
                <a:sym typeface="DM Sans"/>
              </a:rPr>
              <a:t>Weight gain +9</a:t>
            </a:r>
            <a:endParaRPr b="0" i="0" sz="1400" u="none" cap="none" strike="noStrike">
              <a:solidFill>
                <a:schemeClr val="dk1"/>
              </a:solidFill>
              <a:latin typeface="Calibri"/>
              <a:ea typeface="Calibri"/>
              <a:cs typeface="Calibri"/>
              <a:sym typeface="Calibri"/>
            </a:endParaRPr>
          </a:p>
          <a:p>
            <a:pPr indent="-169418" lvl="0" marL="169418" marR="0" rtl="0" algn="l">
              <a:lnSpc>
                <a:spcPct val="150000"/>
              </a:lnSpc>
              <a:spcBef>
                <a:spcPts val="0"/>
              </a:spcBef>
              <a:spcAft>
                <a:spcPts val="0"/>
              </a:spcAft>
              <a:buClr>
                <a:srgbClr val="3B2340"/>
              </a:buClr>
              <a:buSzPts val="1400"/>
              <a:buFont typeface="DM Sans"/>
              <a:buChar char="•"/>
            </a:pPr>
            <a:r>
              <a:rPr b="0" i="0" lang="en-US" sz="1400" u="none" cap="none" strike="noStrike">
                <a:solidFill>
                  <a:srgbClr val="3B2340"/>
                </a:solidFill>
                <a:latin typeface="DM Sans"/>
                <a:ea typeface="DM Sans"/>
                <a:cs typeface="DM Sans"/>
                <a:sym typeface="DM Sans"/>
              </a:rPr>
              <a:t>Hair growth +8</a:t>
            </a:r>
            <a:endParaRPr b="0" i="0" sz="1400" u="none" cap="none" strike="noStrike">
              <a:solidFill>
                <a:schemeClr val="dk1"/>
              </a:solidFill>
              <a:latin typeface="Calibri"/>
              <a:ea typeface="Calibri"/>
              <a:cs typeface="Calibri"/>
              <a:sym typeface="Calibri"/>
            </a:endParaRPr>
          </a:p>
          <a:p>
            <a:pPr indent="-169418" lvl="0" marL="169418" marR="0" rtl="0" algn="l">
              <a:lnSpc>
                <a:spcPct val="150000"/>
              </a:lnSpc>
              <a:spcBef>
                <a:spcPts val="0"/>
              </a:spcBef>
              <a:spcAft>
                <a:spcPts val="0"/>
              </a:spcAft>
              <a:buClr>
                <a:srgbClr val="3B2340"/>
              </a:buClr>
              <a:buSzPts val="1400"/>
              <a:buFont typeface="DM Sans"/>
              <a:buChar char="•"/>
            </a:pPr>
            <a:r>
              <a:rPr b="0" i="0" lang="en-US" sz="1400" u="none" cap="none" strike="noStrike">
                <a:solidFill>
                  <a:srgbClr val="3B2340"/>
                </a:solidFill>
                <a:latin typeface="DM Sans"/>
                <a:ea typeface="DM Sans"/>
                <a:cs typeface="DM Sans"/>
                <a:sym typeface="DM Sans"/>
              </a:rPr>
              <a:t>Irregular periods +7.5</a:t>
            </a:r>
            <a:endParaRPr b="0" i="0" sz="1400" u="none" cap="none" strike="noStrike">
              <a:solidFill>
                <a:schemeClr val="dk1"/>
              </a:solidFill>
              <a:latin typeface="Calibri"/>
              <a:ea typeface="Calibri"/>
              <a:cs typeface="Calibri"/>
              <a:sym typeface="Calibri"/>
            </a:endParaRPr>
          </a:p>
        </p:txBody>
      </p:sp>
      <p:sp>
        <p:nvSpPr>
          <p:cNvPr id="288" name="Google Shape;288;p19"/>
          <p:cNvSpPr/>
          <p:nvPr/>
        </p:nvSpPr>
        <p:spPr>
          <a:xfrm>
            <a:off x="8018138" y="3587570"/>
            <a:ext cx="25281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B2340"/>
              </a:buClr>
              <a:buSzPts val="1300"/>
              <a:buFont typeface="DM Sans"/>
              <a:buNone/>
            </a:pPr>
            <a:r>
              <a:rPr b="1" i="0" lang="en-US" sz="1300" u="none" cap="none" strike="noStrike">
                <a:solidFill>
                  <a:srgbClr val="3B2340"/>
                </a:solidFill>
                <a:latin typeface="DM Sans"/>
                <a:ea typeface="DM Sans"/>
                <a:cs typeface="DM Sans"/>
                <a:sym typeface="DM Sans"/>
              </a:rPr>
              <a:t>Worth discussing with a doctor.</a:t>
            </a:r>
            <a:endParaRPr b="0" i="0" sz="1300" u="none" cap="none" strike="noStrike">
              <a:solidFill>
                <a:schemeClr val="dk1"/>
              </a:solidFill>
              <a:latin typeface="Calibri"/>
              <a:ea typeface="Calibri"/>
              <a:cs typeface="Calibri"/>
              <a:sym typeface="Calibri"/>
            </a:endParaRPr>
          </a:p>
        </p:txBody>
      </p:sp>
      <p:sp>
        <p:nvSpPr>
          <p:cNvPr id="289" name="Google Shape;289;p19"/>
          <p:cNvSpPr/>
          <p:nvPr/>
        </p:nvSpPr>
        <p:spPr>
          <a:xfrm>
            <a:off x="8018138" y="4176750"/>
            <a:ext cx="2528100" cy="665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Points added to her check-in score. Temperature is context only.</a:t>
            </a:r>
            <a:endParaRPr b="0" i="0" sz="1200" u="none" cap="none" strike="noStrike">
              <a:solidFill>
                <a:schemeClr val="dk1"/>
              </a:solidFill>
              <a:latin typeface="Calibri"/>
              <a:ea typeface="Calibri"/>
              <a:cs typeface="Calibri"/>
              <a:sym typeface="Calibri"/>
            </a:endParaRPr>
          </a:p>
        </p:txBody>
      </p:sp>
      <p:sp>
        <p:nvSpPr>
          <p:cNvPr id="290" name="Google Shape;290;p19"/>
          <p:cNvSpPr/>
          <p:nvPr/>
        </p:nvSpPr>
        <p:spPr>
          <a:xfrm>
            <a:off x="812782" y="6238249"/>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291" name="Google Shape;291;p19"/>
          <p:cNvSpPr/>
          <p:nvPr/>
        </p:nvSpPr>
        <p:spPr>
          <a:xfrm>
            <a:off x="10058418" y="6238249"/>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6" name="Shape 296"/>
        <p:cNvGrpSpPr/>
        <p:nvPr/>
      </p:nvGrpSpPr>
      <p:grpSpPr>
        <a:xfrm>
          <a:off x="0" y="0"/>
          <a:ext cx="0" cy="0"/>
          <a:chOff x="0" y="0"/>
          <a:chExt cx="0" cy="0"/>
        </a:xfrm>
      </p:grpSpPr>
      <p:sp>
        <p:nvSpPr>
          <p:cNvPr id="297" name="Google Shape;297;p20"/>
          <p:cNvSpPr/>
          <p:nvPr/>
        </p:nvSpPr>
        <p:spPr>
          <a:xfrm>
            <a:off x="812782" y="812788"/>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Demo: CycleSignal today</a:t>
            </a:r>
            <a:endParaRPr b="0" i="0" sz="3200" u="none" cap="none" strike="noStrike">
              <a:solidFill>
                <a:schemeClr val="dk1"/>
              </a:solidFill>
              <a:latin typeface="Calibri"/>
              <a:ea typeface="Calibri"/>
              <a:cs typeface="Calibri"/>
              <a:sym typeface="Calibri"/>
            </a:endParaRPr>
          </a:p>
        </p:txBody>
      </p:sp>
      <p:sp>
        <p:nvSpPr>
          <p:cNvPr id="298" name="Google Shape;298;p20"/>
          <p:cNvSpPr/>
          <p:nvPr/>
        </p:nvSpPr>
        <p:spPr>
          <a:xfrm>
            <a:off x="812782" y="1462937"/>
            <a:ext cx="108834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Sarah is a fictional user. The scores are real outputs from our code. The watch nights are simulated.</a:t>
            </a:r>
            <a:endParaRPr b="0" i="0" sz="1500" u="none" cap="none" strike="noStrike">
              <a:solidFill>
                <a:schemeClr val="dk1"/>
              </a:solidFill>
              <a:latin typeface="Calibri"/>
              <a:ea typeface="Calibri"/>
              <a:cs typeface="Calibri"/>
              <a:sym typeface="Calibri"/>
            </a:endParaRPr>
          </a:p>
        </p:txBody>
      </p:sp>
      <p:sp>
        <p:nvSpPr>
          <p:cNvPr id="299" name="Google Shape;299;p20"/>
          <p:cNvSpPr/>
          <p:nvPr/>
        </p:nvSpPr>
        <p:spPr>
          <a:xfrm>
            <a:off x="815957" y="1935869"/>
            <a:ext cx="3376500" cy="2836800"/>
          </a:xfrm>
          <a:prstGeom prst="roundRect">
            <a:avLst>
              <a:gd fmla="val 3470"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0"/>
          <p:cNvSpPr/>
          <p:nvPr/>
        </p:nvSpPr>
        <p:spPr>
          <a:xfrm>
            <a:off x="1047119" y="2167031"/>
            <a:ext cx="30015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B6680"/>
              </a:buClr>
              <a:buSzPts val="1700"/>
              <a:buFont typeface="DM Sans"/>
              <a:buNone/>
            </a:pPr>
            <a:r>
              <a:rPr b="1" i="0" lang="en-US" sz="1700" u="none" cap="none" strike="noStrike">
                <a:solidFill>
                  <a:srgbClr val="7B6680"/>
                </a:solidFill>
                <a:latin typeface="DM Sans"/>
                <a:ea typeface="DM Sans"/>
                <a:cs typeface="DM Sans"/>
                <a:sym typeface="DM Sans"/>
              </a:rPr>
              <a:t>Sarah, day 1</a:t>
            </a:r>
            <a:endParaRPr b="0" i="0" sz="1700" u="none" cap="none" strike="noStrike">
              <a:solidFill>
                <a:schemeClr val="dk1"/>
              </a:solidFill>
              <a:latin typeface="Calibri"/>
              <a:ea typeface="Calibri"/>
              <a:cs typeface="Calibri"/>
              <a:sym typeface="Calibri"/>
            </a:endParaRPr>
          </a:p>
        </p:txBody>
      </p:sp>
      <p:sp>
        <p:nvSpPr>
          <p:cNvPr id="301" name="Google Shape;301;p20"/>
          <p:cNvSpPr/>
          <p:nvPr/>
        </p:nvSpPr>
        <p:spPr>
          <a:xfrm>
            <a:off x="1047119" y="2502210"/>
            <a:ext cx="30015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A5CB8"/>
              </a:buClr>
              <a:buSzPts val="4800"/>
              <a:buFont typeface="DM Sans"/>
              <a:buNone/>
            </a:pPr>
            <a:r>
              <a:rPr b="1" i="0" lang="en-US" sz="4800" u="none" cap="none" strike="noStrike">
                <a:solidFill>
                  <a:srgbClr val="7A5CB8"/>
                </a:solidFill>
                <a:latin typeface="DM Sans"/>
                <a:ea typeface="DM Sans"/>
                <a:cs typeface="DM Sans"/>
                <a:sym typeface="DM Sans"/>
              </a:rPr>
              <a:t>66.0</a:t>
            </a:r>
            <a:endParaRPr b="0" i="0" sz="4800" u="none" cap="none" strike="noStrike">
              <a:solidFill>
                <a:schemeClr val="dk1"/>
              </a:solidFill>
              <a:latin typeface="Calibri"/>
              <a:ea typeface="Calibri"/>
              <a:cs typeface="Calibri"/>
              <a:sym typeface="Calibri"/>
            </a:endParaRPr>
          </a:p>
        </p:txBody>
      </p:sp>
      <p:sp>
        <p:nvSpPr>
          <p:cNvPr id="302" name="Google Shape;302;p20"/>
          <p:cNvSpPr/>
          <p:nvPr/>
        </p:nvSpPr>
        <p:spPr>
          <a:xfrm>
            <a:off x="1047119" y="3187898"/>
            <a:ext cx="2914200" cy="341700"/>
          </a:xfrm>
          <a:prstGeom prst="roundRect">
            <a:avLst>
              <a:gd fmla="val 22308" name="adj"/>
            </a:avLst>
          </a:prstGeom>
          <a:solidFill>
            <a:srgbClr val="F8F0FA"/>
          </a:solidFill>
          <a:ln>
            <a:noFill/>
          </a:ln>
        </p:spPr>
        <p:txBody>
          <a:bodyPr anchorCtr="0" anchor="t" bIns="15775" lIns="91975" spcFirstLastPara="1" rIns="11400" wrap="square" tIns="41175">
            <a:noAutofit/>
          </a:bodyPr>
          <a:lstStyle/>
          <a:p>
            <a:pPr indent="0" lvl="0" marL="0" marR="0" rtl="0" algn="l">
              <a:lnSpc>
                <a:spcPct val="130000"/>
              </a:lnSpc>
              <a:spcBef>
                <a:spcPts val="0"/>
              </a:spcBef>
              <a:spcAft>
                <a:spcPts val="0"/>
              </a:spcAft>
              <a:buClr>
                <a:srgbClr val="3B2340"/>
              </a:buClr>
              <a:buSzPts val="1300"/>
              <a:buFont typeface="DM Sans"/>
              <a:buNone/>
            </a:pPr>
            <a:r>
              <a:rPr b="1" i="0" lang="en-US" sz="1300" u="none" cap="none" strike="noStrike">
                <a:solidFill>
                  <a:srgbClr val="3B2340"/>
                </a:solidFill>
                <a:latin typeface="DM Sans"/>
                <a:ea typeface="DM Sans"/>
                <a:cs typeface="DM Sans"/>
                <a:sym typeface="DM Sans"/>
              </a:rPr>
              <a:t>Increased pattern signal</a:t>
            </a:r>
            <a:endParaRPr b="0" i="0" sz="1300" u="none" cap="none" strike="noStrike">
              <a:solidFill>
                <a:schemeClr val="dk1"/>
              </a:solidFill>
              <a:latin typeface="Calibri"/>
              <a:ea typeface="Calibri"/>
              <a:cs typeface="Calibri"/>
              <a:sym typeface="Calibri"/>
            </a:endParaRPr>
          </a:p>
        </p:txBody>
      </p:sp>
      <p:sp>
        <p:nvSpPr>
          <p:cNvPr id="303" name="Google Shape;303;p20"/>
          <p:cNvSpPr/>
          <p:nvPr/>
        </p:nvSpPr>
        <p:spPr>
          <a:xfrm>
            <a:off x="1047119" y="3605609"/>
            <a:ext cx="30015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No cycle history yet, so the app uses a cautious placeholder and shows a low-confidence banner.</a:t>
            </a:r>
            <a:endParaRPr b="0" i="0" sz="1300" u="none" cap="none" strike="noStrike">
              <a:solidFill>
                <a:schemeClr val="dk1"/>
              </a:solidFill>
              <a:latin typeface="Calibri"/>
              <a:ea typeface="Calibri"/>
              <a:cs typeface="Calibri"/>
              <a:sym typeface="Calibri"/>
            </a:endParaRPr>
          </a:p>
        </p:txBody>
      </p:sp>
      <p:sp>
        <p:nvSpPr>
          <p:cNvPr id="304" name="Google Shape;304;p20"/>
          <p:cNvSpPr/>
          <p:nvPr/>
        </p:nvSpPr>
        <p:spPr>
          <a:xfrm>
            <a:off x="4405078" y="1939044"/>
            <a:ext cx="3381900" cy="2830500"/>
          </a:xfrm>
          <a:prstGeom prst="roundRect">
            <a:avLst>
              <a:gd fmla="val 3365" name="adj"/>
            </a:avLst>
          </a:prstGeom>
          <a:solidFill>
            <a:srgbClr val="FFFFFF"/>
          </a:solidFill>
          <a:ln cap="flat" cmpd="sng" w="12700">
            <a:solidFill>
              <a:srgbClr val="C23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0"/>
          <p:cNvSpPr/>
          <p:nvPr/>
        </p:nvSpPr>
        <p:spPr>
          <a:xfrm>
            <a:off x="4638837" y="2172804"/>
            <a:ext cx="30018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700"/>
              <a:buFont typeface="DM Sans"/>
              <a:buNone/>
            </a:pPr>
            <a:r>
              <a:rPr b="1" i="0" lang="en-US" sz="1700" u="none" cap="none" strike="noStrike">
                <a:solidFill>
                  <a:srgbClr val="C2386B"/>
                </a:solidFill>
                <a:latin typeface="DM Sans"/>
                <a:ea typeface="DM Sans"/>
                <a:cs typeface="DM Sans"/>
                <a:sym typeface="DM Sans"/>
              </a:rPr>
              <a:t>Sarah, 3 months later</a:t>
            </a:r>
            <a:endParaRPr b="0" i="0" sz="1700" u="none" cap="none" strike="noStrike">
              <a:solidFill>
                <a:schemeClr val="dk1"/>
              </a:solidFill>
              <a:latin typeface="Calibri"/>
              <a:ea typeface="Calibri"/>
              <a:cs typeface="Calibri"/>
              <a:sym typeface="Calibri"/>
            </a:endParaRPr>
          </a:p>
        </p:txBody>
      </p:sp>
      <p:sp>
        <p:nvSpPr>
          <p:cNvPr id="306" name="Google Shape;306;p20"/>
          <p:cNvSpPr/>
          <p:nvPr/>
        </p:nvSpPr>
        <p:spPr>
          <a:xfrm>
            <a:off x="4638837" y="2507983"/>
            <a:ext cx="30018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386B"/>
              </a:buClr>
              <a:buSzPts val="4800"/>
              <a:buFont typeface="DM Sans"/>
              <a:buNone/>
            </a:pPr>
            <a:r>
              <a:rPr b="1" i="0" lang="en-US" sz="4800" u="none" cap="none" strike="noStrike">
                <a:solidFill>
                  <a:srgbClr val="C2386B"/>
                </a:solidFill>
                <a:latin typeface="DM Sans"/>
                <a:ea typeface="DM Sans"/>
                <a:cs typeface="DM Sans"/>
                <a:sym typeface="DM Sans"/>
              </a:rPr>
              <a:t>88.0</a:t>
            </a:r>
            <a:endParaRPr b="0" i="0" sz="4800" u="none" cap="none" strike="noStrike">
              <a:solidFill>
                <a:schemeClr val="dk1"/>
              </a:solidFill>
              <a:latin typeface="Calibri"/>
              <a:ea typeface="Calibri"/>
              <a:cs typeface="Calibri"/>
              <a:sym typeface="Calibri"/>
            </a:endParaRPr>
          </a:p>
        </p:txBody>
      </p:sp>
      <p:sp>
        <p:nvSpPr>
          <p:cNvPr id="307" name="Google Shape;307;p20"/>
          <p:cNvSpPr/>
          <p:nvPr/>
        </p:nvSpPr>
        <p:spPr>
          <a:xfrm>
            <a:off x="4638837" y="3193672"/>
            <a:ext cx="2914200" cy="341700"/>
          </a:xfrm>
          <a:prstGeom prst="roundRect">
            <a:avLst>
              <a:gd fmla="val 22308" name="adj"/>
            </a:avLst>
          </a:prstGeom>
          <a:solidFill>
            <a:srgbClr val="FBD3C2"/>
          </a:solidFill>
          <a:ln>
            <a:noFill/>
          </a:ln>
        </p:spPr>
        <p:txBody>
          <a:bodyPr anchorCtr="0" anchor="t" bIns="15775" lIns="91975" spcFirstLastPara="1" rIns="11400" wrap="square" tIns="41175">
            <a:noAutofit/>
          </a:bodyPr>
          <a:lstStyle/>
          <a:p>
            <a:pPr indent="0" lvl="0" marL="0" marR="0" rtl="0" algn="l">
              <a:lnSpc>
                <a:spcPct val="130000"/>
              </a:lnSpc>
              <a:spcBef>
                <a:spcPts val="0"/>
              </a:spcBef>
              <a:spcAft>
                <a:spcPts val="0"/>
              </a:spcAft>
              <a:buClr>
                <a:srgbClr val="3B2340"/>
              </a:buClr>
              <a:buSzPts val="1300"/>
              <a:buFont typeface="DM Sans"/>
              <a:buNone/>
            </a:pPr>
            <a:r>
              <a:rPr b="1" i="0" lang="en-US" sz="1300" u="none" cap="none" strike="noStrike">
                <a:solidFill>
                  <a:srgbClr val="3B2340"/>
                </a:solidFill>
                <a:latin typeface="DM Sans"/>
                <a:ea typeface="DM Sans"/>
                <a:cs typeface="DM Sans"/>
                <a:sym typeface="DM Sans"/>
              </a:rPr>
              <a:t>Elevated pattern signal</a:t>
            </a:r>
            <a:endParaRPr b="0" i="0" sz="1300" u="none" cap="none" strike="noStrike">
              <a:solidFill>
                <a:schemeClr val="dk1"/>
              </a:solidFill>
              <a:latin typeface="Calibri"/>
              <a:ea typeface="Calibri"/>
              <a:cs typeface="Calibri"/>
              <a:sym typeface="Calibri"/>
            </a:endParaRPr>
          </a:p>
        </p:txBody>
      </p:sp>
      <p:sp>
        <p:nvSpPr>
          <p:cNvPr id="308" name="Google Shape;308;p20"/>
          <p:cNvSpPr/>
          <p:nvPr/>
        </p:nvSpPr>
        <p:spPr>
          <a:xfrm>
            <a:off x="4638837" y="3611383"/>
            <a:ext cx="3001800" cy="949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Cycles of 38, 44 and 41 days, all longer than the typical 21 to 35. No temperature rise picked up in 2 of 3 cycles.</a:t>
            </a:r>
            <a:endParaRPr b="0" i="0" sz="1300" u="none" cap="none" strike="noStrike">
              <a:solidFill>
                <a:schemeClr val="dk1"/>
              </a:solidFill>
              <a:latin typeface="Calibri"/>
              <a:ea typeface="Calibri"/>
              <a:cs typeface="Calibri"/>
              <a:sym typeface="Calibri"/>
            </a:endParaRPr>
          </a:p>
        </p:txBody>
      </p:sp>
      <p:sp>
        <p:nvSpPr>
          <p:cNvPr id="309" name="Google Shape;309;p20"/>
          <p:cNvSpPr/>
          <p:nvPr/>
        </p:nvSpPr>
        <p:spPr>
          <a:xfrm>
            <a:off x="7999485" y="1935869"/>
            <a:ext cx="3376500" cy="2836800"/>
          </a:xfrm>
          <a:prstGeom prst="roundRect">
            <a:avLst>
              <a:gd fmla="val 3470"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0"/>
          <p:cNvSpPr/>
          <p:nvPr/>
        </p:nvSpPr>
        <p:spPr>
          <a:xfrm>
            <a:off x="8230646" y="2167031"/>
            <a:ext cx="30018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B6680"/>
              </a:buClr>
              <a:buSzPts val="1700"/>
              <a:buFont typeface="DM Sans"/>
              <a:buNone/>
            </a:pPr>
            <a:r>
              <a:rPr b="1" i="0" lang="en-US" sz="1700" u="none" cap="none" strike="noStrike">
                <a:solidFill>
                  <a:srgbClr val="7B6680"/>
                </a:solidFill>
                <a:latin typeface="DM Sans"/>
                <a:ea typeface="DM Sans"/>
                <a:cs typeface="DM Sans"/>
                <a:sym typeface="DM Sans"/>
              </a:rPr>
              <a:t>Aoife, for contrast</a:t>
            </a:r>
            <a:endParaRPr b="0" i="0" sz="1700" u="none" cap="none" strike="noStrike">
              <a:solidFill>
                <a:schemeClr val="dk1"/>
              </a:solidFill>
              <a:latin typeface="Calibri"/>
              <a:ea typeface="Calibri"/>
              <a:cs typeface="Calibri"/>
              <a:sym typeface="Calibri"/>
            </a:endParaRPr>
          </a:p>
        </p:txBody>
      </p:sp>
      <p:sp>
        <p:nvSpPr>
          <p:cNvPr id="311" name="Google Shape;311;p20"/>
          <p:cNvSpPr/>
          <p:nvPr/>
        </p:nvSpPr>
        <p:spPr>
          <a:xfrm>
            <a:off x="8230646" y="2502210"/>
            <a:ext cx="30018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B2340"/>
              </a:buClr>
              <a:buSzPts val="4800"/>
              <a:buFont typeface="DM Sans"/>
              <a:buNone/>
            </a:pPr>
            <a:r>
              <a:rPr b="1" i="0" lang="en-US" sz="4800" u="none" cap="none" strike="noStrike">
                <a:solidFill>
                  <a:srgbClr val="3B2340"/>
                </a:solidFill>
                <a:latin typeface="DM Sans"/>
                <a:ea typeface="DM Sans"/>
                <a:cs typeface="DM Sans"/>
                <a:sym typeface="DM Sans"/>
              </a:rPr>
              <a:t>19.7</a:t>
            </a:r>
            <a:endParaRPr b="0" i="0" sz="4800" u="none" cap="none" strike="noStrike">
              <a:solidFill>
                <a:schemeClr val="dk1"/>
              </a:solidFill>
              <a:latin typeface="Calibri"/>
              <a:ea typeface="Calibri"/>
              <a:cs typeface="Calibri"/>
              <a:sym typeface="Calibri"/>
            </a:endParaRPr>
          </a:p>
        </p:txBody>
      </p:sp>
      <p:sp>
        <p:nvSpPr>
          <p:cNvPr id="312" name="Google Shape;312;p20"/>
          <p:cNvSpPr/>
          <p:nvPr/>
        </p:nvSpPr>
        <p:spPr>
          <a:xfrm>
            <a:off x="8230646" y="3187898"/>
            <a:ext cx="2914200" cy="341700"/>
          </a:xfrm>
          <a:prstGeom prst="roundRect">
            <a:avLst>
              <a:gd fmla="val 22308" name="adj"/>
            </a:avLst>
          </a:prstGeom>
          <a:solidFill>
            <a:srgbClr val="F8F0FA"/>
          </a:solidFill>
          <a:ln>
            <a:noFill/>
          </a:ln>
        </p:spPr>
        <p:txBody>
          <a:bodyPr anchorCtr="0" anchor="t" bIns="15775" lIns="91975" spcFirstLastPara="1" rIns="11400" wrap="square" tIns="41175">
            <a:noAutofit/>
          </a:bodyPr>
          <a:lstStyle/>
          <a:p>
            <a:pPr indent="0" lvl="0" marL="0" marR="0" rtl="0" algn="l">
              <a:lnSpc>
                <a:spcPct val="130000"/>
              </a:lnSpc>
              <a:spcBef>
                <a:spcPts val="0"/>
              </a:spcBef>
              <a:spcAft>
                <a:spcPts val="0"/>
              </a:spcAft>
              <a:buClr>
                <a:srgbClr val="3B2340"/>
              </a:buClr>
              <a:buSzPts val="1300"/>
              <a:buFont typeface="DM Sans"/>
              <a:buNone/>
            </a:pPr>
            <a:r>
              <a:rPr b="1" i="0" lang="en-US" sz="1300" u="none" cap="none" strike="noStrike">
                <a:solidFill>
                  <a:srgbClr val="3B2340"/>
                </a:solidFill>
                <a:latin typeface="DM Sans"/>
                <a:ea typeface="DM Sans"/>
                <a:cs typeface="DM Sans"/>
                <a:sym typeface="DM Sans"/>
              </a:rPr>
              <a:t>Low pattern signal</a:t>
            </a:r>
            <a:endParaRPr b="0" i="0" sz="1300" u="none" cap="none" strike="noStrike">
              <a:solidFill>
                <a:schemeClr val="dk1"/>
              </a:solidFill>
              <a:latin typeface="Calibri"/>
              <a:ea typeface="Calibri"/>
              <a:cs typeface="Calibri"/>
              <a:sym typeface="Calibri"/>
            </a:endParaRPr>
          </a:p>
        </p:txBody>
      </p:sp>
      <p:sp>
        <p:nvSpPr>
          <p:cNvPr id="313" name="Google Shape;313;p20"/>
          <p:cNvSpPr/>
          <p:nvPr/>
        </p:nvSpPr>
        <p:spPr>
          <a:xfrm>
            <a:off x="8230646" y="3605609"/>
            <a:ext cx="30018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Regular cycles and few symptoms. A low score still cannot rule PCOS out.</a:t>
            </a:r>
            <a:endParaRPr b="0" i="0" sz="1300" u="none" cap="none" strike="noStrike">
              <a:solidFill>
                <a:schemeClr val="dk1"/>
              </a:solidFill>
              <a:latin typeface="Calibri"/>
              <a:ea typeface="Calibri"/>
              <a:cs typeface="Calibri"/>
              <a:sym typeface="Calibri"/>
            </a:endParaRPr>
          </a:p>
        </p:txBody>
      </p:sp>
      <p:sp>
        <p:nvSpPr>
          <p:cNvPr id="314" name="Google Shape;314;p20"/>
          <p:cNvSpPr/>
          <p:nvPr/>
        </p:nvSpPr>
        <p:spPr>
          <a:xfrm>
            <a:off x="812782" y="5544889"/>
            <a:ext cx="10883400" cy="322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5CB8"/>
              </a:buClr>
              <a:buSzPts val="1800"/>
              <a:buFont typeface="DM Sans"/>
              <a:buNone/>
            </a:pPr>
            <a:r>
              <a:rPr b="1" i="0" lang="en-US" sz="1800" u="none" cap="none" strike="noStrike">
                <a:solidFill>
                  <a:srgbClr val="7A5CB8"/>
                </a:solidFill>
                <a:latin typeface="DM Sans"/>
                <a:ea typeface="DM Sans"/>
                <a:cs typeface="DM Sans"/>
                <a:sym typeface="DM Sans"/>
              </a:rPr>
              <a:t>A risk-awareness score, worth discussing with a doctor. Never a diagnosis.</a:t>
            </a:r>
            <a:endParaRPr b="0" i="0" sz="1800" u="none" cap="none" strike="noStrike">
              <a:solidFill>
                <a:schemeClr val="dk1"/>
              </a:solidFill>
              <a:latin typeface="Calibri"/>
              <a:ea typeface="Calibri"/>
              <a:cs typeface="Calibri"/>
              <a:sym typeface="Calibri"/>
            </a:endParaRPr>
          </a:p>
        </p:txBody>
      </p:sp>
      <p:sp>
        <p:nvSpPr>
          <p:cNvPr id="315" name="Google Shape;315;p20"/>
          <p:cNvSpPr/>
          <p:nvPr/>
        </p:nvSpPr>
        <p:spPr>
          <a:xfrm>
            <a:off x="812782" y="6238249"/>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group showcase</a:t>
            </a:r>
            <a:endParaRPr b="0" i="0" sz="1200" u="none" cap="none" strike="noStrike">
              <a:solidFill>
                <a:schemeClr val="dk1"/>
              </a:solidFill>
              <a:latin typeface="Calibri"/>
              <a:ea typeface="Calibri"/>
              <a:cs typeface="Calibri"/>
              <a:sym typeface="Calibri"/>
            </a:endParaRPr>
          </a:p>
        </p:txBody>
      </p:sp>
      <p:sp>
        <p:nvSpPr>
          <p:cNvPr id="316" name="Google Shape;316;p20"/>
          <p:cNvSpPr/>
          <p:nvPr/>
        </p:nvSpPr>
        <p:spPr>
          <a:xfrm>
            <a:off x="10058418" y="6238249"/>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 name="Shape 321"/>
        <p:cNvGrpSpPr/>
        <p:nvPr/>
      </p:nvGrpSpPr>
      <p:grpSpPr>
        <a:xfrm>
          <a:off x="0" y="0"/>
          <a:ext cx="0" cy="0"/>
          <a:chOff x="0" y="0"/>
          <a:chExt cx="0" cy="0"/>
        </a:xfrm>
      </p:grpSpPr>
      <p:sp>
        <p:nvSpPr>
          <p:cNvPr id="322" name="Google Shape;322;p21"/>
          <p:cNvSpPr/>
          <p:nvPr/>
        </p:nvSpPr>
        <p:spPr>
          <a:xfrm>
            <a:off x="812782" y="812781"/>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What this does not prove yet</a:t>
            </a:r>
            <a:endParaRPr b="0" i="0" sz="3200" u="none" cap="none" strike="noStrike">
              <a:solidFill>
                <a:schemeClr val="dk1"/>
              </a:solidFill>
              <a:latin typeface="Calibri"/>
              <a:ea typeface="Calibri"/>
              <a:cs typeface="Calibri"/>
              <a:sym typeface="Calibri"/>
            </a:endParaRPr>
          </a:p>
        </p:txBody>
      </p:sp>
      <p:sp>
        <p:nvSpPr>
          <p:cNvPr id="323" name="Google Shape;323;p21"/>
          <p:cNvSpPr/>
          <p:nvPr/>
        </p:nvSpPr>
        <p:spPr>
          <a:xfrm>
            <a:off x="812782" y="1513811"/>
            <a:ext cx="10883400" cy="421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2600"/>
              <a:buFont typeface="DM Sans"/>
              <a:buNone/>
            </a:pPr>
            <a:r>
              <a:rPr b="1" i="0" lang="en-US" sz="2600" u="none" cap="none" strike="noStrike">
                <a:solidFill>
                  <a:srgbClr val="C2386B"/>
                </a:solidFill>
                <a:latin typeface="DM Sans"/>
                <a:ea typeface="DM Sans"/>
                <a:cs typeface="DM Sans"/>
                <a:sym typeface="DM Sans"/>
              </a:rPr>
              <a:t>No dataset links wearable data to a PCOS diagnosis.</a:t>
            </a:r>
            <a:endParaRPr b="0" i="0" sz="2600" u="none" cap="none" strike="noStrike">
              <a:solidFill>
                <a:schemeClr val="dk1"/>
              </a:solidFill>
              <a:latin typeface="Calibri"/>
              <a:ea typeface="Calibri"/>
              <a:cs typeface="Calibri"/>
              <a:sym typeface="Calibri"/>
            </a:endParaRPr>
          </a:p>
        </p:txBody>
      </p:sp>
      <p:sp>
        <p:nvSpPr>
          <p:cNvPr id="324" name="Google Shape;324;p21"/>
          <p:cNvSpPr/>
          <p:nvPr/>
        </p:nvSpPr>
        <p:spPr>
          <a:xfrm>
            <a:off x="815957" y="2167229"/>
            <a:ext cx="3376500" cy="1570800"/>
          </a:xfrm>
          <a:prstGeom prst="roundRect">
            <a:avLst>
              <a:gd fmla="val 6266"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1"/>
          <p:cNvSpPr/>
          <p:nvPr/>
        </p:nvSpPr>
        <p:spPr>
          <a:xfrm>
            <a:off x="1047119" y="2398396"/>
            <a:ext cx="30015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1800"/>
              <a:buFont typeface="DM Sans"/>
              <a:buNone/>
            </a:pPr>
            <a:r>
              <a:rPr b="1" i="0" lang="en-US" sz="1800" u="none" cap="none" strike="noStrike">
                <a:solidFill>
                  <a:srgbClr val="3B2340"/>
                </a:solidFill>
                <a:latin typeface="DM Sans"/>
                <a:ea typeface="DM Sans"/>
                <a:cs typeface="DM Sans"/>
                <a:sym typeface="DM Sans"/>
              </a:rPr>
              <a:t>mcPHASES</a:t>
            </a:r>
            <a:endParaRPr b="0" i="0" sz="1800" u="none" cap="none" strike="noStrike">
              <a:solidFill>
                <a:schemeClr val="dk1"/>
              </a:solidFill>
              <a:latin typeface="Calibri"/>
              <a:ea typeface="Calibri"/>
              <a:cs typeface="Calibri"/>
              <a:sym typeface="Calibri"/>
            </a:endParaRPr>
          </a:p>
        </p:txBody>
      </p:sp>
      <p:sp>
        <p:nvSpPr>
          <p:cNvPr id="326" name="Google Shape;326;p21"/>
          <p:cNvSpPr/>
          <p:nvPr/>
        </p:nvSpPr>
        <p:spPr>
          <a:xfrm>
            <a:off x="1047119" y="2748725"/>
            <a:ext cx="30015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400"/>
              <a:buFont typeface="DM Sans"/>
              <a:buNone/>
            </a:pPr>
            <a:r>
              <a:rPr b="0" i="0" lang="en-US" sz="1400" u="none" cap="none" strike="noStrike">
                <a:solidFill>
                  <a:srgbClr val="6B5470"/>
                </a:solidFill>
                <a:latin typeface="DM Sans"/>
                <a:ea typeface="DM Sans"/>
                <a:cs typeface="DM Sans"/>
                <a:sym typeface="DM Sans"/>
              </a:rPr>
              <a:t>Records no PCOS diagnoses, and has 42 people.</a:t>
            </a:r>
            <a:endParaRPr b="0" i="0" sz="1400" u="none" cap="none" strike="noStrike">
              <a:solidFill>
                <a:schemeClr val="dk1"/>
              </a:solidFill>
              <a:latin typeface="Calibri"/>
              <a:ea typeface="Calibri"/>
              <a:cs typeface="Calibri"/>
              <a:sym typeface="Calibri"/>
            </a:endParaRPr>
          </a:p>
        </p:txBody>
      </p:sp>
      <p:sp>
        <p:nvSpPr>
          <p:cNvPr id="327" name="Google Shape;327;p21"/>
          <p:cNvSpPr/>
          <p:nvPr/>
        </p:nvSpPr>
        <p:spPr>
          <a:xfrm>
            <a:off x="4401903" y="2167229"/>
            <a:ext cx="3376500" cy="1570800"/>
          </a:xfrm>
          <a:prstGeom prst="roundRect">
            <a:avLst>
              <a:gd fmla="val 6266"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1"/>
          <p:cNvSpPr/>
          <p:nvPr/>
        </p:nvSpPr>
        <p:spPr>
          <a:xfrm>
            <a:off x="4633064" y="2398396"/>
            <a:ext cx="30018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1800"/>
              <a:buFont typeface="DM Sans"/>
              <a:buNone/>
            </a:pPr>
            <a:r>
              <a:rPr b="1" i="0" lang="en-US" sz="1800" u="none" cap="none" strike="noStrike">
                <a:solidFill>
                  <a:srgbClr val="3B2340"/>
                </a:solidFill>
                <a:latin typeface="DM Sans"/>
                <a:ea typeface="DM Sans"/>
                <a:cs typeface="DM Sans"/>
                <a:sym typeface="DM Sans"/>
              </a:rPr>
              <a:t>Kaggle clinical data</a:t>
            </a:r>
            <a:endParaRPr b="0" i="0" sz="1800" u="none" cap="none" strike="noStrike">
              <a:solidFill>
                <a:schemeClr val="dk1"/>
              </a:solidFill>
              <a:latin typeface="Calibri"/>
              <a:ea typeface="Calibri"/>
              <a:cs typeface="Calibri"/>
              <a:sym typeface="Calibri"/>
            </a:endParaRPr>
          </a:p>
        </p:txBody>
      </p:sp>
      <p:sp>
        <p:nvSpPr>
          <p:cNvPr id="329" name="Google Shape;329;p21"/>
          <p:cNvSpPr/>
          <p:nvPr/>
        </p:nvSpPr>
        <p:spPr>
          <a:xfrm>
            <a:off x="4633064" y="2748725"/>
            <a:ext cx="30018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400"/>
              <a:buFont typeface="DM Sans"/>
              <a:buNone/>
            </a:pPr>
            <a:r>
              <a:rPr b="0" i="0" lang="en-US" sz="1400" u="none" cap="none" strike="noStrike">
                <a:solidFill>
                  <a:srgbClr val="6B5470"/>
                </a:solidFill>
                <a:latin typeface="DM Sans"/>
                <a:ea typeface="DM Sans"/>
                <a:cs typeface="DM Sans"/>
                <a:sym typeface="DM Sans"/>
              </a:rPr>
              <a:t>Has no wearable signals.</a:t>
            </a:r>
            <a:endParaRPr b="0" i="0" sz="1400" u="none" cap="none" strike="noStrike">
              <a:solidFill>
                <a:schemeClr val="dk1"/>
              </a:solidFill>
              <a:latin typeface="Calibri"/>
              <a:ea typeface="Calibri"/>
              <a:cs typeface="Calibri"/>
              <a:sym typeface="Calibri"/>
            </a:endParaRPr>
          </a:p>
        </p:txBody>
      </p:sp>
      <p:sp>
        <p:nvSpPr>
          <p:cNvPr id="330" name="Google Shape;330;p21"/>
          <p:cNvSpPr/>
          <p:nvPr/>
        </p:nvSpPr>
        <p:spPr>
          <a:xfrm>
            <a:off x="7991114" y="2170404"/>
            <a:ext cx="3381900" cy="1564500"/>
          </a:xfrm>
          <a:prstGeom prst="roundRect">
            <a:avLst>
              <a:gd fmla="val 6088" name="adj"/>
            </a:avLst>
          </a:prstGeom>
          <a:solidFill>
            <a:srgbClr val="FFFFFF"/>
          </a:solidFill>
          <a:ln cap="flat" cmpd="sng" w="12700">
            <a:solidFill>
              <a:srgbClr val="7A5C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1"/>
          <p:cNvSpPr/>
          <p:nvPr/>
        </p:nvSpPr>
        <p:spPr>
          <a:xfrm>
            <a:off x="8224873" y="2404163"/>
            <a:ext cx="30018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1800"/>
              <a:buFont typeface="DM Sans"/>
              <a:buNone/>
            </a:pPr>
            <a:r>
              <a:rPr b="1" i="0" lang="en-US" sz="1800" u="none" cap="none" strike="noStrike">
                <a:solidFill>
                  <a:srgbClr val="7A5CB8"/>
                </a:solidFill>
                <a:latin typeface="DM Sans"/>
                <a:ea typeface="DM Sans"/>
                <a:cs typeface="DM Sans"/>
                <a:sym typeface="DM Sans"/>
              </a:rPr>
              <a:t>So</a:t>
            </a:r>
            <a:endParaRPr b="0" i="0" sz="1800" u="none" cap="none" strike="noStrike">
              <a:solidFill>
                <a:schemeClr val="dk1"/>
              </a:solidFill>
              <a:latin typeface="Calibri"/>
              <a:ea typeface="Calibri"/>
              <a:cs typeface="Calibri"/>
              <a:sym typeface="Calibri"/>
            </a:endParaRPr>
          </a:p>
        </p:txBody>
      </p:sp>
      <p:sp>
        <p:nvSpPr>
          <p:cNvPr id="332" name="Google Shape;332;p21"/>
          <p:cNvSpPr/>
          <p:nvPr/>
        </p:nvSpPr>
        <p:spPr>
          <a:xfrm>
            <a:off x="8224873" y="2754492"/>
            <a:ext cx="3001800" cy="77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400"/>
              <a:buFont typeface="DM Sans"/>
              <a:buNone/>
            </a:pPr>
            <a:r>
              <a:rPr b="0" i="0" lang="en-US" sz="1400" u="none" cap="none" strike="noStrike">
                <a:solidFill>
                  <a:srgbClr val="6B5470"/>
                </a:solidFill>
                <a:latin typeface="DM Sans"/>
                <a:ea typeface="DM Sans"/>
                <a:cs typeface="DM Sans"/>
                <a:sym typeface="DM Sans"/>
              </a:rPr>
              <a:t>Each model is tested on its own. The combined flag is untested and needs a future study.</a:t>
            </a:r>
            <a:endParaRPr b="0" i="0" sz="1400" u="none" cap="none" strike="noStrike">
              <a:solidFill>
                <a:schemeClr val="dk1"/>
              </a:solidFill>
              <a:latin typeface="Calibri"/>
              <a:ea typeface="Calibri"/>
              <a:cs typeface="Calibri"/>
              <a:sym typeface="Calibri"/>
            </a:endParaRPr>
          </a:p>
        </p:txBody>
      </p:sp>
      <p:sp>
        <p:nvSpPr>
          <p:cNvPr id="333" name="Google Shape;333;p21"/>
          <p:cNvSpPr/>
          <p:nvPr/>
        </p:nvSpPr>
        <p:spPr>
          <a:xfrm>
            <a:off x="812782" y="3995186"/>
            <a:ext cx="108834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400"/>
              <a:buFont typeface="DM Sans"/>
              <a:buNone/>
            </a:pPr>
            <a:r>
              <a:rPr b="0" i="0" lang="en-US" sz="1400" u="none" cap="none" strike="noStrike">
                <a:solidFill>
                  <a:srgbClr val="6B5470"/>
                </a:solidFill>
                <a:latin typeface="DM Sans"/>
                <a:ea typeface="DM Sans"/>
                <a:cs typeface="DM Sans"/>
                <a:sym typeface="DM Sans"/>
              </a:rPr>
              <a:t>Outputs are estimates for information. They are not for contraception or diagnosis.</a:t>
            </a:r>
            <a:endParaRPr b="0" i="0" sz="1400" u="none" cap="none" strike="noStrike">
              <a:solidFill>
                <a:schemeClr val="dk1"/>
              </a:solidFill>
              <a:latin typeface="Calibri"/>
              <a:ea typeface="Calibri"/>
              <a:cs typeface="Calibri"/>
              <a:sym typeface="Calibri"/>
            </a:endParaRPr>
          </a:p>
        </p:txBody>
      </p:sp>
      <p:sp>
        <p:nvSpPr>
          <p:cNvPr id="334" name="Google Shape;334;p21"/>
          <p:cNvSpPr/>
          <p:nvPr/>
        </p:nvSpPr>
        <p:spPr>
          <a:xfrm>
            <a:off x="812782" y="6238249"/>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user demo</a:t>
            </a:r>
            <a:endParaRPr b="0" i="0" sz="1200" u="none" cap="none" strike="noStrike">
              <a:solidFill>
                <a:schemeClr val="dk1"/>
              </a:solidFill>
              <a:latin typeface="Calibri"/>
              <a:ea typeface="Calibri"/>
              <a:cs typeface="Calibri"/>
              <a:sym typeface="Calibri"/>
            </a:endParaRPr>
          </a:p>
        </p:txBody>
      </p:sp>
      <p:sp>
        <p:nvSpPr>
          <p:cNvPr id="335" name="Google Shape;335;p21"/>
          <p:cNvSpPr/>
          <p:nvPr/>
        </p:nvSpPr>
        <p:spPr>
          <a:xfrm>
            <a:off x="10058418" y="6238249"/>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14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0" name="Shape 340"/>
        <p:cNvGrpSpPr/>
        <p:nvPr/>
      </p:nvGrpSpPr>
      <p:grpSpPr>
        <a:xfrm>
          <a:off x="0" y="0"/>
          <a:ext cx="0" cy="0"/>
          <a:chOff x="0" y="0"/>
          <a:chExt cx="0" cy="0"/>
        </a:xfrm>
      </p:grpSpPr>
      <p:sp>
        <p:nvSpPr>
          <p:cNvPr id="341" name="Google Shape;341;p22"/>
          <p:cNvSpPr/>
          <p:nvPr/>
        </p:nvSpPr>
        <p:spPr>
          <a:xfrm>
            <a:off x="812782" y="812775"/>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Putting the data together</a:t>
            </a:r>
            <a:endParaRPr b="0" i="0" sz="3200" u="none" cap="none" strike="noStrike">
              <a:solidFill>
                <a:schemeClr val="dk1"/>
              </a:solidFill>
              <a:latin typeface="Calibri"/>
              <a:ea typeface="Calibri"/>
              <a:cs typeface="Calibri"/>
              <a:sym typeface="Calibri"/>
            </a:endParaRPr>
          </a:p>
        </p:txBody>
      </p:sp>
      <p:sp>
        <p:nvSpPr>
          <p:cNvPr id="342" name="Google Shape;342;p22"/>
          <p:cNvSpPr/>
          <p:nvPr/>
        </p:nvSpPr>
        <p:spPr>
          <a:xfrm>
            <a:off x="815957" y="1516980"/>
            <a:ext cx="3380400" cy="1698900"/>
          </a:xfrm>
          <a:prstGeom prst="roundRect">
            <a:avLst>
              <a:gd fmla="val 5793"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2"/>
          <p:cNvSpPr/>
          <p:nvPr/>
        </p:nvSpPr>
        <p:spPr>
          <a:xfrm>
            <a:off x="1021683" y="1722698"/>
            <a:ext cx="3057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700"/>
              <a:buFont typeface="DM Sans"/>
              <a:buNone/>
            </a:pPr>
            <a:r>
              <a:rPr b="1" i="0" lang="en-US" sz="1700" u="none" cap="none" strike="noStrike">
                <a:solidFill>
                  <a:srgbClr val="C2386B"/>
                </a:solidFill>
                <a:latin typeface="DM Sans"/>
                <a:ea typeface="DM Sans"/>
                <a:cs typeface="DM Sans"/>
                <a:sym typeface="DM Sans"/>
              </a:rPr>
              <a:t>1. Build the daily table</a:t>
            </a:r>
            <a:endParaRPr b="0" i="0" sz="1700" u="none" cap="none" strike="noStrike">
              <a:solidFill>
                <a:schemeClr val="dk1"/>
              </a:solidFill>
              <a:latin typeface="Calibri"/>
              <a:ea typeface="Calibri"/>
              <a:cs typeface="Calibri"/>
              <a:sym typeface="Calibri"/>
            </a:endParaRPr>
          </a:p>
        </p:txBody>
      </p:sp>
      <p:sp>
        <p:nvSpPr>
          <p:cNvPr id="344" name="Google Shape;344;p22"/>
          <p:cNvSpPr/>
          <p:nvPr/>
        </p:nvSpPr>
        <p:spPr>
          <a:xfrm>
            <a:off x="1021683" y="2057884"/>
            <a:ext cx="30579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Join the files on participant id and day in study. A night counts on the day she wakes.</a:t>
            </a:r>
            <a:endParaRPr b="0" i="0" sz="1300" u="none" cap="none" strike="noStrike">
              <a:solidFill>
                <a:schemeClr val="dk1"/>
              </a:solidFill>
              <a:latin typeface="Calibri"/>
              <a:ea typeface="Calibri"/>
              <a:cs typeface="Calibri"/>
              <a:sym typeface="Calibri"/>
            </a:endParaRPr>
          </a:p>
        </p:txBody>
      </p:sp>
      <p:sp>
        <p:nvSpPr>
          <p:cNvPr id="345" name="Google Shape;345;p22"/>
          <p:cNvSpPr/>
          <p:nvPr/>
        </p:nvSpPr>
        <p:spPr>
          <a:xfrm>
            <a:off x="4405781" y="1516980"/>
            <a:ext cx="3380400" cy="1698900"/>
          </a:xfrm>
          <a:prstGeom prst="roundRect">
            <a:avLst>
              <a:gd fmla="val 5793"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2"/>
          <p:cNvSpPr/>
          <p:nvPr/>
        </p:nvSpPr>
        <p:spPr>
          <a:xfrm>
            <a:off x="4611507" y="1722698"/>
            <a:ext cx="3057900" cy="543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700"/>
              <a:buFont typeface="DM Sans"/>
              <a:buNone/>
            </a:pPr>
            <a:r>
              <a:rPr b="1" i="0" lang="en-US" sz="1700" u="none" cap="none" strike="noStrike">
                <a:solidFill>
                  <a:srgbClr val="C2386B"/>
                </a:solidFill>
                <a:latin typeface="DM Sans"/>
                <a:ea typeface="DM Sans"/>
                <a:cs typeface="DM Sans"/>
                <a:sym typeface="DM Sans"/>
              </a:rPr>
              <a:t>2. Nightly signals, on her own scale</a:t>
            </a:r>
            <a:endParaRPr b="0" i="0" sz="1700" u="none" cap="none" strike="noStrike">
              <a:solidFill>
                <a:schemeClr val="dk1"/>
              </a:solidFill>
              <a:latin typeface="Calibri"/>
              <a:ea typeface="Calibri"/>
              <a:cs typeface="Calibri"/>
              <a:sym typeface="Calibri"/>
            </a:endParaRPr>
          </a:p>
        </p:txBody>
      </p:sp>
      <p:sp>
        <p:nvSpPr>
          <p:cNvPr id="347" name="Google Shape;347;p22"/>
          <p:cNvSpPr/>
          <p:nvPr/>
        </p:nvSpPr>
        <p:spPr>
          <a:xfrm>
            <a:off x="4611507" y="2316931"/>
            <a:ext cx="30579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Temperature, sleeping heart rate, HRV and breathing, centred on her early-cycle level.</a:t>
            </a:r>
            <a:endParaRPr b="0" i="0" sz="1300" u="none" cap="none" strike="noStrike">
              <a:solidFill>
                <a:schemeClr val="dk1"/>
              </a:solidFill>
              <a:latin typeface="Calibri"/>
              <a:ea typeface="Calibri"/>
              <a:cs typeface="Calibri"/>
              <a:sym typeface="Calibri"/>
            </a:endParaRPr>
          </a:p>
        </p:txBody>
      </p:sp>
      <p:sp>
        <p:nvSpPr>
          <p:cNvPr id="348" name="Google Shape;348;p22"/>
          <p:cNvSpPr/>
          <p:nvPr/>
        </p:nvSpPr>
        <p:spPr>
          <a:xfrm>
            <a:off x="7995606" y="1516980"/>
            <a:ext cx="3380400" cy="1698900"/>
          </a:xfrm>
          <a:prstGeom prst="roundRect">
            <a:avLst>
              <a:gd fmla="val 5793"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2"/>
          <p:cNvSpPr/>
          <p:nvPr/>
        </p:nvSpPr>
        <p:spPr>
          <a:xfrm>
            <a:off x="8201331" y="1722698"/>
            <a:ext cx="3057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700"/>
              <a:buFont typeface="DM Sans"/>
              <a:buNone/>
            </a:pPr>
            <a:r>
              <a:rPr b="1" i="0" lang="en-US" sz="1700" u="none" cap="none" strike="noStrike">
                <a:solidFill>
                  <a:srgbClr val="C2386B"/>
                </a:solidFill>
                <a:latin typeface="DM Sans"/>
                <a:ea typeface="DM Sans"/>
                <a:cs typeface="DM Sans"/>
                <a:sym typeface="DM Sans"/>
              </a:rPr>
              <a:t>3. Check data quality</a:t>
            </a:r>
            <a:endParaRPr b="0" i="0" sz="1700" u="none" cap="none" strike="noStrike">
              <a:solidFill>
                <a:schemeClr val="dk1"/>
              </a:solidFill>
              <a:latin typeface="Calibri"/>
              <a:ea typeface="Calibri"/>
              <a:cs typeface="Calibri"/>
              <a:sym typeface="Calibri"/>
            </a:endParaRPr>
          </a:p>
        </p:txBody>
      </p:sp>
      <p:sp>
        <p:nvSpPr>
          <p:cNvPr id="350" name="Google Shape;350;p22"/>
          <p:cNvSpPr/>
          <p:nvPr/>
        </p:nvSpPr>
        <p:spPr>
          <a:xfrm>
            <a:off x="8201331" y="2057884"/>
            <a:ext cx="30579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Needs 10+ nights and an early-cycle reference, otherwise: not enough wearable data.</a:t>
            </a:r>
            <a:endParaRPr b="0" i="0" sz="1300" u="none" cap="none" strike="noStrike">
              <a:solidFill>
                <a:schemeClr val="dk1"/>
              </a:solidFill>
              <a:latin typeface="Calibri"/>
              <a:ea typeface="Calibri"/>
              <a:cs typeface="Calibri"/>
              <a:sym typeface="Calibri"/>
            </a:endParaRPr>
          </a:p>
        </p:txBody>
      </p:sp>
      <p:sp>
        <p:nvSpPr>
          <p:cNvPr id="351" name="Google Shape;351;p22"/>
          <p:cNvSpPr/>
          <p:nvPr/>
        </p:nvSpPr>
        <p:spPr>
          <a:xfrm>
            <a:off x="815957" y="3425403"/>
            <a:ext cx="3380400" cy="1698900"/>
          </a:xfrm>
          <a:prstGeom prst="roundRect">
            <a:avLst>
              <a:gd fmla="val 5793"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2"/>
          <p:cNvSpPr/>
          <p:nvPr/>
        </p:nvSpPr>
        <p:spPr>
          <a:xfrm>
            <a:off x="1021683" y="3631133"/>
            <a:ext cx="3057900" cy="543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1700"/>
              <a:buFont typeface="DM Sans"/>
              <a:buNone/>
            </a:pPr>
            <a:r>
              <a:rPr b="1" i="0" lang="en-US" sz="1700" u="none" cap="none" strike="noStrike">
                <a:solidFill>
                  <a:srgbClr val="7A5CB8"/>
                </a:solidFill>
                <a:latin typeface="DM Sans"/>
                <a:ea typeface="DM Sans"/>
                <a:cs typeface="DM Sans"/>
                <a:sym typeface="DM Sans"/>
              </a:rPr>
              <a:t>4. Label cycles from hormones</a:t>
            </a:r>
            <a:endParaRPr b="0" i="0" sz="1700" u="none" cap="none" strike="noStrike">
              <a:solidFill>
                <a:schemeClr val="dk1"/>
              </a:solidFill>
              <a:latin typeface="Calibri"/>
              <a:ea typeface="Calibri"/>
              <a:cs typeface="Calibri"/>
              <a:sym typeface="Calibri"/>
            </a:endParaRPr>
          </a:p>
        </p:txBody>
      </p:sp>
      <p:sp>
        <p:nvSpPr>
          <p:cNvPr id="353" name="Google Shape;353;p22"/>
          <p:cNvSpPr/>
          <p:nvPr/>
        </p:nvSpPr>
        <p:spPr>
          <a:xfrm>
            <a:off x="1021683" y="4225367"/>
            <a:ext cx="30579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A PdG rise confirms ovulation in each cycle. Used only to train and test, never as an input.</a:t>
            </a:r>
            <a:endParaRPr b="0" i="0" sz="1300" u="none" cap="none" strike="noStrike">
              <a:solidFill>
                <a:schemeClr val="dk1"/>
              </a:solidFill>
              <a:latin typeface="Calibri"/>
              <a:ea typeface="Calibri"/>
              <a:cs typeface="Calibri"/>
              <a:sym typeface="Calibri"/>
            </a:endParaRPr>
          </a:p>
        </p:txBody>
      </p:sp>
      <p:sp>
        <p:nvSpPr>
          <p:cNvPr id="354" name="Google Shape;354;p22"/>
          <p:cNvSpPr/>
          <p:nvPr/>
        </p:nvSpPr>
        <p:spPr>
          <a:xfrm>
            <a:off x="4405781" y="3425403"/>
            <a:ext cx="3380400" cy="1698900"/>
          </a:xfrm>
          <a:prstGeom prst="roundRect">
            <a:avLst>
              <a:gd fmla="val 5793"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
          <p:cNvSpPr/>
          <p:nvPr/>
        </p:nvSpPr>
        <p:spPr>
          <a:xfrm>
            <a:off x="4611507" y="3631133"/>
            <a:ext cx="3057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1700"/>
              <a:buFont typeface="DM Sans"/>
              <a:buNone/>
            </a:pPr>
            <a:r>
              <a:rPr b="1" i="0" lang="en-US" sz="1700" u="none" cap="none" strike="noStrike">
                <a:solidFill>
                  <a:srgbClr val="7A5CB8"/>
                </a:solidFill>
                <a:latin typeface="DM Sans"/>
                <a:ea typeface="DM Sans"/>
                <a:cs typeface="DM Sans"/>
                <a:sym typeface="DM Sans"/>
              </a:rPr>
              <a:t>5. Split by person</a:t>
            </a:r>
            <a:endParaRPr b="0" i="0" sz="1700" u="none" cap="none" strike="noStrike">
              <a:solidFill>
                <a:schemeClr val="dk1"/>
              </a:solidFill>
              <a:latin typeface="Calibri"/>
              <a:ea typeface="Calibri"/>
              <a:cs typeface="Calibri"/>
              <a:sym typeface="Calibri"/>
            </a:endParaRPr>
          </a:p>
        </p:txBody>
      </p:sp>
      <p:sp>
        <p:nvSpPr>
          <p:cNvPr id="356" name="Google Shape;356;p22"/>
          <p:cNvSpPr/>
          <p:nvPr/>
        </p:nvSpPr>
        <p:spPr>
          <a:xfrm>
            <a:off x="4611507" y="3966307"/>
            <a:ext cx="30579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From subject-info: each participant, and both of her study rounds, stay on one side.</a:t>
            </a:r>
            <a:endParaRPr b="0" i="0" sz="1300" u="none" cap="none" strike="noStrike">
              <a:solidFill>
                <a:schemeClr val="dk1"/>
              </a:solidFill>
              <a:latin typeface="Calibri"/>
              <a:ea typeface="Calibri"/>
              <a:cs typeface="Calibri"/>
              <a:sym typeface="Calibri"/>
            </a:endParaRPr>
          </a:p>
        </p:txBody>
      </p:sp>
      <p:sp>
        <p:nvSpPr>
          <p:cNvPr id="357" name="Google Shape;357;p22"/>
          <p:cNvSpPr/>
          <p:nvPr/>
        </p:nvSpPr>
        <p:spPr>
          <a:xfrm>
            <a:off x="7995606" y="3425403"/>
            <a:ext cx="3380400" cy="1698900"/>
          </a:xfrm>
          <a:prstGeom prst="roundRect">
            <a:avLst>
              <a:gd fmla="val 5793"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2"/>
          <p:cNvSpPr/>
          <p:nvPr/>
        </p:nvSpPr>
        <p:spPr>
          <a:xfrm>
            <a:off x="8201331" y="3631133"/>
            <a:ext cx="30579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1700"/>
              <a:buFont typeface="DM Sans"/>
              <a:buNone/>
            </a:pPr>
            <a:r>
              <a:rPr b="1" i="0" lang="en-US" sz="1700" u="none" cap="none" strike="noStrike">
                <a:solidFill>
                  <a:srgbClr val="7A5CB8"/>
                </a:solidFill>
                <a:latin typeface="DM Sans"/>
                <a:ea typeface="DM Sans"/>
                <a:cs typeface="DM Sans"/>
                <a:sym typeface="DM Sans"/>
              </a:rPr>
              <a:t>6. Keep extras out for now</a:t>
            </a:r>
            <a:endParaRPr b="0" i="0" sz="1700" u="none" cap="none" strike="noStrike">
              <a:solidFill>
                <a:schemeClr val="dk1"/>
              </a:solidFill>
              <a:latin typeface="Calibri"/>
              <a:ea typeface="Calibri"/>
              <a:cs typeface="Calibri"/>
              <a:sym typeface="Calibri"/>
            </a:endParaRPr>
          </a:p>
        </p:txBody>
      </p:sp>
      <p:sp>
        <p:nvSpPr>
          <p:cNvPr id="359" name="Google Shape;359;p22"/>
          <p:cNvSpPr/>
          <p:nvPr/>
        </p:nvSpPr>
        <p:spPr>
          <a:xfrm>
            <a:off x="8201331" y="3966307"/>
            <a:ext cx="30579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Glucose (round 1 only), calories, steps and similar files stay out. Stress and exercise may come back later.</a:t>
            </a:r>
            <a:endParaRPr b="0" i="0" sz="1300" u="none" cap="none" strike="noStrike">
              <a:solidFill>
                <a:schemeClr val="dk1"/>
              </a:solidFill>
              <a:latin typeface="Calibri"/>
              <a:ea typeface="Calibri"/>
              <a:cs typeface="Calibri"/>
              <a:sym typeface="Calibri"/>
            </a:endParaRPr>
          </a:p>
        </p:txBody>
      </p:sp>
      <p:sp>
        <p:nvSpPr>
          <p:cNvPr id="360" name="Google Shape;360;p22"/>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user demo</a:t>
            </a:r>
            <a:endParaRPr b="0" i="0" sz="1200" u="none" cap="none" strike="noStrike">
              <a:solidFill>
                <a:schemeClr val="dk1"/>
              </a:solidFill>
              <a:latin typeface="Calibri"/>
              <a:ea typeface="Calibri"/>
              <a:cs typeface="Calibri"/>
              <a:sym typeface="Calibri"/>
            </a:endParaRPr>
          </a:p>
        </p:txBody>
      </p:sp>
      <p:sp>
        <p:nvSpPr>
          <p:cNvPr id="361" name="Google Shape;361;p22"/>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6" name="Shape 366"/>
        <p:cNvGrpSpPr/>
        <p:nvPr/>
      </p:nvGrpSpPr>
      <p:grpSpPr>
        <a:xfrm>
          <a:off x="0" y="0"/>
          <a:ext cx="0" cy="0"/>
          <a:chOff x="0" y="0"/>
          <a:chExt cx="0" cy="0"/>
        </a:xfrm>
      </p:grpSpPr>
      <p:sp>
        <p:nvSpPr>
          <p:cNvPr id="367" name="Google Shape;367;p23"/>
          <p:cNvSpPr/>
          <p:nvPr/>
        </p:nvSpPr>
        <p:spPr>
          <a:xfrm>
            <a:off x="812782" y="812775"/>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Model 1 results on held-out people</a:t>
            </a:r>
            <a:endParaRPr b="0" i="0" sz="3200" u="none" cap="none" strike="noStrike">
              <a:solidFill>
                <a:schemeClr val="dk1"/>
              </a:solidFill>
              <a:latin typeface="Calibri"/>
              <a:ea typeface="Calibri"/>
              <a:cs typeface="Calibri"/>
              <a:sym typeface="Calibri"/>
            </a:endParaRPr>
          </a:p>
        </p:txBody>
      </p:sp>
      <p:graphicFrame>
        <p:nvGraphicFramePr>
          <p:cNvPr id="368" name="Google Shape;368;p23"/>
          <p:cNvGraphicFramePr/>
          <p:nvPr/>
        </p:nvGraphicFramePr>
        <p:xfrm>
          <a:off x="824327" y="1525351"/>
          <a:ext cx="3000000" cy="3000000"/>
        </p:xfrm>
        <a:graphic>
          <a:graphicData uri="http://schemas.openxmlformats.org/drawingml/2006/table">
            <a:tbl>
              <a:tblPr>
                <a:noFill/>
                <a:tableStyleId>{CDA2F613-993C-4B29-8FF0-6B7151607D89}</a:tableStyleId>
              </a:tblPr>
              <a:tblGrid>
                <a:gridCol w="4221950"/>
                <a:gridCol w="2110975"/>
                <a:gridCol w="2110975"/>
                <a:gridCol w="2110975"/>
              </a:tblGrid>
              <a:tr h="411475">
                <a:tc>
                  <a:txBody>
                    <a:bodyPr/>
                    <a:lstStyle/>
                    <a:p>
                      <a:pPr indent="0" lvl="0" marL="0" marR="0" rtl="0" algn="l">
                        <a:lnSpc>
                          <a:spcPct val="140000"/>
                        </a:lnSpc>
                        <a:spcBef>
                          <a:spcPts val="0"/>
                        </a:spcBef>
                        <a:spcAft>
                          <a:spcPts val="0"/>
                        </a:spcAft>
                        <a:buClr>
                          <a:srgbClr val="3B2340"/>
                        </a:buClr>
                        <a:buSzPts val="1500"/>
                        <a:buFont typeface="DM Sans"/>
                        <a:buNone/>
                      </a:pPr>
                      <a:r>
                        <a:rPr b="1" lang="en-US" sz="1500" u="none" cap="none" strike="noStrike">
                          <a:solidFill>
                            <a:srgbClr val="3B2340"/>
                          </a:solidFill>
                          <a:latin typeface="DM Sans"/>
                          <a:ea typeface="DM Sans"/>
                          <a:cs typeface="DM Sans"/>
                          <a:sym typeface="DM Sans"/>
                        </a:rPr>
                        <a:t>Measure</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500"/>
                        <a:buFont typeface="DM Sans"/>
                        <a:buNone/>
                      </a:pPr>
                      <a:r>
                        <a:rPr b="1" lang="en-US" sz="1500" u="none" cap="none" strike="noStrike">
                          <a:solidFill>
                            <a:srgbClr val="3B2340"/>
                          </a:solidFill>
                          <a:latin typeface="DM Sans"/>
                          <a:ea typeface="DM Sans"/>
                          <a:cs typeface="DM Sans"/>
                          <a:sym typeface="DM Sans"/>
                        </a:rPr>
                        <a:t>Model 1</a:t>
                      </a:r>
                      <a:endParaRPr sz="1500" u="none" cap="none" strike="noStrike">
                        <a:latin typeface="DM Sans"/>
                        <a:ea typeface="DM Sans"/>
                        <a:cs typeface="DM Sans"/>
                        <a:sym typeface="DM Sans"/>
                      </a:endParaRPr>
                    </a:p>
                  </a:txBody>
                  <a:tcPr marT="66675" marB="66675" marR="66675" marL="6667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500"/>
                        <a:buFont typeface="DM Sans"/>
                        <a:buNone/>
                      </a:pPr>
                      <a:r>
                        <a:rPr b="1" lang="en-US" sz="1500" u="none" cap="none" strike="noStrike">
                          <a:solidFill>
                            <a:srgbClr val="3B2340"/>
                          </a:solidFill>
                          <a:latin typeface="DM Sans"/>
                          <a:ea typeface="DM Sans"/>
                          <a:cs typeface="DM Sans"/>
                          <a:sym typeface="DM Sans"/>
                        </a:rPr>
                        <a:t>Step-fit</a:t>
                      </a:r>
                      <a:endParaRPr sz="1500" u="none" cap="none" strike="noStrike">
                        <a:latin typeface="DM Sans"/>
                        <a:ea typeface="DM Sans"/>
                        <a:cs typeface="DM Sans"/>
                        <a:sym typeface="DM Sans"/>
                      </a:endParaRPr>
                    </a:p>
                  </a:txBody>
                  <a:tcPr marT="66675" marB="66675" marR="66675" marL="6667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c>
                  <a:txBody>
                    <a:bodyPr/>
                    <a:lstStyle/>
                    <a:p>
                      <a:pPr indent="0" lvl="0" marL="0" marR="0" rtl="0" algn="l">
                        <a:lnSpc>
                          <a:spcPct val="140000"/>
                        </a:lnSpc>
                        <a:spcBef>
                          <a:spcPts val="0"/>
                        </a:spcBef>
                        <a:spcAft>
                          <a:spcPts val="0"/>
                        </a:spcAft>
                        <a:buClr>
                          <a:srgbClr val="3B2340"/>
                        </a:buClr>
                        <a:buSzPts val="1500"/>
                        <a:buFont typeface="DM Sans"/>
                        <a:buNone/>
                      </a:pPr>
                      <a:r>
                        <a:rPr b="1" lang="en-US" sz="1500" u="none" cap="none" strike="noStrike">
                          <a:solidFill>
                            <a:srgbClr val="3B2340"/>
                          </a:solidFill>
                          <a:latin typeface="DM Sans"/>
                          <a:ea typeface="DM Sans"/>
                          <a:cs typeface="DM Sans"/>
                          <a:sym typeface="DM Sans"/>
                        </a:rPr>
                        <a:t>Current rule</a:t>
                      </a:r>
                      <a:endParaRPr sz="1500" u="none" cap="none" strike="noStrike">
                        <a:latin typeface="DM Sans"/>
                        <a:ea typeface="DM Sans"/>
                        <a:cs typeface="DM Sans"/>
                        <a:sym typeface="DM Sans"/>
                      </a:endParaRPr>
                    </a:p>
                  </a:txBody>
                  <a:tcPr marT="66675" marB="66675" marR="66675" marL="66675">
                    <a:lnL cap="flat" cmpd="sng" w="12700">
                      <a:solidFill>
                        <a:srgbClr val="BCB6B8"/>
                      </a:solidFill>
                      <a:prstDash val="solid"/>
                      <a:round/>
                      <a:headEnd len="sm" w="sm" type="none"/>
                      <a:tailEnd len="sm" w="sm" type="none"/>
                    </a:lnL>
                    <a:lnR cap="flat" cmpd="sng" w="12700">
                      <a:solidFill>
                        <a:srgbClr val="BCB6B8"/>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BCB6B8"/>
                      </a:solidFill>
                      <a:prstDash val="solid"/>
                      <a:round/>
                      <a:headEnd len="sm" w="sm" type="none"/>
                      <a:tailEnd len="sm" w="sm" type="none"/>
                    </a:lnB>
                    <a:solidFill>
                      <a:srgbClr val="ECE4E6"/>
                    </a:solidFill>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Sensitivity at false alarm 20% or less</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BCB6B8"/>
                      </a:solidFill>
                      <a:prstDash val="solid"/>
                      <a:round/>
                      <a:headEnd len="sm" w="sm" type="none"/>
                      <a:tailEnd len="sm" w="sm" type="none"/>
                    </a:lnT>
                    <a:lnB cap="flat" cmpd="sng" w="12700">
                      <a:solidFill>
                        <a:srgbClr val="CBC4C6"/>
                      </a:solidFill>
                      <a:prstDash val="solid"/>
                      <a:round/>
                      <a:headEnd len="sm" w="sm" type="none"/>
                      <a:tailEnd len="sm" w="sm" type="none"/>
                    </a:lnB>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NPV</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AUC (95% CI by person)</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Ovulation-day error (days)</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Calibration (ECE)</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r h="411475">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Cycles with enough data</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B2340"/>
                        </a:buClr>
                        <a:buSzPts val="1500"/>
                        <a:buFont typeface="DM Sans"/>
                        <a:buNone/>
                      </a:pPr>
                      <a:r>
                        <a:rPr lang="en-US" sz="1500" u="none" cap="none" strike="noStrike">
                          <a:solidFill>
                            <a:srgbClr val="3B2340"/>
                          </a:solidFill>
                          <a:latin typeface="DM Sans"/>
                          <a:ea typeface="DM Sans"/>
                          <a:cs typeface="DM Sans"/>
                          <a:sym typeface="DM Sans"/>
                        </a:rPr>
                        <a:t>[__]</a:t>
                      </a:r>
                      <a:endParaRPr sz="1500" u="none" cap="none" strike="noStrike">
                        <a:latin typeface="DM Sans"/>
                        <a:ea typeface="DM Sans"/>
                        <a:cs typeface="DM Sans"/>
                        <a:sym typeface="DM Sans"/>
                      </a:endParaRPr>
                    </a:p>
                  </a:txBody>
                  <a:tcPr marT="66675" marB="66675" marR="66675" marL="66675">
                    <a:lnL cap="flat" cmpd="sng" w="12700">
                      <a:solidFill>
                        <a:srgbClr val="CBC4C6"/>
                      </a:solidFill>
                      <a:prstDash val="solid"/>
                      <a:round/>
                      <a:headEnd len="sm" w="sm" type="none"/>
                      <a:tailEnd len="sm" w="sm" type="none"/>
                    </a:lnL>
                    <a:lnR cap="flat" cmpd="sng" w="12700">
                      <a:solidFill>
                        <a:srgbClr val="CBC4C6"/>
                      </a:solidFill>
                      <a:prstDash val="solid"/>
                      <a:round/>
                      <a:headEnd len="sm" w="sm" type="none"/>
                      <a:tailEnd len="sm" w="sm" type="none"/>
                    </a:lnR>
                    <a:lnT cap="flat" cmpd="sng" w="12700">
                      <a:solidFill>
                        <a:srgbClr val="CBC4C6"/>
                      </a:solidFill>
                      <a:prstDash val="solid"/>
                      <a:round/>
                      <a:headEnd len="sm" w="sm" type="none"/>
                      <a:tailEnd len="sm" w="sm" type="none"/>
                    </a:lnT>
                    <a:lnB cap="flat" cmpd="sng" w="12700">
                      <a:solidFill>
                        <a:srgbClr val="CBC4C6"/>
                      </a:solidFill>
                      <a:prstDash val="solid"/>
                      <a:round/>
                      <a:headEnd len="sm" w="sm" type="none"/>
                      <a:tailEnd len="sm" w="sm" type="none"/>
                    </a:lnB>
                  </a:tcPr>
                </a:tc>
              </a:tr>
            </a:tbl>
          </a:graphicData>
        </a:graphic>
      </p:graphicFrame>
      <p:sp>
        <p:nvSpPr>
          <p:cNvPr id="369" name="Google Shape;369;p23"/>
          <p:cNvSpPr/>
          <p:nvPr/>
        </p:nvSpPr>
        <p:spPr>
          <a:xfrm>
            <a:off x="812782" y="4659759"/>
            <a:ext cx="108834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400"/>
              <a:buFont typeface="DM Sans"/>
              <a:buNone/>
            </a:pPr>
            <a:r>
              <a:rPr b="0" i="0" lang="en-US" sz="1400" u="none" cap="none" strike="noStrike">
                <a:solidFill>
                  <a:srgbClr val="6B5470"/>
                </a:solidFill>
                <a:latin typeface="DM Sans"/>
                <a:ea typeface="DM Sans"/>
                <a:cs typeface="DM Sans"/>
                <a:sym typeface="DM Sans"/>
              </a:rPr>
              <a:t>Status: in the app, the ovulation check did not pass validation in our data, so temperature is shown as context only and is not part of the score. Fill in the held-out numbers and say so plainly. Model 2 results are on slide 10.</a:t>
            </a:r>
            <a:endParaRPr b="0" i="0" sz="1400" u="none" cap="none" strike="noStrike">
              <a:solidFill>
                <a:schemeClr val="dk1"/>
              </a:solidFill>
              <a:latin typeface="Calibri"/>
              <a:ea typeface="Calibri"/>
              <a:cs typeface="Calibri"/>
              <a:sym typeface="Calibri"/>
            </a:endParaRPr>
          </a:p>
        </p:txBody>
      </p:sp>
      <p:sp>
        <p:nvSpPr>
          <p:cNvPr id="370" name="Google Shape;370;p23"/>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user demo</a:t>
            </a:r>
            <a:endParaRPr b="0" i="0" sz="1200" u="none" cap="none" strike="noStrike">
              <a:solidFill>
                <a:schemeClr val="dk1"/>
              </a:solidFill>
              <a:latin typeface="Calibri"/>
              <a:ea typeface="Calibri"/>
              <a:cs typeface="Calibri"/>
              <a:sym typeface="Calibri"/>
            </a:endParaRPr>
          </a:p>
        </p:txBody>
      </p:sp>
      <p:sp>
        <p:nvSpPr>
          <p:cNvPr id="371" name="Google Shape;371;p23"/>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6" name="Shape 376"/>
        <p:cNvGrpSpPr/>
        <p:nvPr/>
      </p:nvGrpSpPr>
      <p:grpSpPr>
        <a:xfrm>
          <a:off x="0" y="0"/>
          <a:ext cx="0" cy="0"/>
          <a:chOff x="0" y="0"/>
          <a:chExt cx="0" cy="0"/>
        </a:xfrm>
      </p:grpSpPr>
      <p:sp>
        <p:nvSpPr>
          <p:cNvPr id="377" name="Google Shape;377;p24"/>
          <p:cNvSpPr/>
          <p:nvPr/>
        </p:nvSpPr>
        <p:spPr>
          <a:xfrm>
            <a:off x="812782" y="812775"/>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How we test Model 1</a:t>
            </a:r>
            <a:endParaRPr b="0" i="0" sz="3200" u="none" cap="none" strike="noStrike">
              <a:solidFill>
                <a:schemeClr val="dk1"/>
              </a:solidFill>
              <a:latin typeface="Calibri"/>
              <a:ea typeface="Calibri"/>
              <a:cs typeface="Calibri"/>
              <a:sym typeface="Calibri"/>
            </a:endParaRPr>
          </a:p>
        </p:txBody>
      </p:sp>
      <p:sp>
        <p:nvSpPr>
          <p:cNvPr id="378" name="Google Shape;378;p24"/>
          <p:cNvSpPr/>
          <p:nvPr/>
        </p:nvSpPr>
        <p:spPr>
          <a:xfrm>
            <a:off x="815957" y="1516980"/>
            <a:ext cx="5175300" cy="1612500"/>
          </a:xfrm>
          <a:prstGeom prst="roundRect">
            <a:avLst>
              <a:gd fmla="val 6104"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4"/>
          <p:cNvSpPr/>
          <p:nvPr/>
        </p:nvSpPr>
        <p:spPr>
          <a:xfrm>
            <a:off x="1047119" y="1748135"/>
            <a:ext cx="4854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800"/>
              <a:buFont typeface="DM Sans"/>
              <a:buNone/>
            </a:pPr>
            <a:r>
              <a:rPr b="1" i="0" lang="en-US" sz="1800" u="none" cap="none" strike="noStrike">
                <a:solidFill>
                  <a:srgbClr val="C2386B"/>
                </a:solidFill>
                <a:latin typeface="DM Sans"/>
                <a:ea typeface="DM Sans"/>
                <a:cs typeface="DM Sans"/>
                <a:sym typeface="DM Sans"/>
              </a:rPr>
              <a:t>Leave one person out</a:t>
            </a:r>
            <a:endParaRPr b="0" i="0" sz="1800" u="none" cap="none" strike="noStrike">
              <a:solidFill>
                <a:schemeClr val="dk1"/>
              </a:solidFill>
              <a:latin typeface="Calibri"/>
              <a:ea typeface="Calibri"/>
              <a:cs typeface="Calibri"/>
              <a:sym typeface="Calibri"/>
            </a:endParaRPr>
          </a:p>
        </p:txBody>
      </p:sp>
      <p:sp>
        <p:nvSpPr>
          <p:cNvPr id="380" name="Google Shape;380;p24"/>
          <p:cNvSpPr/>
          <p:nvPr/>
        </p:nvSpPr>
        <p:spPr>
          <a:xfrm>
            <a:off x="1047119" y="2098477"/>
            <a:ext cx="4854300" cy="82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Each person is scored by a model that has never seen her. Calibration uses a 5-fold split grouped by person.</a:t>
            </a:r>
            <a:endParaRPr b="0" i="0" sz="1500" u="none" cap="none" strike="noStrike">
              <a:solidFill>
                <a:schemeClr val="dk1"/>
              </a:solidFill>
              <a:latin typeface="Calibri"/>
              <a:ea typeface="Calibri"/>
              <a:cs typeface="Calibri"/>
              <a:sym typeface="Calibri"/>
            </a:endParaRPr>
          </a:p>
        </p:txBody>
      </p:sp>
      <p:sp>
        <p:nvSpPr>
          <p:cNvPr id="381" name="Google Shape;381;p24"/>
          <p:cNvSpPr/>
          <p:nvPr/>
        </p:nvSpPr>
        <p:spPr>
          <a:xfrm>
            <a:off x="6200739" y="1516980"/>
            <a:ext cx="5175300" cy="1612500"/>
          </a:xfrm>
          <a:prstGeom prst="roundRect">
            <a:avLst>
              <a:gd fmla="val 6104"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4"/>
          <p:cNvSpPr/>
          <p:nvPr/>
        </p:nvSpPr>
        <p:spPr>
          <a:xfrm>
            <a:off x="6431900" y="1748135"/>
            <a:ext cx="4854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800"/>
              <a:buFont typeface="DM Sans"/>
              <a:buNone/>
            </a:pPr>
            <a:r>
              <a:rPr b="1" i="0" lang="en-US" sz="1800" u="none" cap="none" strike="noStrike">
                <a:solidFill>
                  <a:srgbClr val="C2386B"/>
                </a:solidFill>
                <a:latin typeface="DM Sans"/>
                <a:ea typeface="DM Sans"/>
                <a:cs typeface="DM Sans"/>
                <a:sym typeface="DM Sans"/>
              </a:rPr>
              <a:t>Detection metrics</a:t>
            </a:r>
            <a:endParaRPr b="0" i="0" sz="1800" u="none" cap="none" strike="noStrike">
              <a:solidFill>
                <a:schemeClr val="dk1"/>
              </a:solidFill>
              <a:latin typeface="Calibri"/>
              <a:ea typeface="Calibri"/>
              <a:cs typeface="Calibri"/>
              <a:sym typeface="Calibri"/>
            </a:endParaRPr>
          </a:p>
        </p:txBody>
      </p:sp>
      <p:sp>
        <p:nvSpPr>
          <p:cNvPr id="383" name="Google Shape;383;p24"/>
          <p:cNvSpPr/>
          <p:nvPr/>
        </p:nvSpPr>
        <p:spPr>
          <a:xfrm>
            <a:off x="6431900" y="2098477"/>
            <a:ext cx="4854300" cy="558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Sensitivity at a false-alarm rate of 20% or less, NPV and AUC, with 95% confidence intervals by person.</a:t>
            </a:r>
            <a:endParaRPr b="0" i="0" sz="1500" u="none" cap="none" strike="noStrike">
              <a:solidFill>
                <a:schemeClr val="dk1"/>
              </a:solidFill>
              <a:latin typeface="Calibri"/>
              <a:ea typeface="Calibri"/>
              <a:cs typeface="Calibri"/>
              <a:sym typeface="Calibri"/>
            </a:endParaRPr>
          </a:p>
        </p:txBody>
      </p:sp>
      <p:sp>
        <p:nvSpPr>
          <p:cNvPr id="384" name="Google Shape;384;p24"/>
          <p:cNvSpPr/>
          <p:nvPr/>
        </p:nvSpPr>
        <p:spPr>
          <a:xfrm>
            <a:off x="815957" y="3338996"/>
            <a:ext cx="5175300" cy="1612500"/>
          </a:xfrm>
          <a:prstGeom prst="roundRect">
            <a:avLst>
              <a:gd fmla="val 6104"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4"/>
          <p:cNvSpPr/>
          <p:nvPr/>
        </p:nvSpPr>
        <p:spPr>
          <a:xfrm>
            <a:off x="1047119" y="3570151"/>
            <a:ext cx="4854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800"/>
              <a:buFont typeface="DM Sans"/>
              <a:buNone/>
            </a:pPr>
            <a:r>
              <a:rPr b="1" i="0" lang="en-US" sz="1800" u="none" cap="none" strike="noStrike">
                <a:solidFill>
                  <a:srgbClr val="C2386B"/>
                </a:solidFill>
                <a:latin typeface="DM Sans"/>
                <a:ea typeface="DM Sans"/>
                <a:cs typeface="DM Sans"/>
                <a:sym typeface="DM Sans"/>
              </a:rPr>
              <a:t>Trust and timing</a:t>
            </a:r>
            <a:endParaRPr b="0" i="0" sz="1800" u="none" cap="none" strike="noStrike">
              <a:solidFill>
                <a:schemeClr val="dk1"/>
              </a:solidFill>
              <a:latin typeface="Calibri"/>
              <a:ea typeface="Calibri"/>
              <a:cs typeface="Calibri"/>
              <a:sym typeface="Calibri"/>
            </a:endParaRPr>
          </a:p>
        </p:txBody>
      </p:sp>
      <p:sp>
        <p:nvSpPr>
          <p:cNvPr id="386" name="Google Shape;386;p24"/>
          <p:cNvSpPr/>
          <p:nvPr/>
        </p:nvSpPr>
        <p:spPr>
          <a:xfrm>
            <a:off x="1047119" y="3920492"/>
            <a:ext cx="4854300" cy="82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Calibration (ECE), so a stated confidence means what it says, and the error in the estimated ovulation day.</a:t>
            </a:r>
            <a:endParaRPr b="0" i="0" sz="1500" u="none" cap="none" strike="noStrike">
              <a:solidFill>
                <a:schemeClr val="dk1"/>
              </a:solidFill>
              <a:latin typeface="Calibri"/>
              <a:ea typeface="Calibri"/>
              <a:cs typeface="Calibri"/>
              <a:sym typeface="Calibri"/>
            </a:endParaRPr>
          </a:p>
        </p:txBody>
      </p:sp>
      <p:sp>
        <p:nvSpPr>
          <p:cNvPr id="387" name="Google Shape;387;p24"/>
          <p:cNvSpPr/>
          <p:nvPr/>
        </p:nvSpPr>
        <p:spPr>
          <a:xfrm>
            <a:off x="6200739" y="3338996"/>
            <a:ext cx="5175300" cy="1612500"/>
          </a:xfrm>
          <a:prstGeom prst="roundRect">
            <a:avLst>
              <a:gd fmla="val 6104"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4"/>
          <p:cNvSpPr/>
          <p:nvPr/>
        </p:nvSpPr>
        <p:spPr>
          <a:xfrm>
            <a:off x="6431900" y="3570151"/>
            <a:ext cx="4854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1800"/>
              <a:buFont typeface="DM Sans"/>
              <a:buNone/>
            </a:pPr>
            <a:r>
              <a:rPr b="1" i="0" lang="en-US" sz="1800" u="none" cap="none" strike="noStrike">
                <a:solidFill>
                  <a:srgbClr val="7A5CB8"/>
                </a:solidFill>
                <a:latin typeface="DM Sans"/>
                <a:ea typeface="DM Sans"/>
                <a:cs typeface="DM Sans"/>
                <a:sym typeface="DM Sans"/>
              </a:rPr>
              <a:t>A bar to clear</a:t>
            </a:r>
            <a:endParaRPr b="0" i="0" sz="1800" u="none" cap="none" strike="noStrike">
              <a:solidFill>
                <a:schemeClr val="dk1"/>
              </a:solidFill>
              <a:latin typeface="Calibri"/>
              <a:ea typeface="Calibri"/>
              <a:cs typeface="Calibri"/>
              <a:sym typeface="Calibri"/>
            </a:endParaRPr>
          </a:p>
        </p:txBody>
      </p:sp>
      <p:sp>
        <p:nvSpPr>
          <p:cNvPr id="389" name="Google Shape;389;p24"/>
          <p:cNvSpPr/>
          <p:nvPr/>
        </p:nvSpPr>
        <p:spPr>
          <a:xfrm>
            <a:off x="6431900" y="3920492"/>
            <a:ext cx="4854300" cy="82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It must beat the step-fit baseline and the current rule on paired AUC. Regular and irregular cycles are reported separately.</a:t>
            </a:r>
            <a:endParaRPr b="0" i="0" sz="1500" u="none" cap="none" strike="noStrike">
              <a:solidFill>
                <a:schemeClr val="dk1"/>
              </a:solidFill>
              <a:latin typeface="Calibri"/>
              <a:ea typeface="Calibri"/>
              <a:cs typeface="Calibri"/>
              <a:sym typeface="Calibri"/>
            </a:endParaRPr>
          </a:p>
        </p:txBody>
      </p:sp>
      <p:sp>
        <p:nvSpPr>
          <p:cNvPr id="390" name="Google Shape;390;p24"/>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user demo</a:t>
            </a:r>
            <a:endParaRPr b="0" i="0" sz="1200" u="none" cap="none" strike="noStrike">
              <a:solidFill>
                <a:schemeClr val="dk1"/>
              </a:solidFill>
              <a:latin typeface="Calibri"/>
              <a:ea typeface="Calibri"/>
              <a:cs typeface="Calibri"/>
              <a:sym typeface="Calibri"/>
            </a:endParaRPr>
          </a:p>
        </p:txBody>
      </p:sp>
      <p:sp>
        <p:nvSpPr>
          <p:cNvPr id="391" name="Google Shape;391;p24"/>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25"/>
          <p:cNvSpPr/>
          <p:nvPr/>
        </p:nvSpPr>
        <p:spPr>
          <a:xfrm>
            <a:off x="812782" y="812775"/>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Tomorrow: one woman, end to end</a:t>
            </a:r>
            <a:endParaRPr b="0" i="0" sz="3200" u="none" cap="none" strike="noStrike">
              <a:solidFill>
                <a:schemeClr val="dk1"/>
              </a:solidFill>
              <a:latin typeface="Calibri"/>
              <a:ea typeface="Calibri"/>
              <a:cs typeface="Calibri"/>
              <a:sym typeface="Calibri"/>
            </a:endParaRPr>
          </a:p>
        </p:txBody>
      </p:sp>
      <p:sp>
        <p:nvSpPr>
          <p:cNvPr id="398" name="Google Shape;398;p25"/>
          <p:cNvSpPr/>
          <p:nvPr/>
        </p:nvSpPr>
        <p:spPr>
          <a:xfrm>
            <a:off x="812782" y="1462931"/>
            <a:ext cx="108834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With data from the same women, followed for 6 to 12 months, ending in a confirmed diagnosis.</a:t>
            </a:r>
            <a:endParaRPr b="0" i="0" sz="1500" u="none" cap="none" strike="noStrike">
              <a:solidFill>
                <a:schemeClr val="dk1"/>
              </a:solidFill>
              <a:latin typeface="Calibri"/>
              <a:ea typeface="Calibri"/>
              <a:cs typeface="Calibri"/>
              <a:sym typeface="Calibri"/>
            </a:endParaRPr>
          </a:p>
        </p:txBody>
      </p:sp>
      <p:sp>
        <p:nvSpPr>
          <p:cNvPr id="399" name="Google Shape;399;p25"/>
          <p:cNvSpPr/>
          <p:nvPr/>
        </p:nvSpPr>
        <p:spPr>
          <a:xfrm>
            <a:off x="815957" y="1935857"/>
            <a:ext cx="5175300" cy="1455000"/>
          </a:xfrm>
          <a:prstGeom prst="roundRect">
            <a:avLst>
              <a:gd fmla="val 6764"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5"/>
          <p:cNvSpPr/>
          <p:nvPr/>
        </p:nvSpPr>
        <p:spPr>
          <a:xfrm>
            <a:off x="1047119" y="2141587"/>
            <a:ext cx="4854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800"/>
              <a:buFont typeface="DM Sans"/>
              <a:buNone/>
            </a:pPr>
            <a:r>
              <a:rPr b="1" i="0" lang="en-US" sz="1800" u="none" cap="none" strike="noStrike">
                <a:solidFill>
                  <a:srgbClr val="C2386B"/>
                </a:solidFill>
                <a:latin typeface="DM Sans"/>
                <a:ea typeface="DM Sans"/>
                <a:cs typeface="DM Sans"/>
                <a:sym typeface="DM Sans"/>
              </a:rPr>
              <a:t>Timeline</a:t>
            </a:r>
            <a:endParaRPr b="0" i="0" sz="1800" u="none" cap="none" strike="noStrike">
              <a:solidFill>
                <a:schemeClr val="dk1"/>
              </a:solidFill>
              <a:latin typeface="Calibri"/>
              <a:ea typeface="Calibri"/>
              <a:cs typeface="Calibri"/>
              <a:sym typeface="Calibri"/>
            </a:endParaRPr>
          </a:p>
        </p:txBody>
      </p:sp>
      <p:sp>
        <p:nvSpPr>
          <p:cNvPr id="401" name="Google Shape;401;p25"/>
          <p:cNvSpPr/>
          <p:nvPr/>
        </p:nvSpPr>
        <p:spPr>
          <a:xfrm>
            <a:off x="1047119" y="2491916"/>
            <a:ext cx="48543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Nine months become one story. A validated ovulation detector shows when ovulation stops, and the score becomes a calibrated likelihood with an uncertainty band.</a:t>
            </a:r>
            <a:endParaRPr b="0" i="0" sz="1300" u="none" cap="none" strike="noStrike">
              <a:solidFill>
                <a:schemeClr val="dk1"/>
              </a:solidFill>
              <a:latin typeface="Calibri"/>
              <a:ea typeface="Calibri"/>
              <a:cs typeface="Calibri"/>
              <a:sym typeface="Calibri"/>
            </a:endParaRPr>
          </a:p>
        </p:txBody>
      </p:sp>
      <p:sp>
        <p:nvSpPr>
          <p:cNvPr id="402" name="Google Shape;402;p25"/>
          <p:cNvSpPr/>
          <p:nvPr/>
        </p:nvSpPr>
        <p:spPr>
          <a:xfrm>
            <a:off x="6200739" y="1935857"/>
            <a:ext cx="5175300" cy="1455000"/>
          </a:xfrm>
          <a:prstGeom prst="roundRect">
            <a:avLst>
              <a:gd fmla="val 6764"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
          <p:cNvSpPr/>
          <p:nvPr/>
        </p:nvSpPr>
        <p:spPr>
          <a:xfrm>
            <a:off x="6431900" y="2141587"/>
            <a:ext cx="4854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1800"/>
              <a:buFont typeface="DM Sans"/>
              <a:buNone/>
            </a:pPr>
            <a:r>
              <a:rPr b="1" i="0" lang="en-US" sz="1800" u="none" cap="none" strike="noStrike">
                <a:solidFill>
                  <a:srgbClr val="C2386B"/>
                </a:solidFill>
                <a:latin typeface="DM Sans"/>
                <a:ea typeface="DM Sans"/>
                <a:cs typeface="DM Sans"/>
                <a:sym typeface="DM Sans"/>
              </a:rPr>
              <a:t>Rotterdam tracker</a:t>
            </a:r>
            <a:endParaRPr b="0" i="0" sz="1800" u="none" cap="none" strike="noStrike">
              <a:solidFill>
                <a:schemeClr val="dk1"/>
              </a:solidFill>
              <a:latin typeface="Calibri"/>
              <a:ea typeface="Calibri"/>
              <a:cs typeface="Calibri"/>
              <a:sym typeface="Calibri"/>
            </a:endParaRPr>
          </a:p>
        </p:txBody>
      </p:sp>
      <p:sp>
        <p:nvSpPr>
          <p:cNvPr id="404" name="Google Shape;404;p25"/>
          <p:cNvSpPr/>
          <p:nvPr/>
        </p:nvSpPr>
        <p:spPr>
          <a:xfrm>
            <a:off x="6431900" y="2491916"/>
            <a:ext cx="4854300" cy="71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Tracks the three areas doctors use. Two of three show evidence, so it recommends a GP visit and prepares a referral summary.</a:t>
            </a:r>
            <a:endParaRPr b="0" i="0" sz="1300" u="none" cap="none" strike="noStrike">
              <a:solidFill>
                <a:schemeClr val="dk1"/>
              </a:solidFill>
              <a:latin typeface="Calibri"/>
              <a:ea typeface="Calibri"/>
              <a:cs typeface="Calibri"/>
              <a:sym typeface="Calibri"/>
            </a:endParaRPr>
          </a:p>
        </p:txBody>
      </p:sp>
      <p:sp>
        <p:nvSpPr>
          <p:cNvPr id="405" name="Google Shape;405;p25"/>
          <p:cNvSpPr/>
          <p:nvPr/>
        </p:nvSpPr>
        <p:spPr>
          <a:xfrm>
            <a:off x="815957" y="3600388"/>
            <a:ext cx="5175300" cy="1224000"/>
          </a:xfrm>
          <a:prstGeom prst="roundRect">
            <a:avLst>
              <a:gd fmla="val 8042"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5"/>
          <p:cNvSpPr/>
          <p:nvPr/>
        </p:nvSpPr>
        <p:spPr>
          <a:xfrm>
            <a:off x="1047119" y="3806118"/>
            <a:ext cx="4854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1800"/>
              <a:buFont typeface="DM Sans"/>
              <a:buNone/>
            </a:pPr>
            <a:r>
              <a:rPr b="1" i="0" lang="en-US" sz="1800" u="none" cap="none" strike="noStrike">
                <a:solidFill>
                  <a:srgbClr val="7A5CB8"/>
                </a:solidFill>
                <a:latin typeface="DM Sans"/>
                <a:ea typeface="DM Sans"/>
                <a:cs typeface="DM Sans"/>
                <a:sym typeface="DM Sans"/>
              </a:rPr>
              <a:t>Labs and scan</a:t>
            </a:r>
            <a:endParaRPr b="0" i="0" sz="1800" u="none" cap="none" strike="noStrike">
              <a:solidFill>
                <a:schemeClr val="dk1"/>
              </a:solidFill>
              <a:latin typeface="Calibri"/>
              <a:ea typeface="Calibri"/>
              <a:cs typeface="Calibri"/>
              <a:sym typeface="Calibri"/>
            </a:endParaRPr>
          </a:p>
        </p:txBody>
      </p:sp>
      <p:sp>
        <p:nvSpPr>
          <p:cNvPr id="407" name="Google Shape;407;p25"/>
          <p:cNvSpPr/>
          <p:nvPr/>
        </p:nvSpPr>
        <p:spPr>
          <a:xfrm>
            <a:off x="1047119" y="4156447"/>
            <a:ext cx="48543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With her consent, she adds results from a photo of her GP letter, for a more confident reading.</a:t>
            </a:r>
            <a:endParaRPr b="0" i="0" sz="1300" u="none" cap="none" strike="noStrike">
              <a:solidFill>
                <a:schemeClr val="dk1"/>
              </a:solidFill>
              <a:latin typeface="Calibri"/>
              <a:ea typeface="Calibri"/>
              <a:cs typeface="Calibri"/>
              <a:sym typeface="Calibri"/>
            </a:endParaRPr>
          </a:p>
        </p:txBody>
      </p:sp>
      <p:sp>
        <p:nvSpPr>
          <p:cNvPr id="408" name="Google Shape;408;p25"/>
          <p:cNvSpPr/>
          <p:nvPr/>
        </p:nvSpPr>
        <p:spPr>
          <a:xfrm>
            <a:off x="6200739" y="3600388"/>
            <a:ext cx="5175300" cy="1224000"/>
          </a:xfrm>
          <a:prstGeom prst="roundRect">
            <a:avLst>
              <a:gd fmla="val 8042"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6431900" y="3806118"/>
            <a:ext cx="4854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1800"/>
              <a:buFont typeface="DM Sans"/>
              <a:buNone/>
            </a:pPr>
            <a:r>
              <a:rPr b="1" i="0" lang="en-US" sz="1800" u="none" cap="none" strike="noStrike">
                <a:solidFill>
                  <a:srgbClr val="7A5CB8"/>
                </a:solidFill>
                <a:latin typeface="DM Sans"/>
                <a:ea typeface="DM Sans"/>
                <a:cs typeface="DM Sans"/>
                <a:sym typeface="DM Sans"/>
              </a:rPr>
              <a:t>Clinician view</a:t>
            </a:r>
            <a:endParaRPr b="0" i="0" sz="1800" u="none" cap="none" strike="noStrike">
              <a:solidFill>
                <a:schemeClr val="dk1"/>
              </a:solidFill>
              <a:latin typeface="Calibri"/>
              <a:ea typeface="Calibri"/>
              <a:cs typeface="Calibri"/>
              <a:sym typeface="Calibri"/>
            </a:endParaRPr>
          </a:p>
        </p:txBody>
      </p:sp>
      <p:sp>
        <p:nvSpPr>
          <p:cNvPr id="410" name="Google Shape;410;p25"/>
          <p:cNvSpPr/>
          <p:nvPr/>
        </p:nvSpPr>
        <p:spPr>
          <a:xfrm>
            <a:off x="6431900" y="4156447"/>
            <a:ext cx="48543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300"/>
              <a:buFont typeface="DM Sans"/>
              <a:buNone/>
            </a:pPr>
            <a:r>
              <a:rPr b="0" i="0" lang="en-US" sz="1300" u="none" cap="none" strike="noStrike">
                <a:solidFill>
                  <a:srgbClr val="6B5470"/>
                </a:solidFill>
                <a:latin typeface="DM Sans"/>
                <a:ea typeface="DM Sans"/>
                <a:cs typeface="DM Sans"/>
                <a:sym typeface="DM Sans"/>
              </a:rPr>
              <a:t>Her doctor sees the full picture. With consent, the diagnosis goes back to the model as a label, so it keeps learning.</a:t>
            </a:r>
            <a:endParaRPr b="0" i="0" sz="1300" u="none" cap="none" strike="noStrike">
              <a:solidFill>
                <a:schemeClr val="dk1"/>
              </a:solidFill>
              <a:latin typeface="Calibri"/>
              <a:ea typeface="Calibri"/>
              <a:cs typeface="Calibri"/>
              <a:sym typeface="Calibri"/>
            </a:endParaRPr>
          </a:p>
        </p:txBody>
      </p:sp>
      <p:sp>
        <p:nvSpPr>
          <p:cNvPr id="411" name="Google Shape;411;p25"/>
          <p:cNvSpPr/>
          <p:nvPr/>
        </p:nvSpPr>
        <p:spPr>
          <a:xfrm>
            <a:off x="8712218" y="838126"/>
            <a:ext cx="2667000" cy="365700"/>
          </a:xfrm>
          <a:prstGeom prst="roundRect">
            <a:avLst>
              <a:gd fmla="val 20839" name="adj"/>
            </a:avLst>
          </a:prstGeom>
          <a:solidFill>
            <a:srgbClr val="FBD3C2"/>
          </a:solidFill>
          <a:ln>
            <a:noFill/>
          </a:ln>
        </p:spPr>
        <p:txBody>
          <a:bodyPr anchorCtr="0" anchor="t" bIns="28475" lIns="68475" spcFirstLastPara="1" rIns="68475" wrap="square" tIns="53875">
            <a:noAutofit/>
          </a:bodyPr>
          <a:lstStyle/>
          <a:p>
            <a:pPr indent="0" lvl="0" marL="0" marR="0" rtl="0" algn="ctr">
              <a:lnSpc>
                <a:spcPct val="140000"/>
              </a:lnSpc>
              <a:spcBef>
                <a:spcPts val="0"/>
              </a:spcBef>
              <a:spcAft>
                <a:spcPts val="0"/>
              </a:spcAft>
              <a:buClr>
                <a:srgbClr val="3B2340"/>
              </a:buClr>
              <a:buSzPts val="1200"/>
              <a:buFont typeface="DM Sans"/>
              <a:buNone/>
            </a:pPr>
            <a:r>
              <a:rPr b="1" i="0" lang="en-US" sz="1200" u="none" cap="none" strike="noStrike">
                <a:solidFill>
                  <a:srgbClr val="3B2340"/>
                </a:solidFill>
                <a:latin typeface="DM Sans"/>
                <a:ea typeface="DM Sans"/>
                <a:cs typeface="DM Sans"/>
                <a:sym typeface="DM Sans"/>
              </a:rPr>
              <a:t>Concept · illustrative data</a:t>
            </a:r>
            <a:endParaRPr b="0" i="0" sz="1200" u="none" cap="none" strike="noStrike">
              <a:solidFill>
                <a:schemeClr val="dk1"/>
              </a:solidFill>
              <a:latin typeface="Calibri"/>
              <a:ea typeface="Calibri"/>
              <a:cs typeface="Calibri"/>
              <a:sym typeface="Calibri"/>
            </a:endParaRPr>
          </a:p>
        </p:txBody>
      </p:sp>
      <p:sp>
        <p:nvSpPr>
          <p:cNvPr id="412" name="Google Shape;412;p25"/>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user demo</a:t>
            </a:r>
            <a:endParaRPr b="0" i="0" sz="1200" u="none" cap="none" strike="noStrike">
              <a:solidFill>
                <a:schemeClr val="dk1"/>
              </a:solidFill>
              <a:latin typeface="Calibri"/>
              <a:ea typeface="Calibri"/>
              <a:cs typeface="Calibri"/>
              <a:sym typeface="Calibri"/>
            </a:endParaRPr>
          </a:p>
        </p:txBody>
      </p:sp>
      <p:sp>
        <p:nvSpPr>
          <p:cNvPr id="413" name="Google Shape;413;p25"/>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15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8" name="Shape 418"/>
        <p:cNvGrpSpPr/>
        <p:nvPr/>
      </p:nvGrpSpPr>
      <p:grpSpPr>
        <a:xfrm>
          <a:off x="0" y="0"/>
          <a:ext cx="0" cy="0"/>
          <a:chOff x="0" y="0"/>
          <a:chExt cx="0" cy="0"/>
        </a:xfrm>
      </p:grpSpPr>
      <p:sp>
        <p:nvSpPr>
          <p:cNvPr id="419" name="Google Shape;419;p26"/>
          <p:cNvSpPr/>
          <p:nvPr/>
        </p:nvSpPr>
        <p:spPr>
          <a:xfrm>
            <a:off x="812782" y="812775"/>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B2340"/>
              </a:buClr>
              <a:buSzPts val="3200"/>
              <a:buFont typeface="DM Sans"/>
              <a:buNone/>
            </a:pPr>
            <a:r>
              <a:rPr b="1" i="0" lang="en-US" sz="3200" u="none" cap="none" strike="noStrike">
                <a:solidFill>
                  <a:srgbClr val="3B2340"/>
                </a:solidFill>
                <a:latin typeface="DM Sans"/>
                <a:ea typeface="DM Sans"/>
                <a:cs typeface="DM Sans"/>
                <a:sym typeface="DM Sans"/>
              </a:rPr>
              <a:t>A normal day for the wearer</a:t>
            </a:r>
            <a:endParaRPr b="0" i="0" sz="3200" u="none" cap="none" strike="noStrike">
              <a:solidFill>
                <a:schemeClr val="dk1"/>
              </a:solidFill>
              <a:latin typeface="Calibri"/>
              <a:ea typeface="Calibri"/>
              <a:cs typeface="Calibri"/>
              <a:sym typeface="Calibri"/>
            </a:endParaRPr>
          </a:p>
        </p:txBody>
      </p:sp>
      <p:sp>
        <p:nvSpPr>
          <p:cNvPr id="420" name="Google Shape;420;p26"/>
          <p:cNvSpPr/>
          <p:nvPr/>
        </p:nvSpPr>
        <p:spPr>
          <a:xfrm>
            <a:off x="815957" y="1567755"/>
            <a:ext cx="3041700" cy="2557500"/>
          </a:xfrm>
          <a:prstGeom prst="roundRect">
            <a:avLst>
              <a:gd fmla="val 3849"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6"/>
          <p:cNvSpPr/>
          <p:nvPr/>
        </p:nvSpPr>
        <p:spPr>
          <a:xfrm>
            <a:off x="1072555" y="1824360"/>
            <a:ext cx="2604300" cy="63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2386B"/>
              </a:buClr>
              <a:buSzPts val="2000"/>
              <a:buFont typeface="DM Sans"/>
              <a:buNone/>
            </a:pPr>
            <a:r>
              <a:rPr b="1" i="0" lang="en-US" sz="2000" u="none" cap="none" strike="noStrike">
                <a:solidFill>
                  <a:srgbClr val="C2386B"/>
                </a:solidFill>
                <a:latin typeface="DM Sans"/>
                <a:ea typeface="DM Sans"/>
                <a:cs typeface="DM Sans"/>
                <a:sym typeface="DM Sans"/>
              </a:rPr>
              <a:t>Wears a Fitbit Sense</a:t>
            </a:r>
            <a:endParaRPr b="0" i="0" sz="2000" u="none" cap="none" strike="noStrike">
              <a:solidFill>
                <a:schemeClr val="dk1"/>
              </a:solidFill>
              <a:latin typeface="Calibri"/>
              <a:ea typeface="Calibri"/>
              <a:cs typeface="Calibri"/>
              <a:sym typeface="Calibri"/>
            </a:endParaRPr>
          </a:p>
        </p:txBody>
      </p:sp>
      <p:sp>
        <p:nvSpPr>
          <p:cNvPr id="422" name="Google Shape;422;p26"/>
          <p:cNvSpPr/>
          <p:nvPr/>
        </p:nvSpPr>
        <p:spPr>
          <a:xfrm>
            <a:off x="1072555" y="2535486"/>
            <a:ext cx="2604300" cy="1358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Overnight temperature, sleeping heart rate, HRV, breathing and sleep are collected without her doing anything.</a:t>
            </a:r>
            <a:endParaRPr b="0" i="0" sz="1500" u="none" cap="none" strike="noStrike">
              <a:solidFill>
                <a:schemeClr val="dk1"/>
              </a:solidFill>
              <a:latin typeface="Calibri"/>
              <a:ea typeface="Calibri"/>
              <a:cs typeface="Calibri"/>
              <a:sym typeface="Calibri"/>
            </a:endParaRPr>
          </a:p>
        </p:txBody>
      </p:sp>
      <p:pic>
        <p:nvPicPr>
          <p:cNvPr descr="arrow-right" id="423" name="Google Shape;423;p26"/>
          <p:cNvPicPr preferRelativeResize="0"/>
          <p:nvPr/>
        </p:nvPicPr>
        <p:blipFill rotWithShape="1">
          <a:blip r:embed="rId3">
            <a:alphaModFix/>
          </a:blip>
          <a:srcRect b="0" l="-10" r="-10" t="0"/>
          <a:stretch/>
        </p:blipFill>
        <p:spPr>
          <a:xfrm>
            <a:off x="4013218" y="2744924"/>
            <a:ext cx="406346" cy="203128"/>
          </a:xfrm>
          <a:prstGeom prst="rect">
            <a:avLst/>
          </a:prstGeom>
          <a:noFill/>
          <a:ln>
            <a:noFill/>
          </a:ln>
        </p:spPr>
      </p:pic>
      <p:sp>
        <p:nvSpPr>
          <p:cNvPr id="424" name="Google Shape;424;p26"/>
          <p:cNvSpPr/>
          <p:nvPr/>
        </p:nvSpPr>
        <p:spPr>
          <a:xfrm>
            <a:off x="4575085" y="1720106"/>
            <a:ext cx="3041700" cy="2252700"/>
          </a:xfrm>
          <a:prstGeom prst="roundRect">
            <a:avLst>
              <a:gd fmla="val 4369"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6"/>
          <p:cNvSpPr/>
          <p:nvPr/>
        </p:nvSpPr>
        <p:spPr>
          <a:xfrm>
            <a:off x="4831682" y="1976698"/>
            <a:ext cx="26046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5CB8"/>
              </a:buClr>
              <a:buSzPts val="2000"/>
              <a:buFont typeface="DM Sans"/>
              <a:buNone/>
            </a:pPr>
            <a:r>
              <a:rPr b="1" i="0" lang="en-US" sz="2000" u="none" cap="none" strike="noStrike">
                <a:solidFill>
                  <a:srgbClr val="7A5CB8"/>
                </a:solidFill>
                <a:latin typeface="DM Sans"/>
                <a:ea typeface="DM Sans"/>
                <a:cs typeface="DM Sans"/>
                <a:sym typeface="DM Sans"/>
              </a:rPr>
              <a:t>Logs in the app</a:t>
            </a:r>
            <a:endParaRPr b="0" i="0" sz="2000" u="none" cap="none" strike="noStrike">
              <a:solidFill>
                <a:schemeClr val="dk1"/>
              </a:solidFill>
              <a:latin typeface="Calibri"/>
              <a:ea typeface="Calibri"/>
              <a:cs typeface="Calibri"/>
              <a:sym typeface="Calibri"/>
            </a:endParaRPr>
          </a:p>
        </p:txBody>
      </p:sp>
      <p:sp>
        <p:nvSpPr>
          <p:cNvPr id="426" name="Google Shape;426;p26"/>
          <p:cNvSpPr/>
          <p:nvPr/>
        </p:nvSpPr>
        <p:spPr>
          <a:xfrm>
            <a:off x="4831682" y="2383048"/>
            <a:ext cx="2604600" cy="1358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Period dates with one tap, then a monthly check-in on weight, periods, hair, skin, diet and exercise. No blood tests.</a:t>
            </a:r>
            <a:endParaRPr b="0" i="0" sz="1500" u="none" cap="none" strike="noStrike">
              <a:solidFill>
                <a:schemeClr val="dk1"/>
              </a:solidFill>
              <a:latin typeface="Calibri"/>
              <a:ea typeface="Calibri"/>
              <a:cs typeface="Calibri"/>
              <a:sym typeface="Calibri"/>
            </a:endParaRPr>
          </a:p>
        </p:txBody>
      </p:sp>
      <p:pic>
        <p:nvPicPr>
          <p:cNvPr descr="arrow-right" id="427" name="Google Shape;427;p26"/>
          <p:cNvPicPr preferRelativeResize="0"/>
          <p:nvPr/>
        </p:nvPicPr>
        <p:blipFill rotWithShape="1">
          <a:blip r:embed="rId3">
            <a:alphaModFix/>
          </a:blip>
          <a:srcRect b="0" l="-10" r="-10" t="0"/>
          <a:stretch/>
        </p:blipFill>
        <p:spPr>
          <a:xfrm>
            <a:off x="7772436" y="2744924"/>
            <a:ext cx="406346" cy="203128"/>
          </a:xfrm>
          <a:prstGeom prst="rect">
            <a:avLst/>
          </a:prstGeom>
          <a:noFill/>
          <a:ln>
            <a:noFill/>
          </a:ln>
        </p:spPr>
      </p:pic>
      <p:sp>
        <p:nvSpPr>
          <p:cNvPr id="428" name="Google Shape;428;p26"/>
          <p:cNvSpPr/>
          <p:nvPr/>
        </p:nvSpPr>
        <p:spPr>
          <a:xfrm>
            <a:off x="8334303" y="1853419"/>
            <a:ext cx="3041700" cy="1986000"/>
          </a:xfrm>
          <a:prstGeom prst="roundRect">
            <a:avLst>
              <a:gd fmla="val 4956" name="adj"/>
            </a:avLst>
          </a:prstGeom>
          <a:solidFill>
            <a:srgbClr val="FFFFFF"/>
          </a:solidFill>
          <a:ln cap="flat" cmpd="sng" w="9525">
            <a:solidFill>
              <a:srgbClr val="F3D3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6"/>
          <p:cNvSpPr/>
          <p:nvPr/>
        </p:nvSpPr>
        <p:spPr>
          <a:xfrm>
            <a:off x="8590900" y="2110023"/>
            <a:ext cx="26043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B2340"/>
              </a:buClr>
              <a:buSzPts val="2000"/>
              <a:buFont typeface="DM Sans"/>
              <a:buNone/>
            </a:pPr>
            <a:r>
              <a:rPr b="1" i="0" lang="en-US" sz="2000" u="none" cap="none" strike="noStrike">
                <a:solidFill>
                  <a:srgbClr val="3B2340"/>
                </a:solidFill>
                <a:latin typeface="DM Sans"/>
                <a:ea typeface="DM Sans"/>
                <a:cs typeface="DM Sans"/>
                <a:sym typeface="DM Sans"/>
              </a:rPr>
              <a:t>Gets one score</a:t>
            </a:r>
            <a:endParaRPr b="0" i="0" sz="2000" u="none" cap="none" strike="noStrike">
              <a:solidFill>
                <a:schemeClr val="dk1"/>
              </a:solidFill>
              <a:latin typeface="Calibri"/>
              <a:ea typeface="Calibri"/>
              <a:cs typeface="Calibri"/>
              <a:sym typeface="Calibri"/>
            </a:endParaRPr>
          </a:p>
        </p:txBody>
      </p:sp>
      <p:sp>
        <p:nvSpPr>
          <p:cNvPr id="430" name="Google Shape;430;p26"/>
          <p:cNvSpPr/>
          <p:nvPr/>
        </p:nvSpPr>
        <p:spPr>
          <a:xfrm>
            <a:off x="8590900" y="2516361"/>
            <a:ext cx="2604300" cy="1092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500"/>
              <a:buFont typeface="DM Sans"/>
              <a:buNone/>
            </a:pPr>
            <a:r>
              <a:rPr b="0" i="0" lang="en-US" sz="1500" u="none" cap="none" strike="noStrike">
                <a:solidFill>
                  <a:srgbClr val="6B5470"/>
                </a:solidFill>
                <a:latin typeface="DM Sans"/>
                <a:ea typeface="DM Sans"/>
                <a:cs typeface="DM Sans"/>
                <a:sym typeface="DM Sans"/>
              </a:rPr>
              <a:t>A risk-awareness score with the reasons behind it, and a summary she can take to her GP.</a:t>
            </a:r>
            <a:endParaRPr b="0" i="0" sz="1500" u="none" cap="none" strike="noStrike">
              <a:solidFill>
                <a:schemeClr val="dk1"/>
              </a:solidFill>
              <a:latin typeface="Calibri"/>
              <a:ea typeface="Calibri"/>
              <a:cs typeface="Calibri"/>
              <a:sym typeface="Calibri"/>
            </a:endParaRPr>
          </a:p>
        </p:txBody>
      </p:sp>
      <p:sp>
        <p:nvSpPr>
          <p:cNvPr id="431" name="Google Shape;431;p26"/>
          <p:cNvSpPr/>
          <p:nvPr/>
        </p:nvSpPr>
        <p:spPr>
          <a:xfrm>
            <a:off x="812782" y="5344282"/>
            <a:ext cx="108834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5470"/>
              </a:buClr>
              <a:buSzPts val="1400"/>
              <a:buFont typeface="DM Sans"/>
              <a:buNone/>
            </a:pPr>
            <a:r>
              <a:rPr b="0" i="0" lang="en-US" sz="1400" u="none" cap="none" strike="noStrike">
                <a:solidFill>
                  <a:srgbClr val="6B5470"/>
                </a:solidFill>
                <a:latin typeface="DM Sans"/>
                <a:ea typeface="DM Sans"/>
                <a:cs typeface="DM Sans"/>
                <a:sym typeface="DM Sans"/>
              </a:rPr>
              <a:t>In the study data, a hormone kit and daily diary gave us the ground truth. They were used only to train and test the model, never as inputs.</a:t>
            </a:r>
            <a:endParaRPr b="0" i="0" sz="1400" u="none" cap="none" strike="noStrike">
              <a:solidFill>
                <a:schemeClr val="dk1"/>
              </a:solidFill>
              <a:latin typeface="Calibri"/>
              <a:ea typeface="Calibri"/>
              <a:cs typeface="Calibri"/>
              <a:sym typeface="Calibri"/>
            </a:endParaRPr>
          </a:p>
        </p:txBody>
      </p:sp>
      <p:sp>
        <p:nvSpPr>
          <p:cNvPr id="432" name="Google Shape;432;p26"/>
          <p:cNvSpPr/>
          <p:nvPr/>
        </p:nvSpPr>
        <p:spPr>
          <a:xfrm>
            <a:off x="812782" y="6238242"/>
            <a:ext cx="5886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CycleSignal · user demo</a:t>
            </a:r>
            <a:endParaRPr b="0" i="0" sz="1200" u="none" cap="none" strike="noStrike">
              <a:solidFill>
                <a:schemeClr val="dk1"/>
              </a:solidFill>
              <a:latin typeface="Calibri"/>
              <a:ea typeface="Calibri"/>
              <a:cs typeface="Calibri"/>
              <a:sym typeface="Calibri"/>
            </a:endParaRPr>
          </a:p>
        </p:txBody>
      </p:sp>
      <p:sp>
        <p:nvSpPr>
          <p:cNvPr id="433" name="Google Shape;433;p26"/>
          <p:cNvSpPr/>
          <p:nvPr/>
        </p:nvSpPr>
        <p:spPr>
          <a:xfrm>
            <a:off x="10058418" y="6238242"/>
            <a:ext cx="1320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7B6680"/>
              </a:buClr>
              <a:buSzPts val="1200"/>
              <a:buFont typeface="DM Sans"/>
              <a:buNone/>
            </a:pPr>
            <a:r>
              <a:rPr b="0" i="0" lang="en-US" sz="1200" u="none" cap="none" strike="noStrike">
                <a:solidFill>
                  <a:srgbClr val="7B6680"/>
                </a:solidFill>
                <a:latin typeface="DM Sans"/>
                <a:ea typeface="DM Sans"/>
                <a:cs typeface="DM Sans"/>
                <a:sym typeface="DM Sans"/>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